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1 · Capa" id="{ab8c885b-053c-d2a6-964e-d1fb328c055e}">
          <p14:sldIdLst>
            <p14:sldId id="256"/>
          </p14:sldIdLst>
        </p14:section>
        <p14:section name="Slide 2 · Anamnese — escolha A ou B" id="{bbe20a09-2483-cf56-560e-cac745577a6b}">
          <p14:sldIdLst>
            <p14:sldId id="257"/>
            <p14:sldId id="258"/>
          </p14:sldIdLst>
        </p14:section>
        <p14:section name="Slide 3 · Exame físico e eclâmpsia — escolha A ou B" id="{3ccdbae3-763e-3367-6a67-92459e791bd6}">
          <p14:sldIdLst>
            <p14:sldId id="259"/>
            <p14:sldId id="260"/>
          </p14:sldIdLst>
        </p14:section>
        <p14:section name="Slide 4 · Exames — escolha A ou B" id="{4e39b46e-ba3a-9a48-0d25-89895e344ead}">
          <p14:sldIdLst>
            <p14:sldId id="261"/>
            <p14:sldId id="262"/>
          </p14:sldIdLst>
        </p14:section>
        <p14:section name="Slide 5 · Conduta cirúrgica — escolha A ou B" id="{7f153311-f27c-362f-46f2-a1856e65f548}">
          <p14:sldIdLst>
            <p14:sldId id="263"/>
            <p14:sldId id="264"/>
          </p14:sldIdLst>
        </p14:section>
        <p14:section name="Slide 6 · Discussão — escolha A ou B" id="{3d405b14-9552-27e8-d8fd-ed67092f4452}">
          <p14:sldIdLst>
            <p14:sldId id="265"/>
            <p14:sldId id="266"/>
          </p14:sldIdLst>
        </p14:section>
        <p14:section name="Slide 7 · Profilaxias — escolha A ou B" id="{a78bc67f-cb98-b852-e93a-9bb77f7d7a9f}">
          <p14:sldIdLst>
            <p14:sldId id="267"/>
            <p14:sldId id="268"/>
          </p14:sldIdLst>
        </p14:section>
        <p14:section name="Slide 8 · Marco legal — escolha A ou B" id="{045812e0-5727-ddc2-8507-3dbe42eac890}">
          <p14:sldIdLst>
            <p14:sldId id="269"/>
            <p14:sldId id="270"/>
          </p14:sldIdLst>
        </p14:section>
        <p14:section name="Slide 9 · Conclusão — escolha A ou B" id="{0a50cbe0-ad55-d86e-c302-46004d8d3679}">
          <p14:sldIdLst>
            <p14:sldId id="271"/>
            <p14:sldId id="272"/>
          </p14:sldIdLst>
        </p14:section>
        <p14:section name="Slide 10 · Encerramento" id="{81c2b309-ed0b-e2b0-adb0-c7e2c2272dc3}">
          <p14:sldIdLst>
            <p14:sldId id="273"/>
          </p14:sldIdLst>
        </p14:section>
        <p14:section name="Apoio · Referências (fora da contagem dos 10)" id="{a3f81fe1-4e64-2250-3967-2c6104fcfc7a}">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0:00–0:08 (≈8 s)
FALA:
Boa tarde a todos. Apresentamos o relato de caso 'Violência sexual crônica na infância: repercussões obstétricas e sociais'. [avança para o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0:08–0:56 (≈48 s)
OPÇÃO A (mais fiel ao modelo) · mantenha uma opção por slide e apague a outra.
FALA:
L.M.S., doze anos, deu entrada na maternidade de referência acompanhada pela mãe, com dor abdominal intensa, cefaleia holocraniana, escotomas cintilantes e edema importante de face e membros inferiores. Estava sonolenta, com fácies de dor e um torpor emocional que chamou a atenção da equipe. A mãe negava doença prévia e negava pré-natal: achava que a filha tinha 'engordado' com a puberdade. A triagem revelou uma gestação avançada. E foi apenas em atendimento privativo com a psicologia que a menina contou o que ninguém havia perguntado: dez meses de violência sexual continuada pelo companheiro da mãe, sob ameaças de morte. Esse silêncio tem consequências clínicas, e é isso que o exame físico vai mostrar. [avança para o slide 3]
NÚMEROS NA TELA: 12 anos · 10 meses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0:08–0:56 (≈48 s)
OPÇÃO B (recurso visual diferente) · mantenha uma opção por slide e apague a outra.
FALA:
L.M.S., doze anos, deu entrada na maternidade de referência acompanhada pela mãe, com dor abdominal intensa, cefaleia holocraniana, escotomas cintilantes e edema importante de face e membros inferiores. Estava sonolenta, com fácies de dor e um torpor emocional que chamou a atenção da equipe. A mãe negava doença prévia e negava pré-natal: achava que a filha tinha 'engordado' com a puberdade. A triagem revelou uma gestação avançada. E foi apenas em atendimento privativo com a psicologia que a menina contou o que ninguém havia perguntado: dez meses de violência sexual continuada pelo companheiro da mãe, sob ameaças de morte. Esse silêncio tem consequências clínicas, e é isso que o exame físico vai mostrar. [avança para o slide 3]
NÚMEROS NA TELA: 12 anos · 10 meses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1:00–2:00 (≈60 s)
OPÇÃO A (mais fiel ao modelo) · mantenha uma opção por slide e apague a outra.
FALA:
Ao exame: pressão arterial de 175 por 115, frequência cardíaca de 118, saturação de 96%. Altura uterina de 31 centímetros, batimentos fetais de 162, sem dinâmica uterina e colo fechado. Reflexos vivos com clônus esgotável de tornozelo e edema de três cruzes. Ou seja: hipertensão grave e sinais de iminência de eclâmpsia em uma gestante que ninguém sabia que estava grávida. Ainda no box de emergência, ela apresentou crise convulsiva tônico-clônica generalizada de cerca de noventa segundos, o que fechou o diagnóstico de eclâmpsia. A conduta foi imediata: sulfato de magnésio, 4 gramas venosos mais 10 gramas intramusculares, seguidos de manutenção, o esquema de Pritchard; hidralazina venosa para a crise hipertensiva; proteção de vias aéreas, oxigênio, sonda vesical de demora e monitorização contínua. Estabilizada a mãe, faltava medir a extensão do dano sistêmico. É o que os exames mostram. [avança para o slide 4]
NÚMEROS NA TELA: PA 175/115 · FC 118 · SpO2 96% · AU 31 cm · BCF 162 · edema 3+/4+ · ~90 s · MgSO4 4 g IV + 10 g IM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1:00–2:00 (≈60 s)
OPÇÃO B (recurso visual diferente) · mantenha uma opção por slide e apague a outra.
FALA:
Ao exame: pressão arterial de 175 por 115, frequência cardíaca de 118, saturação de 96%. Altura uterina de 31 centímetros, batimentos fetais de 162, sem dinâmica uterina e colo fechado. Reflexos vivos com clônus esgotável de tornozelo e edema de três cruzes. Ou seja: hipertensão grave e sinais de iminência de eclâmpsia em uma gestante que ninguém sabia que estava grávida. Ainda no box de emergência, ela apresentou crise convulsiva tônico-clônica generalizada de cerca de noventa segundos, o que fechou o diagnóstico de eclâmpsia. A conduta foi imediata: sulfato de magnésio, 4 gramas venosos mais 10 gramas intramusculares, seguidos de manutenção, o esquema de Pritchard; hidralazina venosa para a crise hipertensiva; proteção de vias aéreas, oxigênio, sonda vesical de demora e monitorização contínua. Estabilizada a mãe, faltava medir a extensão do dano sistêmico. É o que os exames mostram. [avança para o slide 4]
NÚMEROS NA TELA: PA 175/115 · FC 118 · SpO2 96% · AU 31 cm · BCF 162 · edema 3+/4+ · ~90 s · MgSO4 4 g IV + 10 g IM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2:04–3:03 (≈59 s)
OPÇÃO A (mais fiel ao modelo) · mantenha uma opção por slide e apague a outra.
FALA:
Os exames confirmaram o acometimento multissistêmico. Hemoglobina de 9,8 e plaquetas de 110 mil; creatinina de 1,3 e ureia de 48, indicando lesão renal; transaminases elevadas, TGO 78 e TGP 82; ácido úrico de 7,9; e proteinúria maciça, três cruzes na fita. Um destaque: as plaquetas acima de 100 mil e a ausência de dosagem de DHL não permitem fechar síndrome HELLP completa, mas o padrão já configura pré-eclâmpsia com sinais de gravidade e disfunção de órgãos-alvo. A ultrassonografia de urgência mostrou gestação única, pélvica, de 33 semanas e 4 dias, com batimentos presentes e oligoidrâmnio, ILA de 4,2 centímetros, abaixo do ponto de corte de 5, sugerindo insuficiência placentária crônica. Tínhamos, então, uma mãe de doze anos com eclâmpsia e um feto prematuro em sofrimento crônico. A pergunta seguinte era inevitável: quando e como interromper essa gestação? [avança para o slide 5]
NÚMEROS NA TELA: Hb 9,8 · plaquetas 110 mil · creatinina 1,3 · ureia 48 · TGO 78 · TGP 82 · ác. úrico 7,9 · proteinúria 3+ · 33 s 4 d · ILA 4,2 cm · plaquetas &gt; 100 mil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2:04–3:03 (≈59 s)
OPÇÃO B (recurso visual diferente) · mantenha uma opção por slide e apague a outra.
FALA:
Os exames confirmaram o acometimento multissistêmico. Hemoglobina de 9,8 e plaquetas de 110 mil; creatinina de 1,3 e ureia de 48, indicando lesão renal; transaminases elevadas, TGO 78 e TGP 82; ácido úrico de 7,9; e proteinúria maciça, três cruzes na fita. Um destaque: as plaquetas acima de 100 mil e a ausência de dosagem de DHL não permitem fechar síndrome HELLP completa, mas o padrão já configura pré-eclâmpsia com sinais de gravidade e disfunção de órgãos-alvo. A ultrassonografia de urgência mostrou gestação única, pélvica, de 33 semanas e 4 dias, com batimentos presentes e oligoidrâmnio, ILA de 4,2 centímetros, abaixo do ponto de corte de 5, sugerindo insuficiência placentária crônica. Tínhamos, então, uma mãe de doze anos com eclâmpsia e um feto prematuro em sofrimento crônico. A pergunta seguinte era inevitável: quando e como interromper essa gestação? [avança para o slide 5]
NÚMEROS NA TELA: Hb 9,8 · plaquetas 110 mil · creatinina 1,3 · ureia 48 · TGO 78 · TGP 82 · ác. úrico 7,9 · proteinúria 3+ · 33 s 4 d · ILA 4,2 cm · plaquetas &gt; 100 mil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3:07–4:10 (≈63 s)
OPÇÃO A (mais fiel ao modelo) · mantenha uma opção por slide e apague a outra.
FALA:
O tratamento definitivo da eclâmpsia é o parto, e a via foi definida pelas condições obstétricas: pressão refratária à hidralazina, instabilidade do binômio, apresentação pélvica, colo fechado e prematuridade. Indicou-se cesariana de urgência, sob anestesia geral. Nasceu um menino vivo, de 1.820 gramas, Apgar 4 e 7, encaminhado à UTI neonatal. Mas o pior ainda viria. Após a dequitação, o útero não contraiu: atonia refratária à massagem bimanual e aos uterotônicos sequenciais, ocitocina, ergometrina e misoprostol. A paciente evoluiu para choque hemorrágico grave, com pressão de 60 por 30 e frequência de 145, um índice de choque acima de 2. Diante do risco iminente de morte, a equipe realizou histerectomia subtotal de salvamento, com transfusão de quatro concentrados de hemácias e dois plasmas frescos. Ela saiu viva para a UTI. Mas saiu sem o útero, aos doze anos. O que isso significa é o que discutimos agora. [avança para o slide 6]
NÚMEROS NA TELA: 1.820 g · Apgar 4/7 · PA 60/30 · FC 145 · índice de choque &gt; 2 · 4 CH + 2 PFC · 12 anos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3:07–4:10 (≈63 s)
OPÇÃO B (recurso visual diferente) · mantenha uma opção por slide e apague a outra.
FALA:
O tratamento definitivo da eclâmpsia é o parto, e a via foi definida pelas condições obstétricas: pressão refratária à hidralazina, instabilidade do binômio, apresentação pélvica, colo fechado e prematuridade. Indicou-se cesariana de urgência, sob anestesia geral. Nasceu um menino vivo, de 1.820 gramas, Apgar 4 e 7, encaminhado à UTI neonatal. Mas o pior ainda viria. Após a dequitação, o útero não contraiu: atonia refratária à massagem bimanual e aos uterotônicos sequenciais, ocitocina, ergometrina e misoprostol. A paciente evoluiu para choque hemorrágico grave, com pressão de 60 por 30 e frequência de 145, um índice de choque acima de 2. Diante do risco iminente de morte, a equipe realizou histerectomia subtotal de salvamento, com transfusão de quatro concentrados de hemácias e dois plasmas frescos. Ela saiu viva para a UTI. Mas saiu sem o útero, aos doze anos. O que isso significa é o que discutimos agora. [avança para o slide 6]
NÚMEROS NA TELA: 1.820 g · Apgar 4/7 · PA 60/30 · FC 145 · índice de choque &gt; 2 · 4 CH + 2 PFC · 12 anos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4:14–5:16 (≈62 s)
OPÇÃO A (mais fiel ao modelo) · mantenha uma opção por slide e apague a outra.
FALA:
O Brasil inteiro marca o 18 de maio como o dia de combate ao abuso sexual infantil. [pausa] Essa data nasceu aqui, no Espírito Santo: Vitória, 1973, caso Araceli, uma menina de oito anos. Mais de cinquenta anos depois, este mesmo estado ainda registra uma menina-mãe a cada dois dias: 188 nascidos vivos de mães de até 14 anos em 2024. [pausa] L.M.S. poderia ser qualquer uma delas, e o desfecho dela não é acaso; é biologia somada a abandono. A imaturidade vascular e uterina eleva o risco de eclâmpsia, e, sem pré-natal, ninguém aferiu essa pressão antes da convulsão. [pausa] O preço foi a histerectomia aos doze anos, perda definitiva da fertilidade, e a ferida que o exame não mostra: medo, quebra de confiança e alto risco de estresse pós-traumático, com seguimento psicológico e psiquiátrico prolongado. E a pergunta que fica é: isso era inevitável? [avança para o slide 7]
NÚMEROS NA TELA: 18 de maio · 1973 · 8 anos · 188 · 2024 · a cada 2 dias · 14 anos · 12 anos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4:14–5:16 (≈62 s)
OPÇÃO B (recurso visual diferente) · mantenha uma opção por slide e apague a outra.
FALA:
O Brasil inteiro marca o 18 de maio como o dia de combate ao abuso sexual infantil. [pausa] Essa data nasceu aqui, no Espírito Santo: Vitória, 1973, caso Araceli, uma menina de oito anos. Mais de cinquenta anos depois, este mesmo estado ainda registra uma menina-mãe a cada dois dias: 188 nascidos vivos de mães de até 14 anos em 2024. [pausa] L.M.S. poderia ser qualquer uma delas, e o desfecho dela não é acaso; é biologia somada a abandono. A imaturidade vascular e uterina eleva o risco de eclâmpsia, e, sem pré-natal, ninguém aferiu essa pressão antes da convulsão. [pausa] O preço foi a histerectomia aos doze anos, perda definitiva da fertilidade, e a ferida que o exame não mostra: medo, quebra de confiança e alto risco de estresse pós-traumático, com seguimento psicológico e psiquiátrico prolongado. E a pergunta que fica é: isso era inevitável? [avança para o slide 7]
NÚMEROS NA TELA: 18 de maio · 1973 · 8 anos · 188 · 2024 · a cada 2 dias · 14 anos · 12 anos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5:20–5:35 (≈15 s; ≈27 s com a inserção opcional)
OPÇÃO A (mais fiel ao modelo) · mantenha uma opção por slide e apague a outra.
FALA:
A resposta é não. [pausa] A lei já protegia L.M.S.: a Lei do Minuto Seguinte garantia atendimento imediato e profilaxias em qualquer hospital do SUS, sem boletim de ocorrência;
[INSERÇÃO OPCIONAL, ≈12 s, cabe na folga de 38 s e faz a fala citar os prazos que estão na tela] Nas primeiras 72 horas: profilaxia do HIV, por 28 dias, hepatite B e antibióticos para as ISTs. Em até cinco dias: contracepção de emergência.
[avança para o slide 8]
NÚMEROS NA TELA: 72 horas · 28 dias · 5 dias: só são ditos se você usar a inserção opcional · 10 meses (dito no slide 2 e no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5:20–5:35 (≈15 s; ≈27 s com a inserção opcional)
OPÇÃO B (recurso visual diferente) · mantenha uma opção por slide e apague a outra.
FALA:
A resposta é não. [pausa] A lei já protegia L.M.S.: a Lei do Minuto Seguinte garantia atendimento imediato e profilaxias em qualquer hospital do SUS, sem boletim de ocorrência;
[INSERÇÃO OPCIONAL, ≈12 s, cabe na folga de 38 s e faz a fala citar os prazos que estão na tela] Nas primeiras 72 horas: profilaxia do HIV, por 28 dias, hepatite B e antibióticos para as ISTs. Em até cinco dias: contracepção de emergência.
[avança para o slide 8]
NÚMEROS NA TELA: 72 horas · 28 dias · 5 dias: só são ditos se você usar a inserção opcional · 10 meses (dito no slide 2 e no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5:35–5:45 (≈10 s)
OPÇÃO A (mais fiel ao modelo) · mantenha uma opção por slide e apague a outra.
FALA:
o artigo 128 autorizava interromper essa gestação, sem ordem judicial. O direito existia. Faltou quem a enxergasse. [pausa] [avança para o slide 9]
NÚMEROS NA TELA: art. 128 (dito aqui) · 1940 (não é dito na fala escolhida) · art. 217-A e 14 anos (ditos no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5:35–5:45 (≈10 s)
OPÇÃO B (recurso visual diferente) · mantenha uma opção por slide e apague a outra.
FALA:
o artigo 128 autorizava interromper essa gestação, sem ordem judicial. O direito existia. Faltou quem a enxergasse. [pausa] [avança para o slide 9]
NÚMEROS NA TELA: art. 128 (dito aqui) · 1940 (não é dito na fala escolhida) · art. 217-A e 14 anos (ditos no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5:45–7:15 (≈90 s; é o slide mais longo da apresentação)
OPÇÃO A (mais fiel ao modelo) · mantenha uma opção por slide e apague a outra.
FALA:
Por isso a primeira mensagem é suspeição clínica. Gravidez em menor de 14 anos é, pelo artigo 217-A, estupro de vulnerável; o consentimento é juridicamente irrelevante. Ausência de pré-natal, isolamento e mudança de comportamento, em qualquer consulta, obrigam a perguntar. [pausa] A segunda é notificação compulsória. Suspeitou, notificou: SINAN em até 24 horas e comunicação ao Conselho Tutelar. Não é preciso ter certeza; basta a suspeita. É dever, não escolha. [pausa] Mas notificar não basta. Falta saber ouvir.
A terceira mensagem é acolhimento sem julgamento. L.M.S. passou dez meses em silêncio e só falou quando alguém ofereceu o que ela nunca teve: um espaço privativo, seguro, e uma pergunta feita sem pressa. Escuta qualificada não é gentileza; é conduta médica, e evita a revitimização. [pausa] A quarta é integração multidisciplinar desde a emergência: medicina, enfermagem, psicologia e serviço social, porque a eclâmpsia nós tratamos em horas; o trauma, em anos. [pausa] Esta menina sobreviveu. Mas sobreviveu sem o útero, sem a infância e sem ter sido vista por ninguém até convulsionar. [pausa] Este caso não é sobre uma tragédia obstétrica; é sobre um sistema que chegou tarde. A próxima L.M.S. já existe, e vai passar por um consultório. Que seja o nosso. E que, desta vez, alguém pergunte. [pausa] [avança para o slide 10]
NÚMEROS NA TELA: 14 anos · art. 217-A · 24 horas · 10 meses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5:45–7:15 (≈90 s; é o slide mais longo da apresentação)
OPÇÃO B (recurso visual diferente) · mantenha uma opção por slide e apague a outra.
FALA:
Por isso a primeira mensagem é suspeição clínica. Gravidez em menor de 14 anos é, pelo artigo 217-A, estupro de vulnerável; o consentimento é juridicamente irrelevante. Ausência de pré-natal, isolamento e mudança de comportamento, em qualquer consulta, obrigam a perguntar. [pausa] A segunda é notificação compulsória. Suspeitou, notificou: SINAN em até 24 horas e comunicação ao Conselho Tutelar. Não é preciso ter certeza; basta a suspeita. É dever, não escolha. [pausa] Mas notificar não basta. Falta saber ouvir.
A terceira mensagem é acolhimento sem julgamento. L.M.S. passou dez meses em silêncio e só falou quando alguém ofereceu o que ela nunca teve: um espaço privativo, seguro, e uma pergunta feita sem pressa. Escuta qualificada não é gentileza; é conduta médica, e evita a revitimização. [pausa] A quarta é integração multidisciplinar desde a emergência: medicina, enfermagem, psicologia e serviço social, porque a eclâmpsia nós tratamos em horas; o trauma, em anos. [pausa] Esta menina sobreviveu. Mas sobreviveu sem o útero, sem a infância e sem ter sido vista por ninguém até convulsionar. [pausa] Este caso não é sobre uma tragédia obstétrica; é sobre um sistema que chegou tarde. A próxima L.M.S. já existe, e vai passar por um consultório. Que seja o nosso. E que, desta vez, alguém pergunte. [pausa] [avança para o slide 10]
NÚMEROS NA TELA: 14 anos · art. 217-A · 24 horas · 10 meses (todos ditos na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7:15–7:22 (≈7 s) · fala total 7:22 de 8:00 (folga de 38 s)
FALA:
Obrigado. Estamos à disposição da banca.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APOIO · não faz parte dos 10 slides nem do tempo de fala. Serve para a arguição ("qual a fonte desse dado?"). Corpo em 14 pt de propósito: não é projetado durante a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AMED_CAPA">
    <p:bg>
      <p:bgPr>
        <a:solidFill>
          <a:srgbClr val="FFD0F5"/>
        </a:solidFill>
      </p:bgPr>
    </p:bg>
    <p:spTree>
      <p:nvGrpSpPr>
        <p:cNvPr id="1" name=""/>
        <p:cNvGrpSpPr/>
        <p:nvPr/>
      </p:nvGrpSpPr>
      <p:grpSpPr>
        <a:xfrm>
          <a:off x="0" y="0"/>
          <a:ext cx="0" cy="0"/>
          <a:chOff x="0" y="0"/>
          <a:chExt cx="0" cy="0"/>
        </a:xfrm>
      </p:grpSpPr>
      <p:sp>
        <p:nvSpPr>
          <p:cNvPr id="2" name="Shape 0"/>
          <p:cNvSpPr/>
          <p:nvPr/>
        </p:nvSpPr>
        <p:spPr>
          <a:xfrm>
            <a:off x="0" y="5852160"/>
            <a:ext cx="12191695" cy="1005840"/>
          </a:xfrm>
          <a:prstGeom prst="rect">
            <a:avLst/>
          </a:prstGeom>
          <a:solidFill>
            <a:srgbClr val="0C1670"/>
          </a:solidFill>
          <a:ln w="12700">
            <a:solidFill>
              <a:srgbClr val="0C1670"/>
            </a:solidFill>
            <a:prstDash val="solid"/>
          </a:ln>
        </p:spPr>
      </p:sp>
      <p:pic>
        <p:nvPicPr>
          <p:cNvPr id="3" name="Image 0" descr="assets/footer_logos.png">    </p:cNvPr>
          <p:cNvPicPr>
            <a:picLocks noChangeAspect="1"/>
          </p:cNvPicPr>
          <p:nvPr/>
        </p:nvPicPr>
        <p:blipFill>
          <a:blip r:embed="rId1"/>
          <a:stretch>
            <a:fillRect/>
          </a:stretch>
        </p:blipFill>
        <p:spPr>
          <a:xfrm>
            <a:off x="2681021" y="5801868"/>
            <a:ext cx="6828739" cy="1056132"/>
          </a:xfrm>
          <a:prstGeom prst="rect">
            <a:avLst/>
          </a:prstGeom>
        </p:spPr>
      </p:pic>
      <p:pic>
        <p:nvPicPr>
          <p:cNvPr id="4" name="Image 1" descr="assets/conamed_logo.png">    </p:cNvPr>
          <p:cNvPicPr>
            <a:picLocks noChangeAspect="1"/>
          </p:cNvPicPr>
          <p:nvPr/>
        </p:nvPicPr>
        <p:blipFill>
          <a:blip r:embed="rId2"/>
          <a:stretch>
            <a:fillRect/>
          </a:stretch>
        </p:blipFill>
        <p:spPr>
          <a:xfrm>
            <a:off x="9549994" y="101498"/>
            <a:ext cx="2404872" cy="17099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AMED_CONTEUDO">
    <p:bg>
      <p:bgPr>
        <a:solidFill>
          <a:srgbClr val="FFD0F5"/>
        </a:solidFill>
      </p:bgPr>
    </p:bg>
    <p:spTree>
      <p:nvGrpSpPr>
        <p:cNvPr id="1" name=""/>
        <p:cNvGrpSpPr/>
        <p:nvPr/>
      </p:nvGrpSpPr>
      <p:grpSpPr>
        <a:xfrm>
          <a:off x="0" y="0"/>
          <a:ext cx="0" cy="0"/>
          <a:chOff x="0" y="0"/>
          <a:chExt cx="0" cy="0"/>
        </a:xfrm>
      </p:grpSpPr>
      <p:sp>
        <p:nvSpPr>
          <p:cNvPr id="2" name="Shape 0"/>
          <p:cNvSpPr/>
          <p:nvPr/>
        </p:nvSpPr>
        <p:spPr>
          <a:xfrm>
            <a:off x="0" y="5852160"/>
            <a:ext cx="12191695" cy="1005840"/>
          </a:xfrm>
          <a:prstGeom prst="rect">
            <a:avLst/>
          </a:prstGeom>
          <a:solidFill>
            <a:srgbClr val="0C1670"/>
          </a:solidFill>
          <a:ln w="12700">
            <a:solidFill>
              <a:srgbClr val="0C1670"/>
            </a:solidFill>
            <a:prstDash val="solid"/>
          </a:ln>
        </p:spPr>
      </p:sp>
      <p:pic>
        <p:nvPicPr>
          <p:cNvPr id="3" name="Image 0" descr="assets/footer_logos.png">    </p:cNvPr>
          <p:cNvPicPr>
            <a:picLocks noChangeAspect="1"/>
          </p:cNvPicPr>
          <p:nvPr/>
        </p:nvPicPr>
        <p:blipFill>
          <a:blip r:embed="rId1"/>
          <a:stretch>
            <a:fillRect/>
          </a:stretch>
        </p:blipFill>
        <p:spPr>
          <a:xfrm>
            <a:off x="2681021" y="5801868"/>
            <a:ext cx="6828739" cy="1056132"/>
          </a:xfrm>
          <a:prstGeom prst="rect">
            <a:avLst/>
          </a:prstGeom>
        </p:spPr>
      </p:pic>
      <p:pic>
        <p:nvPicPr>
          <p:cNvPr id="4" name="Image 1" descr="assets/conamed_logo.png">    </p:cNvPr>
          <p:cNvPicPr>
            <a:picLocks noChangeAspect="1"/>
          </p:cNvPicPr>
          <p:nvPr/>
        </p:nvPicPr>
        <p:blipFill>
          <a:blip r:embed="rId2"/>
          <a:stretch>
            <a:fillRect/>
          </a:stretch>
        </p:blipFill>
        <p:spPr>
          <a:xfrm>
            <a:off x="9549994" y="101498"/>
            <a:ext cx="2404872" cy="1709928"/>
          </a:xfrm>
          <a:prstGeom prst="rect">
            <a:avLst/>
          </a:prstGeom>
        </p:spPr>
      </p:pic>
      <p:sp>
        <p:nvSpPr>
          <p:cNvPr id="5" name="Shape 1"/>
          <p:cNvSpPr/>
          <p:nvPr/>
        </p:nvSpPr>
        <p:spPr>
          <a:xfrm>
            <a:off x="0" y="1554480"/>
            <a:ext cx="9509760" cy="0"/>
          </a:xfrm>
          <a:prstGeom prst="line">
            <a:avLst/>
          </a:prstGeom>
          <a:noFill/>
          <a:ln w="12700">
            <a:solidFill>
              <a:srgbClr val="928C91"/>
            </a:solidFill>
            <a:prstDash val="solid"/>
          </a:ln>
        </p:spPr>
      </p:sp>
      <p:sp>
        <p:nvSpPr>
          <p:cNvPr id="6" name="Text 2"/>
          <p:cNvSpPr/>
          <p:nvPr>
            <p:ph idx="104" type="title" hasCustomPrompt="1"/>
          </p:nvPr>
        </p:nvSpPr>
        <p:spPr>
          <a:xfrm>
            <a:off x="548640" y="548640"/>
            <a:ext cx="8915400" cy="950976"/>
          </a:xfrm>
          <a:prstGeom prst="rect">
            <a:avLst/>
          </a:prstGeom>
          <a:noFill/>
          <a:ln/>
        </p:spPr>
        <p:txBody>
          <a:bodyPr wrap="square" rtlCol="0"/>
          <a:lstStyle>
            <a:lvl1pPr algn="l" indent="0" marL="0">
              <a:buNone/>
              <a:defRPr lang="en-US" sz="3200" b="1" dirty="0">
                <a:solidFill>
                  <a:srgbClr val="0C1670"/>
                </a:solidFill>
                <a:latin typeface="Arial" pitchFamily="34" charset="0"/>
                <a:ea typeface="Arial" pitchFamily="34" charset="-122"/>
                <a:cs typeface="Arial" pitchFamily="34" charset="-120"/>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AMED_FINAL">
    <p:bg>
      <p:bgPr>
        <a:solidFill>
          <a:srgbClr val="0C1670"/>
        </a:solidFill>
      </p:bgPr>
    </p:bg>
    <p:spTree>
      <p:nvGrpSpPr>
        <p:cNvPr id="1" name=""/>
        <p:cNvGrpSpPr/>
        <p:nvPr/>
      </p:nvGrpSpPr>
      <p:grpSpPr>
        <a:xfrm>
          <a:off x="0" y="0"/>
          <a:ext cx="0" cy="0"/>
          <a:chOff x="0" y="0"/>
          <a:chExt cx="0" cy="0"/>
        </a:xfrm>
      </p:grpSpPr>
      <p:sp>
        <p:nvSpPr>
          <p:cNvPr id="2" name="Shape 0"/>
          <p:cNvSpPr/>
          <p:nvPr/>
        </p:nvSpPr>
        <p:spPr>
          <a:xfrm>
            <a:off x="996696" y="1005840"/>
            <a:ext cx="10198303" cy="4846320"/>
          </a:xfrm>
          <a:prstGeom prst="rect">
            <a:avLst/>
          </a:prstGeom>
          <a:solidFill>
            <a:srgbClr val="FFD0F5"/>
          </a:solidFill>
          <a:ln w="12700">
            <a:solidFill>
              <a:srgbClr val="FFD0F5"/>
            </a:solidFill>
            <a:prstDash val="solid"/>
          </a:ln>
        </p:spPr>
      </p:sp>
      <p:pic>
        <p:nvPicPr>
          <p:cNvPr id="3" name="Image 0" descr="assets/footer_logos.png">    </p:cNvPr>
          <p:cNvPicPr>
            <a:picLocks noChangeAspect="1"/>
          </p:cNvPicPr>
          <p:nvPr/>
        </p:nvPicPr>
        <p:blipFill>
          <a:blip r:embed="rId1"/>
          <a:stretch>
            <a:fillRect/>
          </a:stretch>
        </p:blipFill>
        <p:spPr>
          <a:xfrm>
            <a:off x="2681021" y="5801868"/>
            <a:ext cx="6828739" cy="10561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828800"/>
            <a:ext cx="11274552" cy="1737360"/>
          </a:xfrm>
          <a:prstGeom prst="rect">
            <a:avLst/>
          </a:prstGeom>
          <a:noFill/>
          <a:ln/>
        </p:spPr>
        <p:txBody>
          <a:bodyPr wrap="square" lIns="0" tIns="0" rIns="0" bIns="0" rtlCol="0" anchor="ctr"/>
          <a:lstStyle/>
          <a:p>
            <a:pPr algn="ctr" indent="0" marL="0">
              <a:lnSpc>
                <a:spcPct val="115000"/>
              </a:lnSpc>
              <a:buNone/>
            </a:pPr>
            <a:r>
              <a:rPr lang="en-US" sz="4800" b="1" dirty="0">
                <a:solidFill>
                  <a:srgbClr val="0C1670"/>
                </a:solidFill>
                <a:latin typeface="Arial" pitchFamily="34" charset="0"/>
                <a:ea typeface="Arial" pitchFamily="34" charset="-122"/>
                <a:cs typeface="Arial" pitchFamily="34" charset="-120"/>
              </a:rPr>
              <a:t>Violência Sexual Crônica na Infância:</a:t>
            </a:r>
            <a:endParaRPr lang="en-US" sz="4800" dirty="0"/>
          </a:p>
          <a:p>
            <a:pPr algn="ctr" indent="0" marL="0">
              <a:lnSpc>
                <a:spcPct val="115000"/>
              </a:lnSpc>
              <a:buNone/>
            </a:pPr>
            <a:r>
              <a:rPr lang="en-US" sz="4800" b="1" dirty="0">
                <a:solidFill>
                  <a:srgbClr val="0C1670"/>
                </a:solidFill>
                <a:latin typeface="Arial" pitchFamily="34" charset="0"/>
                <a:ea typeface="Arial" pitchFamily="34" charset="-122"/>
                <a:cs typeface="Arial" pitchFamily="34" charset="-120"/>
              </a:rPr>
              <a:t>Repercussões Obstétricas e Sociais</a:t>
            </a:r>
            <a:endParaRPr lang="en-US" sz="4800" dirty="0"/>
          </a:p>
        </p:txBody>
      </p:sp>
      <p:sp>
        <p:nvSpPr>
          <p:cNvPr id="3" name="Shape 1"/>
          <p:cNvSpPr/>
          <p:nvPr/>
        </p:nvSpPr>
        <p:spPr>
          <a:xfrm>
            <a:off x="1106424" y="3648456"/>
            <a:ext cx="9976104" cy="0"/>
          </a:xfrm>
          <a:prstGeom prst="line">
            <a:avLst/>
          </a:prstGeom>
          <a:noFill/>
          <a:ln w="12700">
            <a:solidFill>
              <a:srgbClr val="928C91"/>
            </a:solidFill>
            <a:prstDash val="solid"/>
          </a:ln>
        </p:spPr>
      </p:sp>
      <p:sp>
        <p:nvSpPr>
          <p:cNvPr id="4" name="Text 2"/>
          <p:cNvSpPr txBox="1"/>
          <p:nvPr/>
        </p:nvSpPr>
        <p:spPr>
          <a:xfrm>
            <a:off x="1929384" y="3794760"/>
            <a:ext cx="9966960" cy="1828800"/>
          </a:xfrm>
          <a:prstGeom prst="rect">
            <a:avLst/>
          </a:prstGeom>
          <a:noFill/>
          <a:ln/>
        </p:spPr>
        <p:txBody>
          <a:bodyPr wrap="square" lIns="0" tIns="0" rIns="0" bIns="0" rtlCol="0" anchor="t"/>
          <a:lstStyle/>
          <a:p>
            <a:pPr indent="0" marL="0">
              <a:lnSpc>
                <a:spcPct val="112000"/>
              </a:lnSpc>
              <a:buNone/>
            </a:pPr>
            <a:r>
              <a:rPr lang="en-US" sz="2400" b="1" dirty="0">
                <a:solidFill>
                  <a:srgbClr val="0C1670"/>
                </a:solidFill>
                <a:latin typeface="Arial" pitchFamily="34" charset="0"/>
                <a:ea typeface="Arial" pitchFamily="34" charset="-122"/>
                <a:cs typeface="Arial" pitchFamily="34" charset="-120"/>
              </a:rPr>
              <a:t>AUTORES: </a:t>
            </a:r>
            <a:pPr indent="0" marL="0">
              <a:lnSpc>
                <a:spcPct val="112000"/>
              </a:lnSpc>
              <a:buNone/>
            </a:pPr>
            <a:r>
              <a:rPr lang="en-US" sz="2400" dirty="0">
                <a:solidFill>
                  <a:srgbClr val="0C1670"/>
                </a:solidFill>
                <a:latin typeface="Arial" pitchFamily="34" charset="0"/>
                <a:ea typeface="Arial" pitchFamily="34" charset="-122"/>
                <a:cs typeface="Arial" pitchFamily="34" charset="-120"/>
              </a:rPr>
              <a:t>Heitor C. Silva, Júlia C. de Andrade, Mariana M. T. B. da Rocha, Pedro H. de S. Oliveira, Pietra M. Ribeiro, Rafael de P. Carvalho, Sam L. de Faria, Paulo C. C. Rocha Junior.</a:t>
            </a:r>
            <a:endParaRPr lang="en-US" sz="2400" dirty="0"/>
          </a:p>
          <a:p>
            <a:pPr indent="0" marL="0">
              <a:lnSpc>
                <a:spcPct val="112000"/>
              </a:lnSpc>
              <a:buNone/>
            </a:pPr>
            <a:r>
              <a:rPr lang="en-US" sz="2400" b="1" dirty="0">
                <a:solidFill>
                  <a:srgbClr val="0C1670"/>
                </a:solidFill>
                <a:latin typeface="Arial" pitchFamily="34" charset="0"/>
                <a:ea typeface="Arial" pitchFamily="34" charset="-122"/>
                <a:cs typeface="Arial" pitchFamily="34" charset="-120"/>
              </a:rPr>
              <a:t>ORIENTADORA: </a:t>
            </a:r>
            <a:pPr indent="0" marL="0">
              <a:lnSpc>
                <a:spcPct val="112000"/>
              </a:lnSpc>
              <a:buNone/>
            </a:pPr>
            <a:r>
              <a:rPr lang="en-US" sz="2400" dirty="0">
                <a:solidFill>
                  <a:srgbClr val="0C1670"/>
                </a:solidFill>
                <a:latin typeface="Arial" pitchFamily="34" charset="0"/>
                <a:ea typeface="Arial" pitchFamily="34" charset="-122"/>
                <a:cs typeface="Arial" pitchFamily="34" charset="-120"/>
              </a:rPr>
              <a:t>Profa. Dra. Mônica Cola C. B. Corrêa.</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2 · OPÇÃO A (mais fiel ao modelo) — três cartões, como no modelo</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RELATO DE CASO · ANAMNESE</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12 anos, gestação oculta e dez meses de silêncio</a:t>
            </a:r>
            <a:endParaRPr lang="en-US" sz="3200" dirty="0"/>
          </a:p>
        </p:txBody>
      </p:sp>
      <p:sp>
        <p:nvSpPr>
          <p:cNvPr id="5" name="Shape 3"/>
          <p:cNvSpPr/>
          <p:nvPr/>
        </p:nvSpPr>
        <p:spPr>
          <a:xfrm>
            <a:off x="548640" y="1984248"/>
            <a:ext cx="3514039" cy="3520440"/>
          </a:xfrm>
          <a:prstGeom prst="roundRect">
            <a:avLst>
              <a:gd name="adj" fmla="val 7806"/>
            </a:avLst>
          </a:prstGeom>
          <a:solidFill>
            <a:srgbClr val="0C1670"/>
          </a:solidFill>
          <a:ln w="12700">
            <a:solidFill>
              <a:srgbClr val="0C1670"/>
            </a:solidFill>
            <a:prstDash val="solid"/>
          </a:ln>
        </p:spPr>
      </p:sp>
      <p:sp>
        <p:nvSpPr>
          <p:cNvPr id="6" name="Text 4"/>
          <p:cNvSpPr txBox="1"/>
          <p:nvPr/>
        </p:nvSpPr>
        <p:spPr>
          <a:xfrm>
            <a:off x="822960" y="2304288"/>
            <a:ext cx="2965399" cy="457200"/>
          </a:xfrm>
          <a:prstGeom prst="rect">
            <a:avLst/>
          </a:prstGeom>
          <a:noFill/>
          <a:ln/>
        </p:spPr>
        <p:txBody>
          <a:bodyPr wrap="square" lIns="0" tIns="0" rIns="0" bIns="0" rtlCol="0" anchor="t"/>
          <a:lstStyle/>
          <a:p>
            <a:pPr indent="0" marL="0">
              <a:buNone/>
            </a:pPr>
            <a:r>
              <a:rPr lang="en-US" sz="2800" b="1" dirty="0">
                <a:solidFill>
                  <a:srgbClr val="FFD0F5"/>
                </a:solidFill>
                <a:latin typeface="Arial" pitchFamily="34" charset="0"/>
                <a:ea typeface="Arial" pitchFamily="34" charset="-122"/>
                <a:cs typeface="Arial" pitchFamily="34" charset="-120"/>
              </a:rPr>
              <a:t>Queixa</a:t>
            </a:r>
            <a:endParaRPr lang="en-US" sz="2800" dirty="0"/>
          </a:p>
        </p:txBody>
      </p:sp>
      <p:sp>
        <p:nvSpPr>
          <p:cNvPr id="7" name="Text 5"/>
          <p:cNvSpPr txBox="1"/>
          <p:nvPr/>
        </p:nvSpPr>
        <p:spPr>
          <a:xfrm>
            <a:off x="822960" y="2990088"/>
            <a:ext cx="3056839" cy="2468880"/>
          </a:xfrm>
          <a:prstGeom prst="rect">
            <a:avLst/>
          </a:prstGeom>
          <a:noFill/>
          <a:ln/>
        </p:spPr>
        <p:txBody>
          <a:bodyPr wrap="square" lIns="0" tIns="0" rIns="0" bIns="0" rtlCol="0" anchor="t"/>
          <a:lstStyle/>
          <a:p>
            <a:pPr marL="203200" indent="-203200">
              <a:spcAft>
                <a:spcPts val="1600"/>
              </a:spcAft>
              <a:buSzPct val="100000"/>
              <a:buChar char="•"/>
            </a:pPr>
            <a:r>
              <a:rPr lang="en-US" sz="2400" dirty="0">
                <a:solidFill>
                  <a:srgbClr val="FFFFFF"/>
                </a:solidFill>
                <a:latin typeface="Arial" pitchFamily="34" charset="0"/>
                <a:ea typeface="Arial" pitchFamily="34" charset="-122"/>
                <a:cs typeface="Arial" pitchFamily="34" charset="-120"/>
              </a:rPr>
              <a:t>Dor abdominal</a:t>
            </a:r>
            <a:endParaRPr lang="en-US" sz="2400" dirty="0"/>
          </a:p>
          <a:p>
            <a:pPr marL="203200" indent="-203200">
              <a:spcAft>
                <a:spcPts val="1600"/>
              </a:spcAft>
              <a:buSzPct val="100000"/>
              <a:buChar char="•"/>
            </a:pPr>
            <a:r>
              <a:rPr lang="en-US" sz="2400" dirty="0">
                <a:solidFill>
                  <a:srgbClr val="FFFFFF"/>
                </a:solidFill>
                <a:latin typeface="Arial" pitchFamily="34" charset="0"/>
                <a:ea typeface="Arial" pitchFamily="34" charset="-122"/>
                <a:cs typeface="Arial" pitchFamily="34" charset="-120"/>
              </a:rPr>
              <a:t>Cefaleia e escotomas</a:t>
            </a:r>
            <a:endParaRPr lang="en-US" sz="2400" dirty="0"/>
          </a:p>
          <a:p>
            <a:pPr marL="203200" indent="-203200">
              <a:spcAft>
                <a:spcPts val="1600"/>
              </a:spcAft>
              <a:buSzPct val="100000"/>
              <a:buChar char="•"/>
            </a:pPr>
            <a:r>
              <a:rPr lang="en-US" sz="2400" dirty="0">
                <a:solidFill>
                  <a:srgbClr val="FFFFFF"/>
                </a:solidFill>
                <a:latin typeface="Arial" pitchFamily="34" charset="0"/>
                <a:ea typeface="Arial" pitchFamily="34" charset="-122"/>
                <a:cs typeface="Arial" pitchFamily="34" charset="-120"/>
              </a:rPr>
              <a:t>Edema: face e MMII</a:t>
            </a:r>
            <a:endParaRPr lang="en-US" sz="2400" dirty="0"/>
          </a:p>
        </p:txBody>
      </p:sp>
      <p:sp>
        <p:nvSpPr>
          <p:cNvPr id="8" name="Shape 6"/>
          <p:cNvSpPr/>
          <p:nvPr/>
        </p:nvSpPr>
        <p:spPr>
          <a:xfrm>
            <a:off x="4338828" y="1984248"/>
            <a:ext cx="3514039" cy="3520440"/>
          </a:xfrm>
          <a:prstGeom prst="roundRect">
            <a:avLst>
              <a:gd name="adj" fmla="val 7806"/>
            </a:avLst>
          </a:prstGeom>
          <a:solidFill>
            <a:srgbClr val="0C1670"/>
          </a:solidFill>
          <a:ln w="12700">
            <a:solidFill>
              <a:srgbClr val="0C1670"/>
            </a:solidFill>
            <a:prstDash val="solid"/>
          </a:ln>
        </p:spPr>
      </p:sp>
      <p:sp>
        <p:nvSpPr>
          <p:cNvPr id="9" name="Text 7"/>
          <p:cNvSpPr txBox="1"/>
          <p:nvPr/>
        </p:nvSpPr>
        <p:spPr>
          <a:xfrm>
            <a:off x="4613148" y="2304288"/>
            <a:ext cx="2965399" cy="457200"/>
          </a:xfrm>
          <a:prstGeom prst="rect">
            <a:avLst/>
          </a:prstGeom>
          <a:noFill/>
          <a:ln/>
        </p:spPr>
        <p:txBody>
          <a:bodyPr wrap="square" lIns="0" tIns="0" rIns="0" bIns="0" rtlCol="0" anchor="t"/>
          <a:lstStyle/>
          <a:p>
            <a:pPr indent="0" marL="0">
              <a:buNone/>
            </a:pPr>
            <a:r>
              <a:rPr lang="en-US" sz="2800" b="1" dirty="0">
                <a:solidFill>
                  <a:srgbClr val="FFD0F5"/>
                </a:solidFill>
                <a:latin typeface="Arial" pitchFamily="34" charset="0"/>
                <a:ea typeface="Arial" pitchFamily="34" charset="-122"/>
                <a:cs typeface="Arial" pitchFamily="34" charset="-120"/>
              </a:rPr>
              <a:t>Contexto</a:t>
            </a:r>
            <a:endParaRPr lang="en-US" sz="2800" dirty="0"/>
          </a:p>
        </p:txBody>
      </p:sp>
      <p:sp>
        <p:nvSpPr>
          <p:cNvPr id="10" name="Text 8"/>
          <p:cNvSpPr txBox="1"/>
          <p:nvPr/>
        </p:nvSpPr>
        <p:spPr>
          <a:xfrm>
            <a:off x="4613148" y="2990088"/>
            <a:ext cx="3056839" cy="2468880"/>
          </a:xfrm>
          <a:prstGeom prst="rect">
            <a:avLst/>
          </a:prstGeom>
          <a:noFill/>
          <a:ln/>
        </p:spPr>
        <p:txBody>
          <a:bodyPr wrap="square" lIns="0" tIns="0" rIns="0" bIns="0" rtlCol="0" anchor="t"/>
          <a:lstStyle/>
          <a:p>
            <a:pPr marL="203200" indent="-203200">
              <a:spcAft>
                <a:spcPts val="1600"/>
              </a:spcAft>
              <a:buSzPct val="100000"/>
              <a:buChar char="•"/>
            </a:pPr>
            <a:r>
              <a:rPr lang="en-US" sz="2400" dirty="0">
                <a:solidFill>
                  <a:srgbClr val="FFFFFF"/>
                </a:solidFill>
                <a:latin typeface="Arial" pitchFamily="34" charset="0"/>
                <a:ea typeface="Arial" pitchFamily="34" charset="-122"/>
                <a:cs typeface="Arial" pitchFamily="34" charset="-120"/>
              </a:rPr>
              <a:t>Sem pré-natal</a:t>
            </a:r>
            <a:endParaRPr lang="en-US" sz="2400" dirty="0"/>
          </a:p>
          <a:p>
            <a:pPr marL="203200" indent="-203200">
              <a:spcAft>
                <a:spcPts val="1600"/>
              </a:spcAft>
              <a:buSzPct val="100000"/>
              <a:buChar char="•"/>
            </a:pPr>
            <a:r>
              <a:rPr lang="en-US" sz="2400" dirty="0">
                <a:solidFill>
                  <a:srgbClr val="FFFFFF"/>
                </a:solidFill>
                <a:latin typeface="Arial" pitchFamily="34" charset="0"/>
                <a:ea typeface="Arial" pitchFamily="34" charset="-122"/>
                <a:cs typeface="Arial" pitchFamily="34" charset="-120"/>
              </a:rPr>
              <a:t>Gestação ignorada</a:t>
            </a:r>
            <a:endParaRPr lang="en-US" sz="2400" dirty="0"/>
          </a:p>
          <a:p>
            <a:pPr marL="203200" indent="-203200">
              <a:spcAft>
                <a:spcPts val="1600"/>
              </a:spcAft>
              <a:buSzPct val="100000"/>
              <a:buChar char="•"/>
            </a:pPr>
            <a:r>
              <a:rPr lang="en-US" sz="2400" dirty="0">
                <a:solidFill>
                  <a:srgbClr val="FFFFFF"/>
                </a:solidFill>
                <a:latin typeface="Arial" pitchFamily="34" charset="0"/>
                <a:ea typeface="Arial" pitchFamily="34" charset="-122"/>
                <a:cs typeface="Arial" pitchFamily="34" charset="-120"/>
              </a:rPr>
              <a:t>Torpor emocional</a:t>
            </a:r>
            <a:endParaRPr lang="en-US" sz="2400" dirty="0"/>
          </a:p>
        </p:txBody>
      </p:sp>
      <p:sp>
        <p:nvSpPr>
          <p:cNvPr id="11" name="Shape 9"/>
          <p:cNvSpPr/>
          <p:nvPr/>
        </p:nvSpPr>
        <p:spPr>
          <a:xfrm>
            <a:off x="8129016" y="1984248"/>
            <a:ext cx="3514039" cy="3520440"/>
          </a:xfrm>
          <a:prstGeom prst="roundRect">
            <a:avLst>
              <a:gd name="adj" fmla="val 7806"/>
            </a:avLst>
          </a:prstGeom>
          <a:solidFill>
            <a:srgbClr val="0C1670"/>
          </a:solidFill>
          <a:ln w="12700">
            <a:solidFill>
              <a:srgbClr val="0C1670"/>
            </a:solidFill>
            <a:prstDash val="solid"/>
          </a:ln>
        </p:spPr>
      </p:sp>
      <p:sp>
        <p:nvSpPr>
          <p:cNvPr id="12" name="Text 10"/>
          <p:cNvSpPr txBox="1"/>
          <p:nvPr/>
        </p:nvSpPr>
        <p:spPr>
          <a:xfrm>
            <a:off x="8403336" y="2304288"/>
            <a:ext cx="2965399" cy="457200"/>
          </a:xfrm>
          <a:prstGeom prst="rect">
            <a:avLst/>
          </a:prstGeom>
          <a:noFill/>
          <a:ln/>
        </p:spPr>
        <p:txBody>
          <a:bodyPr wrap="square" lIns="0" tIns="0" rIns="0" bIns="0" rtlCol="0" anchor="t"/>
          <a:lstStyle/>
          <a:p>
            <a:pPr indent="0" marL="0">
              <a:buNone/>
            </a:pPr>
            <a:r>
              <a:rPr lang="en-US" sz="2800" b="1" dirty="0">
                <a:solidFill>
                  <a:srgbClr val="FFD0F5"/>
                </a:solidFill>
                <a:latin typeface="Arial" pitchFamily="34" charset="0"/>
                <a:ea typeface="Arial" pitchFamily="34" charset="-122"/>
                <a:cs typeface="Arial" pitchFamily="34" charset="-120"/>
              </a:rPr>
              <a:t>Revelação</a:t>
            </a:r>
            <a:endParaRPr lang="en-US" sz="2800" dirty="0"/>
          </a:p>
        </p:txBody>
      </p:sp>
      <p:sp>
        <p:nvSpPr>
          <p:cNvPr id="13" name="Text 11"/>
          <p:cNvSpPr txBox="1"/>
          <p:nvPr/>
        </p:nvSpPr>
        <p:spPr>
          <a:xfrm>
            <a:off x="8403336" y="2990088"/>
            <a:ext cx="3056839" cy="2468880"/>
          </a:xfrm>
          <a:prstGeom prst="rect">
            <a:avLst/>
          </a:prstGeom>
          <a:noFill/>
          <a:ln/>
        </p:spPr>
        <p:txBody>
          <a:bodyPr wrap="square" lIns="0" tIns="0" rIns="0" bIns="0" rtlCol="0" anchor="t"/>
          <a:lstStyle/>
          <a:p>
            <a:pPr marL="203200" indent="-203200">
              <a:spcAft>
                <a:spcPts val="1600"/>
              </a:spcAft>
              <a:buSzPct val="100000"/>
              <a:buChar char="•"/>
            </a:pPr>
            <a:r>
              <a:rPr lang="en-US" sz="2400" dirty="0">
                <a:solidFill>
                  <a:srgbClr val="FFFFFF"/>
                </a:solidFill>
                <a:latin typeface="Arial" pitchFamily="34" charset="0"/>
                <a:ea typeface="Arial" pitchFamily="34" charset="-122"/>
                <a:cs typeface="Arial" pitchFamily="34" charset="-120"/>
              </a:rPr>
              <a:t>Escuta privativa</a:t>
            </a:r>
            <a:endParaRPr lang="en-US" sz="2400" dirty="0"/>
          </a:p>
          <a:p>
            <a:pPr marL="203200" indent="-203200">
              <a:spcAft>
                <a:spcPts val="1600"/>
              </a:spcAft>
              <a:buSzPct val="100000"/>
              <a:buChar char="•"/>
            </a:pPr>
            <a:r>
              <a:rPr lang="en-US" sz="2400" dirty="0">
                <a:solidFill>
                  <a:srgbClr val="FFFFFF"/>
                </a:solidFill>
                <a:latin typeface="Arial" pitchFamily="34" charset="0"/>
                <a:ea typeface="Arial" pitchFamily="34" charset="-122"/>
                <a:cs typeface="Arial" pitchFamily="34" charset="-120"/>
              </a:rPr>
              <a:t>10 meses de violência</a:t>
            </a:r>
            <a:endParaRPr lang="en-US" sz="2400" dirty="0"/>
          </a:p>
          <a:p>
            <a:pPr marL="203200" indent="-203200">
              <a:spcAft>
                <a:spcPts val="1600"/>
              </a:spcAft>
              <a:buSzPct val="100000"/>
              <a:buChar char="•"/>
            </a:pPr>
            <a:r>
              <a:rPr lang="en-US" sz="2400" dirty="0">
                <a:solidFill>
                  <a:srgbClr val="FFFFFF"/>
                </a:solidFill>
                <a:latin typeface="Arial" pitchFamily="34" charset="0"/>
                <a:ea typeface="Arial" pitchFamily="34" charset="-122"/>
                <a:cs typeface="Arial" pitchFamily="34" charset="-120"/>
              </a:rPr>
              <a:t>Ameaças de morte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2 · OPÇÃO B (recurso visual diferente) — número em destaque</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RELATO DE CASO · ANAMNESE</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12 anos, gestação oculta e dez meses de silêncio</a:t>
            </a:r>
            <a:endParaRPr lang="en-US" sz="3200" dirty="0"/>
          </a:p>
        </p:txBody>
      </p:sp>
      <p:sp>
        <p:nvSpPr>
          <p:cNvPr id="5" name="Shape 3"/>
          <p:cNvSpPr/>
          <p:nvPr/>
        </p:nvSpPr>
        <p:spPr>
          <a:xfrm>
            <a:off x="548640" y="1938528"/>
            <a:ext cx="4206240" cy="3566160"/>
          </a:xfrm>
          <a:prstGeom prst="roundRect">
            <a:avLst>
              <a:gd name="adj" fmla="val 7692"/>
            </a:avLst>
          </a:prstGeom>
          <a:solidFill>
            <a:srgbClr val="0C1670"/>
          </a:solidFill>
          <a:ln w="12700">
            <a:solidFill>
              <a:srgbClr val="0C1670"/>
            </a:solidFill>
            <a:prstDash val="solid"/>
          </a:ln>
        </p:spPr>
      </p:sp>
      <p:sp>
        <p:nvSpPr>
          <p:cNvPr id="6" name="Text 4"/>
          <p:cNvSpPr txBox="1"/>
          <p:nvPr/>
        </p:nvSpPr>
        <p:spPr>
          <a:xfrm>
            <a:off x="868680" y="2350008"/>
            <a:ext cx="3657600" cy="1417320"/>
          </a:xfrm>
          <a:prstGeom prst="rect">
            <a:avLst/>
          </a:prstGeom>
          <a:noFill/>
          <a:ln/>
        </p:spPr>
        <p:txBody>
          <a:bodyPr wrap="square" lIns="0" tIns="0" rIns="0" bIns="0" rtlCol="0" anchor="b"/>
          <a:lstStyle/>
          <a:p>
            <a:pPr indent="0" marL="0">
              <a:buNone/>
            </a:pPr>
            <a:r>
              <a:rPr lang="en-US" sz="9600" b="1" dirty="0">
                <a:solidFill>
                  <a:srgbClr val="FFD0F5"/>
                </a:solidFill>
                <a:latin typeface="Arial" pitchFamily="34" charset="0"/>
                <a:ea typeface="Arial" pitchFamily="34" charset="-122"/>
                <a:cs typeface="Arial" pitchFamily="34" charset="-120"/>
              </a:rPr>
              <a:t>10</a:t>
            </a:r>
            <a:pPr indent="0" marL="0">
              <a:buNone/>
            </a:pPr>
            <a:r>
              <a:rPr lang="en-US" sz="4000" b="1" dirty="0">
                <a:solidFill>
                  <a:srgbClr val="FFD0F5"/>
                </a:solidFill>
                <a:latin typeface="Arial" pitchFamily="34" charset="0"/>
                <a:ea typeface="Arial" pitchFamily="34" charset="-122"/>
                <a:cs typeface="Arial" pitchFamily="34" charset="-120"/>
              </a:rPr>
              <a:t> meses</a:t>
            </a:r>
            <a:endParaRPr lang="en-US" sz="9600" dirty="0"/>
          </a:p>
        </p:txBody>
      </p:sp>
      <p:sp>
        <p:nvSpPr>
          <p:cNvPr id="7" name="Text 5"/>
          <p:cNvSpPr txBox="1"/>
          <p:nvPr/>
        </p:nvSpPr>
        <p:spPr>
          <a:xfrm>
            <a:off x="868680" y="3950208"/>
            <a:ext cx="3611880" cy="137160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de violência sexual continuada, sob ameaças de morte</a:t>
            </a:r>
            <a:endParaRPr lang="en-US" sz="2400" dirty="0"/>
          </a:p>
        </p:txBody>
      </p:sp>
      <p:sp>
        <p:nvSpPr>
          <p:cNvPr id="8" name="Shape 6"/>
          <p:cNvSpPr/>
          <p:nvPr/>
        </p:nvSpPr>
        <p:spPr>
          <a:xfrm>
            <a:off x="5120640" y="2048256"/>
            <a:ext cx="868680" cy="868680"/>
          </a:xfrm>
          <a:prstGeom prst="ellipse">
            <a:avLst/>
          </a:prstGeom>
          <a:solidFill>
            <a:srgbClr val="0C1670"/>
          </a:solidFill>
          <a:ln w="12700">
            <a:solidFill>
              <a:srgbClr val="0C1670"/>
            </a:solidFill>
            <a:prstDash val="solid"/>
          </a:ln>
        </p:spPr>
      </p:sp>
      <p:pic>
        <p:nvPicPr>
          <p:cNvPr id="9" name="Image 0" descr="preencoded.png">    </p:cNvPr>
          <p:cNvPicPr>
            <a:picLocks noChangeAspect="1"/>
          </p:cNvPicPr>
          <p:nvPr/>
        </p:nvPicPr>
        <p:blipFill>
          <a:blip r:embed="rId1"/>
          <a:stretch>
            <a:fillRect/>
          </a:stretch>
        </p:blipFill>
        <p:spPr>
          <a:xfrm>
            <a:off x="5337810" y="2265426"/>
            <a:ext cx="434340" cy="434340"/>
          </a:xfrm>
          <a:prstGeom prst="rect">
            <a:avLst/>
          </a:prstGeom>
        </p:spPr>
      </p:pic>
      <p:sp>
        <p:nvSpPr>
          <p:cNvPr id="10" name="Text 7"/>
          <p:cNvSpPr txBox="1"/>
          <p:nvPr/>
        </p:nvSpPr>
        <p:spPr>
          <a:xfrm>
            <a:off x="6263640" y="2002536"/>
            <a:ext cx="5376672" cy="960120"/>
          </a:xfrm>
          <a:prstGeom prst="rect">
            <a:avLst/>
          </a:prstGeom>
          <a:noFill/>
          <a:ln/>
        </p:spPr>
        <p:txBody>
          <a:bodyPr wrap="square" lIns="0" tIns="0" rIns="0" bIns="0" rtlCol="0" anchor="ctr"/>
          <a:lstStyle/>
          <a:p>
            <a:pPr indent="0" marL="0">
              <a:buNone/>
            </a:pPr>
            <a:r>
              <a:rPr lang="en-US" sz="2400" dirty="0">
                <a:solidFill>
                  <a:srgbClr val="0C1670"/>
                </a:solidFill>
                <a:latin typeface="Arial" pitchFamily="34" charset="0"/>
                <a:ea typeface="Arial" pitchFamily="34" charset="-122"/>
                <a:cs typeface="Arial" pitchFamily="34" charset="-120"/>
              </a:rPr>
              <a:t>Cefaleia, escotomas, dor abdominal e edema</a:t>
            </a:r>
            <a:endParaRPr lang="en-US" sz="2400" dirty="0"/>
          </a:p>
        </p:txBody>
      </p:sp>
      <p:sp>
        <p:nvSpPr>
          <p:cNvPr id="11" name="Shape 8"/>
          <p:cNvSpPr/>
          <p:nvPr/>
        </p:nvSpPr>
        <p:spPr>
          <a:xfrm>
            <a:off x="5120640" y="3273552"/>
            <a:ext cx="868680" cy="868680"/>
          </a:xfrm>
          <a:prstGeom prst="ellipse">
            <a:avLst/>
          </a:prstGeom>
          <a:solidFill>
            <a:srgbClr val="0C1670"/>
          </a:solidFill>
          <a:ln w="12700">
            <a:solidFill>
              <a:srgbClr val="0C1670"/>
            </a:solidFill>
            <a:prstDash val="solid"/>
          </a:ln>
        </p:spPr>
      </p:sp>
      <p:pic>
        <p:nvPicPr>
          <p:cNvPr id="12" name="Image 1" descr="preencoded.png">    </p:cNvPr>
          <p:cNvPicPr>
            <a:picLocks noChangeAspect="1"/>
          </p:cNvPicPr>
          <p:nvPr/>
        </p:nvPicPr>
        <p:blipFill>
          <a:blip r:embed="rId2"/>
          <a:stretch>
            <a:fillRect/>
          </a:stretch>
        </p:blipFill>
        <p:spPr>
          <a:xfrm>
            <a:off x="5337810" y="3490722"/>
            <a:ext cx="434340" cy="434340"/>
          </a:xfrm>
          <a:prstGeom prst="rect">
            <a:avLst/>
          </a:prstGeom>
        </p:spPr>
      </p:pic>
      <p:sp>
        <p:nvSpPr>
          <p:cNvPr id="13" name="Text 9"/>
          <p:cNvSpPr txBox="1"/>
          <p:nvPr/>
        </p:nvSpPr>
        <p:spPr>
          <a:xfrm>
            <a:off x="6263640" y="3227832"/>
            <a:ext cx="5376672" cy="960120"/>
          </a:xfrm>
          <a:prstGeom prst="rect">
            <a:avLst/>
          </a:prstGeom>
          <a:noFill/>
          <a:ln/>
        </p:spPr>
        <p:txBody>
          <a:bodyPr wrap="square" lIns="0" tIns="0" rIns="0" bIns="0" rtlCol="0" anchor="ctr"/>
          <a:lstStyle/>
          <a:p>
            <a:pPr indent="0" marL="0">
              <a:buNone/>
            </a:pPr>
            <a:r>
              <a:rPr lang="en-US" sz="2400" dirty="0">
                <a:solidFill>
                  <a:srgbClr val="0C1670"/>
                </a:solidFill>
                <a:latin typeface="Arial" pitchFamily="34" charset="0"/>
                <a:ea typeface="Arial" pitchFamily="34" charset="-122"/>
                <a:cs typeface="Arial" pitchFamily="34" charset="-120"/>
              </a:rPr>
              <a:t>Sem pré-natal: gestação ignorada pela mãe</a:t>
            </a:r>
            <a:endParaRPr lang="en-US" sz="2400" dirty="0"/>
          </a:p>
        </p:txBody>
      </p:sp>
      <p:sp>
        <p:nvSpPr>
          <p:cNvPr id="14" name="Shape 10"/>
          <p:cNvSpPr/>
          <p:nvPr/>
        </p:nvSpPr>
        <p:spPr>
          <a:xfrm>
            <a:off x="5120640" y="4498848"/>
            <a:ext cx="868680" cy="868680"/>
          </a:xfrm>
          <a:prstGeom prst="ellipse">
            <a:avLst/>
          </a:prstGeom>
          <a:solidFill>
            <a:srgbClr val="0C1670"/>
          </a:solidFill>
          <a:ln w="12700">
            <a:solidFill>
              <a:srgbClr val="0C1670"/>
            </a:solidFill>
            <a:prstDash val="solid"/>
          </a:ln>
        </p:spPr>
      </p:sp>
      <p:pic>
        <p:nvPicPr>
          <p:cNvPr id="15" name="Image 2" descr="preencoded.png">    </p:cNvPr>
          <p:cNvPicPr>
            <a:picLocks noChangeAspect="1"/>
          </p:cNvPicPr>
          <p:nvPr/>
        </p:nvPicPr>
        <p:blipFill>
          <a:blip r:embed="rId3"/>
          <a:stretch>
            <a:fillRect/>
          </a:stretch>
        </p:blipFill>
        <p:spPr>
          <a:xfrm>
            <a:off x="5337810" y="4716018"/>
            <a:ext cx="434340" cy="434340"/>
          </a:xfrm>
          <a:prstGeom prst="rect">
            <a:avLst/>
          </a:prstGeom>
        </p:spPr>
      </p:pic>
      <p:sp>
        <p:nvSpPr>
          <p:cNvPr id="16" name="Text 11"/>
          <p:cNvSpPr txBox="1"/>
          <p:nvPr/>
        </p:nvSpPr>
        <p:spPr>
          <a:xfrm>
            <a:off x="6263640" y="4453128"/>
            <a:ext cx="5376672" cy="960120"/>
          </a:xfrm>
          <a:prstGeom prst="rect">
            <a:avLst/>
          </a:prstGeom>
          <a:noFill/>
          <a:ln/>
        </p:spPr>
        <p:txBody>
          <a:bodyPr wrap="square" lIns="0" tIns="0" rIns="0" bIns="0" rtlCol="0" anchor="ctr"/>
          <a:lstStyle/>
          <a:p>
            <a:pPr indent="0" marL="0">
              <a:buNone/>
            </a:pPr>
            <a:r>
              <a:rPr lang="en-US" sz="2400" dirty="0">
                <a:solidFill>
                  <a:srgbClr val="0C1670"/>
                </a:solidFill>
                <a:latin typeface="Arial" pitchFamily="34" charset="0"/>
                <a:ea typeface="Arial" pitchFamily="34" charset="-122"/>
                <a:cs typeface="Arial" pitchFamily="34" charset="-120"/>
              </a:rPr>
              <a:t>Revelação só em escuta privativa</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3 · OPÇÃO A (mais fiel ao modelo) — duas colunas: tabela enxuta + evento e conduta</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EXAME FÍSICO E EVENTO CRÍTICO</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Hipertensão grave e convulsão: o diagnóstico é eclâmpsia</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5257800" cy="914400"/>
        </p:xfrm>
        <a:graphic>
          <a:graphicData uri="http://schemas.openxmlformats.org/drawingml/2006/table">
            <a:tbl>
              <a:tblPr/>
              <a:tblGrid>
                <a:gridCol w="2011680"/>
                <a:gridCol w="3246120"/>
              </a:tblGrid>
              <a:tr h="548640">
                <a:tc>
                  <a:txBody>
                    <a:bodyPr/>
                    <a:lstStyle/>
                    <a:p>
                      <a:pPr algn="l" indent="0" marL="0">
                        <a:buNone/>
                      </a:pPr>
                      <a:r>
                        <a:rPr lang="en-US" sz="2400" dirty="0">
                          <a:solidFill>
                            <a:srgbClr val="0C1670"/>
                          </a:solidFill>
                          <a:latin typeface="Arial" pitchFamily="34" charset="0"/>
                          <a:ea typeface="Arial" pitchFamily="34" charset="-122"/>
                          <a:cs typeface="Arial" pitchFamily="34" charset="-120"/>
                        </a:rPr>
                        <a:t>PA</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l" indent="0" marL="0">
                        <a:buNone/>
                      </a:pPr>
                      <a:r>
                        <a:rPr lang="en-US" sz="2400" b="1" dirty="0">
                          <a:solidFill>
                            <a:srgbClr val="FFFFFF"/>
                          </a:solidFill>
                          <a:latin typeface="Arial" pitchFamily="34" charset="0"/>
                          <a:ea typeface="Arial" pitchFamily="34" charset="-122"/>
                          <a:cs typeface="Arial" pitchFamily="34" charset="-120"/>
                        </a:rPr>
                        <a:t>175/115 mmHg</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solidFill>
                      <a:srgbClr val="0C1670"/>
                    </a:solidFill>
                  </a:tcPr>
                </a:tc>
              </a:tr>
              <a:tr h="548640">
                <a:tc>
                  <a:txBody>
                    <a:bodyPr/>
                    <a:lstStyle/>
                    <a:p>
                      <a:pPr algn="l" indent="0" marL="0">
                        <a:buNone/>
                      </a:pPr>
                      <a:r>
                        <a:rPr lang="en-US" sz="2400" dirty="0">
                          <a:solidFill>
                            <a:srgbClr val="0C1670"/>
                          </a:solidFill>
                          <a:latin typeface="Arial" pitchFamily="34" charset="0"/>
                          <a:ea typeface="Arial" pitchFamily="34" charset="-122"/>
                          <a:cs typeface="Arial" pitchFamily="34" charset="-120"/>
                        </a:rPr>
                        <a:t>FC</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l" indent="0" marL="0">
                        <a:buNone/>
                      </a:pPr>
                      <a:r>
                        <a:rPr lang="en-US" sz="2400" b="1" dirty="0">
                          <a:solidFill>
                            <a:srgbClr val="FFFFFF"/>
                          </a:solidFill>
                          <a:latin typeface="Arial" pitchFamily="34" charset="0"/>
                          <a:ea typeface="Arial" pitchFamily="34" charset="-122"/>
                          <a:cs typeface="Arial" pitchFamily="34" charset="-120"/>
                        </a:rPr>
                        <a:t>118 bpm</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solidFill>
                      <a:srgbClr val="0C1670"/>
                    </a:solidFill>
                  </a:tcPr>
                </a:tc>
              </a:tr>
              <a:tr h="548640">
                <a:tc>
                  <a:txBody>
                    <a:bodyPr/>
                    <a:lstStyle/>
                    <a:p>
                      <a:pPr indent="0" marL="0">
                        <a:buNone/>
                      </a:pPr>
                      <a:r>
                        <a:rPr lang="en-US" sz="2400" dirty="0">
                          <a:solidFill>
                            <a:srgbClr val="0C1670"/>
                          </a:solidFill>
                          <a:latin typeface="Arial" pitchFamily="34" charset="0"/>
                          <a:ea typeface="Arial" pitchFamily="34" charset="-122"/>
                          <a:cs typeface="Arial" pitchFamily="34" charset="-120"/>
                        </a:rPr>
                        <a:t>SpO</a:t>
                      </a:r>
                      <a:pPr indent="0" marL="0">
                        <a:buNone/>
                      </a:pPr>
                      <a:r>
                        <a:rPr lang="en-US" sz="2400" baseline="-40000" dirty="0">
                          <a:solidFill>
                            <a:srgbClr val="0C1670"/>
                          </a:solidFill>
                          <a:latin typeface="Arial" pitchFamily="34" charset="0"/>
                          <a:ea typeface="Arial" pitchFamily="34" charset="-122"/>
                          <a:cs typeface="Arial" pitchFamily="34" charset="-120"/>
                        </a:rPr>
                        <a:t>2</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l" indent="0" marL="0">
                        <a:buNone/>
                      </a:pPr>
                      <a:r>
                        <a:rPr lang="en-US" sz="2400" b="1" dirty="0">
                          <a:solidFill>
                            <a:srgbClr val="0C1670"/>
                          </a:solidFill>
                          <a:latin typeface="Arial" pitchFamily="34" charset="0"/>
                          <a:ea typeface="Arial" pitchFamily="34" charset="-122"/>
                          <a:cs typeface="Arial" pitchFamily="34" charset="-120"/>
                        </a:rPr>
                        <a:t>96%</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r>
              <a:tr h="548640">
                <a:tc>
                  <a:txBody>
                    <a:bodyPr/>
                    <a:lstStyle/>
                    <a:p>
                      <a:pPr algn="l" indent="0" marL="0">
                        <a:buNone/>
                      </a:pPr>
                      <a:r>
                        <a:rPr lang="en-US" sz="2400" dirty="0">
                          <a:solidFill>
                            <a:srgbClr val="0C1670"/>
                          </a:solidFill>
                          <a:latin typeface="Arial" pitchFamily="34" charset="0"/>
                          <a:ea typeface="Arial" pitchFamily="34" charset="-122"/>
                          <a:cs typeface="Arial" pitchFamily="34" charset="-120"/>
                        </a:rPr>
                        <a:t>AU · BCF</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l" indent="0" marL="0">
                        <a:buNone/>
                      </a:pPr>
                      <a:r>
                        <a:rPr lang="en-US" sz="2400" b="1" dirty="0">
                          <a:solidFill>
                            <a:srgbClr val="0C1670"/>
                          </a:solidFill>
                          <a:latin typeface="Arial" pitchFamily="34" charset="0"/>
                          <a:ea typeface="Arial" pitchFamily="34" charset="-122"/>
                          <a:cs typeface="Arial" pitchFamily="34" charset="-120"/>
                        </a:rPr>
                        <a:t>31 cm · 162 bpm</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r>
              <a:tr h="548640">
                <a:tc>
                  <a:txBody>
                    <a:bodyPr/>
                    <a:lstStyle/>
                    <a:p>
                      <a:pPr algn="l" indent="0" marL="0">
                        <a:buNone/>
                      </a:pPr>
                      <a:r>
                        <a:rPr lang="en-US" sz="2400" dirty="0">
                          <a:solidFill>
                            <a:srgbClr val="0C1670"/>
                          </a:solidFill>
                          <a:latin typeface="Arial" pitchFamily="34" charset="0"/>
                          <a:ea typeface="Arial" pitchFamily="34" charset="-122"/>
                          <a:cs typeface="Arial" pitchFamily="34" charset="-120"/>
                        </a:rPr>
                        <a:t>Reflexos</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l" indent="0" marL="0">
                        <a:buNone/>
                      </a:pPr>
                      <a:r>
                        <a:rPr lang="en-US" sz="2400" b="1" dirty="0">
                          <a:solidFill>
                            <a:srgbClr val="FFFFFF"/>
                          </a:solidFill>
                          <a:latin typeface="Arial" pitchFamily="34" charset="0"/>
                          <a:ea typeface="Arial" pitchFamily="34" charset="-122"/>
                          <a:cs typeface="Arial" pitchFamily="34" charset="-120"/>
                        </a:rPr>
                        <a:t>vivos + clônus</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solidFill>
                      <a:srgbClr val="0C1670"/>
                    </a:solidFill>
                  </a:tcPr>
                </a:tc>
              </a:tr>
              <a:tr h="548640">
                <a:tc>
                  <a:txBody>
                    <a:bodyPr/>
                    <a:lstStyle/>
                    <a:p>
                      <a:pPr algn="l" indent="0" marL="0">
                        <a:buNone/>
                      </a:pPr>
                      <a:r>
                        <a:rPr lang="en-US" sz="2400" dirty="0">
                          <a:solidFill>
                            <a:srgbClr val="0C1670"/>
                          </a:solidFill>
                          <a:latin typeface="Arial" pitchFamily="34" charset="0"/>
                          <a:ea typeface="Arial" pitchFamily="34" charset="-122"/>
                          <a:cs typeface="Arial" pitchFamily="34" charset="-120"/>
                        </a:rPr>
                        <a:t>Edema</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l" indent="0" marL="0">
                        <a:buNone/>
                      </a:pPr>
                      <a:r>
                        <a:rPr lang="en-US" sz="2400" b="1" dirty="0">
                          <a:solidFill>
                            <a:srgbClr val="FFFFFF"/>
                          </a:solidFill>
                          <a:latin typeface="Arial" pitchFamily="34" charset="0"/>
                          <a:ea typeface="Arial" pitchFamily="34" charset="-122"/>
                          <a:cs typeface="Arial" pitchFamily="34" charset="-120"/>
                        </a:rPr>
                        <a:t>3+/4+</a:t>
                      </a:r>
                      <a:endParaRPr lang="en-US" sz="2400" dirty="0">
                        <a:latin typeface="Arial" charset="0"/>
                        <a:ea typeface="Arial" charset="0"/>
                        <a:cs typeface="Arial" charset="0"/>
                      </a:endParaRPr>
                    </a:p>
                  </a:txBody>
                  <a:tcPr marL="109728" marR="91440"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solidFill>
                      <a:srgbClr val="0C1670"/>
                    </a:solidFill>
                  </a:tcPr>
                </a:tc>
              </a:tr>
            </a:tbl>
          </a:graphicData>
        </a:graphic>
      </p:graphicFrame>
      <p:sp>
        <p:nvSpPr>
          <p:cNvPr id="6" name="Text 3"/>
          <p:cNvSpPr txBox="1"/>
          <p:nvPr/>
        </p:nvSpPr>
        <p:spPr>
          <a:xfrm>
            <a:off x="548640" y="5303520"/>
            <a:ext cx="5257800" cy="274320"/>
          </a:xfrm>
          <a:prstGeom prst="rect">
            <a:avLst/>
          </a:prstGeom>
          <a:noFill/>
          <a:ln/>
        </p:spPr>
        <p:txBody>
          <a:bodyPr wrap="square" lIns="0" tIns="0" rIns="0" bIns="0" rtlCol="0" anchor="t"/>
          <a:lstStyle/>
          <a:p>
            <a:pPr indent="0" marL="0">
              <a:buNone/>
            </a:pPr>
            <a:r>
              <a:rPr lang="en-US" sz="1200" i="1" dirty="0">
                <a:solidFill>
                  <a:srgbClr val="0C1670"/>
                </a:solidFill>
                <a:latin typeface="Arial" pitchFamily="34" charset="0"/>
                <a:ea typeface="Arial" pitchFamily="34" charset="-122"/>
                <a:cs typeface="Arial" pitchFamily="34" charset="-120"/>
              </a:rPr>
              <a:t>Alterados em destaque</a:t>
            </a:r>
            <a:endParaRPr lang="en-US" sz="1200" dirty="0"/>
          </a:p>
        </p:txBody>
      </p:sp>
      <p:sp>
        <p:nvSpPr>
          <p:cNvPr id="7" name="Shape 4"/>
          <p:cNvSpPr/>
          <p:nvPr/>
        </p:nvSpPr>
        <p:spPr>
          <a:xfrm>
            <a:off x="6217920" y="1938528"/>
            <a:ext cx="5422392" cy="1417320"/>
          </a:xfrm>
          <a:prstGeom prst="roundRect">
            <a:avLst>
              <a:gd name="adj" fmla="val 16129"/>
            </a:avLst>
          </a:prstGeom>
          <a:solidFill>
            <a:srgbClr val="0C1670"/>
          </a:solidFill>
          <a:ln w="12700">
            <a:solidFill>
              <a:srgbClr val="0C1670"/>
            </a:solidFill>
            <a:prstDash val="solid"/>
          </a:ln>
        </p:spPr>
      </p:sp>
      <p:sp>
        <p:nvSpPr>
          <p:cNvPr id="8" name="Text 5"/>
          <p:cNvSpPr txBox="1"/>
          <p:nvPr/>
        </p:nvSpPr>
        <p:spPr>
          <a:xfrm>
            <a:off x="6492240" y="2121408"/>
            <a:ext cx="4937760" cy="457200"/>
          </a:xfrm>
          <a:prstGeom prst="rect">
            <a:avLst/>
          </a:prstGeom>
          <a:noFill/>
          <a:ln/>
        </p:spPr>
        <p:txBody>
          <a:bodyPr wrap="square" lIns="0" tIns="0" rIns="0" bIns="0" rtlCol="0" anchor="t"/>
          <a:lstStyle/>
          <a:p>
            <a:pPr indent="0" marL="0">
              <a:buNone/>
            </a:pPr>
            <a:r>
              <a:rPr lang="en-US" sz="2400" b="1" dirty="0">
                <a:solidFill>
                  <a:srgbClr val="FFD0F5"/>
                </a:solidFill>
                <a:latin typeface="Arial" pitchFamily="34" charset="0"/>
                <a:ea typeface="Arial" pitchFamily="34" charset="-122"/>
                <a:cs typeface="Arial" pitchFamily="34" charset="-120"/>
              </a:rPr>
              <a:t>Convulsão tônico-clônica</a:t>
            </a:r>
            <a:endParaRPr lang="en-US" sz="2400" dirty="0"/>
          </a:p>
        </p:txBody>
      </p:sp>
      <p:sp>
        <p:nvSpPr>
          <p:cNvPr id="9" name="Text 6"/>
          <p:cNvSpPr txBox="1"/>
          <p:nvPr/>
        </p:nvSpPr>
        <p:spPr>
          <a:xfrm>
            <a:off x="6492240" y="2624328"/>
            <a:ext cx="4937760"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~90 s  →  ECLÂMPSIA</a:t>
            </a:r>
            <a:endParaRPr lang="en-US" sz="3000" dirty="0"/>
          </a:p>
        </p:txBody>
      </p:sp>
      <p:sp>
        <p:nvSpPr>
          <p:cNvPr id="10" name="Text 7"/>
          <p:cNvSpPr txBox="1"/>
          <p:nvPr/>
        </p:nvSpPr>
        <p:spPr>
          <a:xfrm>
            <a:off x="6217920" y="3584448"/>
            <a:ext cx="5394960" cy="411480"/>
          </a:xfrm>
          <a:prstGeom prst="rect">
            <a:avLst/>
          </a:prstGeom>
          <a:noFill/>
          <a:ln/>
        </p:spPr>
        <p:txBody>
          <a:bodyPr wrap="square" lIns="0" tIns="0" rIns="0" bIns="0" rtlCol="0" anchor="t"/>
          <a:lstStyle/>
          <a:p>
            <a:pPr indent="0" marL="0">
              <a:buNone/>
            </a:pPr>
            <a:r>
              <a:rPr lang="en-US" sz="2400" b="1" dirty="0">
                <a:solidFill>
                  <a:srgbClr val="0C1670"/>
                </a:solidFill>
                <a:latin typeface="Arial" pitchFamily="34" charset="0"/>
                <a:ea typeface="Arial" pitchFamily="34" charset="-122"/>
                <a:cs typeface="Arial" pitchFamily="34" charset="-120"/>
              </a:rPr>
              <a:t>Conduta imediata</a:t>
            </a:r>
            <a:endParaRPr lang="en-US" sz="2400" dirty="0"/>
          </a:p>
        </p:txBody>
      </p:sp>
      <p:sp>
        <p:nvSpPr>
          <p:cNvPr id="11" name="Text 8"/>
          <p:cNvSpPr txBox="1"/>
          <p:nvPr/>
        </p:nvSpPr>
        <p:spPr>
          <a:xfrm>
            <a:off x="6217920" y="4041648"/>
            <a:ext cx="5422392" cy="1600200"/>
          </a:xfrm>
          <a:prstGeom prst="rect">
            <a:avLst/>
          </a:prstGeom>
          <a:noFill/>
          <a:ln/>
        </p:spPr>
        <p:txBody>
          <a:bodyPr wrap="square" lIns="0" tIns="0" rIns="0" bIns="0" rtlCol="0" anchor="t"/>
          <a:lstStyle/>
          <a:p>
            <a:pPr indent="0" marL="0">
              <a:buNone/>
            </a:pPr>
            <a:r>
              <a:rPr lang="en-US" sz="2400" b="1" dirty="0">
                <a:solidFill>
                  <a:srgbClr val="0C1670"/>
                </a:solidFill>
                <a:latin typeface="Arial" pitchFamily="34" charset="0"/>
                <a:ea typeface="Arial" pitchFamily="34" charset="-122"/>
                <a:cs typeface="Arial" pitchFamily="34" charset="-120"/>
              </a:rPr>
              <a:t>MgSO</a:t>
            </a:r>
            <a:pPr indent="0" marL="0">
              <a:buNone/>
            </a:pPr>
            <a:r>
              <a:rPr lang="en-US" sz="2400" b="1" baseline="-40000" dirty="0">
                <a:solidFill>
                  <a:srgbClr val="0C1670"/>
                </a:solidFill>
                <a:latin typeface="Arial" pitchFamily="34" charset="0"/>
                <a:ea typeface="Arial" pitchFamily="34" charset="-122"/>
                <a:cs typeface="Arial" pitchFamily="34" charset="-120"/>
              </a:rPr>
              <a:t>4</a:t>
            </a:r>
            <a:pPr indent="0" marL="0">
              <a:buNone/>
            </a:pPr>
            <a:r>
              <a:rPr lang="en-US" sz="2400" b="1" dirty="0">
                <a:solidFill>
                  <a:srgbClr val="0C1670"/>
                </a:solidFill>
                <a:latin typeface="Arial" pitchFamily="34" charset="0"/>
                <a:ea typeface="Arial" pitchFamily="34" charset="-122"/>
                <a:cs typeface="Arial" pitchFamily="34" charset="-120"/>
              </a:rPr>
              <a:t> 4 g IV + 10 g IM</a:t>
            </a:r>
            <a:pPr indent="0" marL="0">
              <a:spcAft>
                <a:spcPts val="800"/>
              </a:spcAft>
              <a:buNone/>
            </a:pPr>
            <a:r>
              <a:rPr lang="en-US" sz="2400" dirty="0">
                <a:solidFill>
                  <a:srgbClr val="0C1670"/>
                </a:solidFill>
                <a:latin typeface="Arial" pitchFamily="34" charset="0"/>
                <a:ea typeface="Arial" pitchFamily="34" charset="-122"/>
                <a:cs typeface="Arial" pitchFamily="34" charset="-120"/>
              </a:rPr>
              <a:t> (Pritchard)</a:t>
            </a:r>
            <a:endParaRPr lang="en-US" sz="2400" dirty="0"/>
          </a:p>
          <a:p>
            <a:pPr indent="0" marL="0">
              <a:spcAft>
                <a:spcPts val="800"/>
              </a:spcAft>
              <a:buNone/>
            </a:pPr>
            <a:r>
              <a:rPr lang="en-US" sz="2400" dirty="0">
                <a:solidFill>
                  <a:srgbClr val="0C1670"/>
                </a:solidFill>
                <a:latin typeface="Arial" pitchFamily="34" charset="0"/>
                <a:ea typeface="Arial" pitchFamily="34" charset="-122"/>
                <a:cs typeface="Arial" pitchFamily="34" charset="-120"/>
              </a:rPr>
              <a:t>Hidralazina IV</a:t>
            </a:r>
            <a:endParaRPr lang="en-US" sz="2400" dirty="0"/>
          </a:p>
          <a:p>
            <a:pPr indent="0" marL="0">
              <a:buNone/>
            </a:pPr>
            <a:r>
              <a:rPr lang="en-US" sz="2400" dirty="0">
                <a:solidFill>
                  <a:srgbClr val="0C1670"/>
                </a:solidFill>
                <a:latin typeface="Arial" pitchFamily="34" charset="0"/>
                <a:ea typeface="Arial" pitchFamily="34" charset="-122"/>
                <a:cs typeface="Arial" pitchFamily="34" charset="-120"/>
              </a:rPr>
              <a:t>Via aérea · O</a:t>
            </a:r>
            <a:pPr indent="0" marL="0">
              <a:buNone/>
            </a:pPr>
            <a:r>
              <a:rPr lang="en-US" sz="2400" baseline="-40000" dirty="0">
                <a:solidFill>
                  <a:srgbClr val="0C1670"/>
                </a:solidFill>
                <a:latin typeface="Arial" pitchFamily="34" charset="0"/>
                <a:ea typeface="Arial" pitchFamily="34" charset="-122"/>
                <a:cs typeface="Arial" pitchFamily="34" charset="-120"/>
              </a:rPr>
              <a:t>2</a:t>
            </a:r>
            <a:pPr indent="0" marL="0">
              <a:buNone/>
            </a:pPr>
            <a:r>
              <a:rPr lang="en-US" sz="2400" dirty="0">
                <a:solidFill>
                  <a:srgbClr val="0C1670"/>
                </a:solidFill>
                <a:latin typeface="Arial" pitchFamily="34" charset="0"/>
                <a:ea typeface="Arial" pitchFamily="34" charset="-122"/>
                <a:cs typeface="Arial" pitchFamily="34" charset="-120"/>
              </a:rPr>
              <a:t> · sonda vesical</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3 · OPÇÃO B (recurso visual diferente) — fluxo em três etapas: admissão → evento → conduta</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EXAME FÍSICO E EVENTO CRÍTICO</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Hipertensão grave e convulsão: o diagnóstico é eclâmpsia</a:t>
            </a:r>
            <a:endParaRPr lang="en-US" sz="3200" dirty="0"/>
          </a:p>
        </p:txBody>
      </p:sp>
      <p:sp>
        <p:nvSpPr>
          <p:cNvPr id="5" name="Shape 3"/>
          <p:cNvSpPr/>
          <p:nvPr/>
        </p:nvSpPr>
        <p:spPr>
          <a:xfrm>
            <a:off x="548640" y="1938528"/>
            <a:ext cx="3931920" cy="3566160"/>
          </a:xfrm>
          <a:prstGeom prst="roundRect">
            <a:avLst>
              <a:gd name="adj" fmla="val 7692"/>
            </a:avLst>
          </a:prstGeom>
          <a:solidFill>
            <a:srgbClr val="FFE9FA"/>
          </a:solidFill>
          <a:ln w="12700">
            <a:solidFill>
              <a:srgbClr val="FFE9FA"/>
            </a:solidFill>
            <a:prstDash val="solid"/>
          </a:ln>
        </p:spPr>
      </p:sp>
      <p:sp>
        <p:nvSpPr>
          <p:cNvPr id="6" name="Text 4"/>
          <p:cNvSpPr txBox="1"/>
          <p:nvPr/>
        </p:nvSpPr>
        <p:spPr>
          <a:xfrm>
            <a:off x="822960" y="2139696"/>
            <a:ext cx="3383280" cy="411480"/>
          </a:xfrm>
          <a:prstGeom prst="rect">
            <a:avLst/>
          </a:prstGeom>
          <a:noFill/>
          <a:ln/>
        </p:spPr>
        <p:txBody>
          <a:bodyPr wrap="square" lIns="0" tIns="0" rIns="0" bIns="0" rtlCol="0" anchor="t"/>
          <a:lstStyle/>
          <a:p>
            <a:pPr indent="0" marL="0">
              <a:buNone/>
            </a:pPr>
            <a:r>
              <a:rPr lang="en-US" sz="2400" b="1" spc="200" kern="0" dirty="0">
                <a:solidFill>
                  <a:srgbClr val="0C1670"/>
                </a:solidFill>
                <a:latin typeface="Arial" pitchFamily="34" charset="0"/>
                <a:ea typeface="Arial" pitchFamily="34" charset="-122"/>
                <a:cs typeface="Arial" pitchFamily="34" charset="-120"/>
              </a:rPr>
              <a:t>ADMISSÃO</a:t>
            </a:r>
            <a:endParaRPr lang="en-US" sz="2400" dirty="0"/>
          </a:p>
        </p:txBody>
      </p:sp>
      <p:sp>
        <p:nvSpPr>
          <p:cNvPr id="7" name="Text 5"/>
          <p:cNvSpPr txBox="1"/>
          <p:nvPr/>
        </p:nvSpPr>
        <p:spPr>
          <a:xfrm>
            <a:off x="822960" y="2578608"/>
            <a:ext cx="3566160" cy="914400"/>
          </a:xfrm>
          <a:prstGeom prst="rect">
            <a:avLst/>
          </a:prstGeom>
          <a:noFill/>
          <a:ln/>
        </p:spPr>
        <p:txBody>
          <a:bodyPr wrap="square" lIns="0" tIns="0" rIns="0" bIns="0" rtlCol="0" anchor="b"/>
          <a:lstStyle/>
          <a:p>
            <a:pPr indent="0" marL="0">
              <a:buNone/>
            </a:pPr>
            <a:r>
              <a:rPr lang="en-US" sz="5400" b="1" dirty="0">
                <a:solidFill>
                  <a:srgbClr val="0C1670"/>
                </a:solidFill>
                <a:latin typeface="Arial" pitchFamily="34" charset="0"/>
                <a:ea typeface="Arial" pitchFamily="34" charset="-122"/>
                <a:cs typeface="Arial" pitchFamily="34" charset="-120"/>
              </a:rPr>
              <a:t>175/115</a:t>
            </a:r>
            <a:pPr indent="0" marL="0">
              <a:buNone/>
            </a:pPr>
            <a:r>
              <a:rPr lang="en-US" sz="2400" b="1" dirty="0">
                <a:solidFill>
                  <a:srgbClr val="0C1670"/>
                </a:solidFill>
                <a:latin typeface="Arial" pitchFamily="34" charset="0"/>
                <a:ea typeface="Arial" pitchFamily="34" charset="-122"/>
                <a:cs typeface="Arial" pitchFamily="34" charset="-120"/>
              </a:rPr>
              <a:t> mmHg</a:t>
            </a:r>
            <a:endParaRPr lang="en-US" sz="5400" dirty="0"/>
          </a:p>
        </p:txBody>
      </p:sp>
      <p:sp>
        <p:nvSpPr>
          <p:cNvPr id="8" name="Text 6"/>
          <p:cNvSpPr txBox="1"/>
          <p:nvPr/>
        </p:nvSpPr>
        <p:spPr>
          <a:xfrm>
            <a:off x="822960" y="3721608"/>
            <a:ext cx="3520440" cy="1691640"/>
          </a:xfrm>
          <a:prstGeom prst="rect">
            <a:avLst/>
          </a:prstGeom>
          <a:noFill/>
          <a:ln/>
        </p:spPr>
        <p:txBody>
          <a:bodyPr wrap="square" lIns="0" tIns="0" rIns="0" bIns="0" rtlCol="0" anchor="t"/>
          <a:lstStyle/>
          <a:p>
            <a:pPr indent="0" marL="0">
              <a:lnSpc>
                <a:spcPct val="120000"/>
              </a:lnSpc>
              <a:buNone/>
            </a:pPr>
            <a:r>
              <a:rPr lang="en-US" sz="2400" dirty="0">
                <a:solidFill>
                  <a:srgbClr val="0C1670"/>
                </a:solidFill>
                <a:latin typeface="Arial" pitchFamily="34" charset="0"/>
                <a:ea typeface="Arial" pitchFamily="34" charset="-122"/>
                <a:cs typeface="Arial" pitchFamily="34" charset="-120"/>
              </a:rPr>
              <a:t>FC 118 · SpO</a:t>
            </a:r>
            <a:pPr indent="0" marL="0">
              <a:lnSpc>
                <a:spcPct val="120000"/>
              </a:lnSpc>
              <a:buNone/>
            </a:pPr>
            <a:r>
              <a:rPr lang="en-US" sz="2400" baseline="-40000" dirty="0">
                <a:solidFill>
                  <a:srgbClr val="0C1670"/>
                </a:solidFill>
                <a:latin typeface="Arial" pitchFamily="34" charset="0"/>
                <a:ea typeface="Arial" pitchFamily="34" charset="-122"/>
                <a:cs typeface="Arial" pitchFamily="34" charset="-120"/>
              </a:rPr>
              <a:t>2</a:t>
            </a:r>
            <a:pPr indent="0" marL="0">
              <a:lnSpc>
                <a:spcPct val="120000"/>
              </a:lnSpc>
              <a:buNone/>
            </a:pPr>
            <a:r>
              <a:rPr lang="en-US" sz="2400" dirty="0">
                <a:solidFill>
                  <a:srgbClr val="0C1670"/>
                </a:solidFill>
                <a:latin typeface="Arial" pitchFamily="34" charset="0"/>
                <a:ea typeface="Arial" pitchFamily="34" charset="-122"/>
                <a:cs typeface="Arial" pitchFamily="34" charset="-120"/>
              </a:rPr>
              <a:t> 96%</a:t>
            </a:r>
            <a:endParaRPr lang="en-US" sz="2400" dirty="0"/>
          </a:p>
          <a:p>
            <a:pPr indent="0" marL="0">
              <a:lnSpc>
                <a:spcPct val="120000"/>
              </a:lnSpc>
              <a:buNone/>
            </a:pPr>
            <a:r>
              <a:rPr lang="en-US" sz="2400" dirty="0">
                <a:solidFill>
                  <a:srgbClr val="0C1670"/>
                </a:solidFill>
                <a:latin typeface="Arial" pitchFamily="34" charset="0"/>
                <a:ea typeface="Arial" pitchFamily="34" charset="-122"/>
                <a:cs typeface="Arial" pitchFamily="34" charset="-120"/>
              </a:rPr>
              <a:t>AU 31 cm · BCF 162</a:t>
            </a:r>
            <a:endParaRPr lang="en-US" sz="2400" dirty="0"/>
          </a:p>
          <a:p>
            <a:pPr indent="0" marL="0">
              <a:lnSpc>
                <a:spcPct val="120000"/>
              </a:lnSpc>
              <a:buNone/>
            </a:pPr>
            <a:r>
              <a:rPr lang="en-US" sz="2400" dirty="0">
                <a:solidFill>
                  <a:srgbClr val="0C1670"/>
                </a:solidFill>
                <a:latin typeface="Arial" pitchFamily="34" charset="0"/>
                <a:ea typeface="Arial" pitchFamily="34" charset="-122"/>
                <a:cs typeface="Arial" pitchFamily="34" charset="-120"/>
              </a:rPr>
              <a:t>Clônus · edema 3+/4+</a:t>
            </a:r>
            <a:endParaRPr lang="en-US" sz="2400" dirty="0"/>
          </a:p>
        </p:txBody>
      </p:sp>
      <p:sp>
        <p:nvSpPr>
          <p:cNvPr id="9" name="Shape 7"/>
          <p:cNvSpPr/>
          <p:nvPr/>
        </p:nvSpPr>
        <p:spPr>
          <a:xfrm>
            <a:off x="4572000" y="3493008"/>
            <a:ext cx="384048" cy="457200"/>
          </a:xfrm>
          <a:prstGeom prst="rightArrow">
            <a:avLst/>
          </a:prstGeom>
          <a:solidFill>
            <a:srgbClr val="0C1670"/>
          </a:solidFill>
          <a:ln w="12700">
            <a:solidFill>
              <a:srgbClr val="0C1670"/>
            </a:solidFill>
            <a:prstDash val="solid"/>
          </a:ln>
        </p:spPr>
      </p:sp>
      <p:sp>
        <p:nvSpPr>
          <p:cNvPr id="10" name="Shape 8"/>
          <p:cNvSpPr/>
          <p:nvPr/>
        </p:nvSpPr>
        <p:spPr>
          <a:xfrm>
            <a:off x="5047488" y="1938528"/>
            <a:ext cx="2743200" cy="3566160"/>
          </a:xfrm>
          <a:prstGeom prst="roundRect">
            <a:avLst>
              <a:gd name="adj" fmla="val 10000"/>
            </a:avLst>
          </a:prstGeom>
          <a:solidFill>
            <a:srgbClr val="0C1670"/>
          </a:solidFill>
          <a:ln w="12700">
            <a:solidFill>
              <a:srgbClr val="0C1670"/>
            </a:solidFill>
            <a:prstDash val="solid"/>
          </a:ln>
        </p:spPr>
      </p:sp>
      <p:sp>
        <p:nvSpPr>
          <p:cNvPr id="11" name="Text 9"/>
          <p:cNvSpPr txBox="1"/>
          <p:nvPr/>
        </p:nvSpPr>
        <p:spPr>
          <a:xfrm>
            <a:off x="5303520" y="2139696"/>
            <a:ext cx="2286000" cy="411480"/>
          </a:xfrm>
          <a:prstGeom prst="rect">
            <a:avLst/>
          </a:prstGeom>
          <a:noFill/>
          <a:ln/>
        </p:spPr>
        <p:txBody>
          <a:bodyPr wrap="square" lIns="0" tIns="0" rIns="0" bIns="0" rtlCol="0" anchor="t"/>
          <a:lstStyle/>
          <a:p>
            <a:pPr indent="0" marL="0">
              <a:buNone/>
            </a:pPr>
            <a:r>
              <a:rPr lang="en-US" sz="2400" b="1" spc="200" kern="0" dirty="0">
                <a:solidFill>
                  <a:srgbClr val="FFD0F5"/>
                </a:solidFill>
                <a:latin typeface="Arial" pitchFamily="34" charset="0"/>
                <a:ea typeface="Arial" pitchFamily="34" charset="-122"/>
                <a:cs typeface="Arial" pitchFamily="34" charset="-120"/>
              </a:rPr>
              <a:t>EVENTO</a:t>
            </a:r>
            <a:endParaRPr lang="en-US" sz="2400" dirty="0"/>
          </a:p>
        </p:txBody>
      </p:sp>
      <p:sp>
        <p:nvSpPr>
          <p:cNvPr id="12" name="Text 10"/>
          <p:cNvSpPr txBox="1"/>
          <p:nvPr/>
        </p:nvSpPr>
        <p:spPr>
          <a:xfrm>
            <a:off x="5303520" y="2898648"/>
            <a:ext cx="2286000"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Convulsão</a:t>
            </a:r>
            <a:endParaRPr lang="en-US" sz="3000" dirty="0"/>
          </a:p>
        </p:txBody>
      </p:sp>
      <p:sp>
        <p:nvSpPr>
          <p:cNvPr id="13" name="Text 11"/>
          <p:cNvSpPr txBox="1"/>
          <p:nvPr/>
        </p:nvSpPr>
        <p:spPr>
          <a:xfrm>
            <a:off x="5303520" y="3447288"/>
            <a:ext cx="2286000" cy="914400"/>
          </a:xfrm>
          <a:prstGeom prst="rect">
            <a:avLst/>
          </a:prstGeom>
          <a:noFill/>
          <a:ln/>
        </p:spPr>
        <p:txBody>
          <a:bodyPr wrap="square" lIns="0" tIns="0" rIns="0" bIns="0" rtlCol="0" anchor="t"/>
          <a:lstStyle/>
          <a:p>
            <a:pPr indent="0" marL="0">
              <a:buNone/>
            </a:pPr>
            <a:r>
              <a:rPr lang="en-US" sz="5400" b="1" dirty="0">
                <a:solidFill>
                  <a:srgbClr val="FFD0F5"/>
                </a:solidFill>
                <a:latin typeface="Arial" pitchFamily="34" charset="0"/>
                <a:ea typeface="Arial" pitchFamily="34" charset="-122"/>
                <a:cs typeface="Arial" pitchFamily="34" charset="-120"/>
              </a:rPr>
              <a:t>~90 s</a:t>
            </a:r>
            <a:endParaRPr lang="en-US" sz="5400" dirty="0"/>
          </a:p>
        </p:txBody>
      </p:sp>
      <p:sp>
        <p:nvSpPr>
          <p:cNvPr id="14" name="Text 12"/>
          <p:cNvSpPr txBox="1"/>
          <p:nvPr/>
        </p:nvSpPr>
        <p:spPr>
          <a:xfrm>
            <a:off x="5303520" y="4498848"/>
            <a:ext cx="2286000"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 eclâmpsia</a:t>
            </a:r>
            <a:endParaRPr lang="en-US" sz="2600" dirty="0"/>
          </a:p>
        </p:txBody>
      </p:sp>
      <p:sp>
        <p:nvSpPr>
          <p:cNvPr id="15" name="Shape 13"/>
          <p:cNvSpPr/>
          <p:nvPr/>
        </p:nvSpPr>
        <p:spPr>
          <a:xfrm>
            <a:off x="7882128" y="3493008"/>
            <a:ext cx="384048" cy="457200"/>
          </a:xfrm>
          <a:prstGeom prst="rightArrow">
            <a:avLst/>
          </a:prstGeom>
          <a:solidFill>
            <a:srgbClr val="0C1670"/>
          </a:solidFill>
          <a:ln w="12700">
            <a:solidFill>
              <a:srgbClr val="0C1670"/>
            </a:solidFill>
            <a:prstDash val="solid"/>
          </a:ln>
        </p:spPr>
      </p:sp>
      <p:sp>
        <p:nvSpPr>
          <p:cNvPr id="16" name="Shape 14"/>
          <p:cNvSpPr/>
          <p:nvPr/>
        </p:nvSpPr>
        <p:spPr>
          <a:xfrm>
            <a:off x="8357616" y="1938528"/>
            <a:ext cx="3282696" cy="3566160"/>
          </a:xfrm>
          <a:prstGeom prst="roundRect">
            <a:avLst>
              <a:gd name="adj" fmla="val 8357"/>
            </a:avLst>
          </a:prstGeom>
          <a:solidFill>
            <a:srgbClr val="FFE9FA"/>
          </a:solidFill>
          <a:ln w="12700">
            <a:solidFill>
              <a:srgbClr val="FFE9FA"/>
            </a:solidFill>
            <a:prstDash val="solid"/>
          </a:ln>
        </p:spPr>
      </p:sp>
      <p:sp>
        <p:nvSpPr>
          <p:cNvPr id="17" name="Text 15"/>
          <p:cNvSpPr txBox="1"/>
          <p:nvPr/>
        </p:nvSpPr>
        <p:spPr>
          <a:xfrm>
            <a:off x="8613648" y="2139696"/>
            <a:ext cx="2834640" cy="411480"/>
          </a:xfrm>
          <a:prstGeom prst="rect">
            <a:avLst/>
          </a:prstGeom>
          <a:noFill/>
          <a:ln/>
        </p:spPr>
        <p:txBody>
          <a:bodyPr wrap="square" lIns="0" tIns="0" rIns="0" bIns="0" rtlCol="0" anchor="t"/>
          <a:lstStyle/>
          <a:p>
            <a:pPr indent="0" marL="0">
              <a:buNone/>
            </a:pPr>
            <a:r>
              <a:rPr lang="en-US" sz="2400" b="1" spc="200" kern="0" dirty="0">
                <a:solidFill>
                  <a:srgbClr val="0C1670"/>
                </a:solidFill>
                <a:latin typeface="Arial" pitchFamily="34" charset="0"/>
                <a:ea typeface="Arial" pitchFamily="34" charset="-122"/>
                <a:cs typeface="Arial" pitchFamily="34" charset="-120"/>
              </a:rPr>
              <a:t>CONDUTA</a:t>
            </a:r>
            <a:endParaRPr lang="en-US" sz="2400" dirty="0"/>
          </a:p>
        </p:txBody>
      </p:sp>
      <p:sp>
        <p:nvSpPr>
          <p:cNvPr id="18" name="Text 16"/>
          <p:cNvSpPr txBox="1"/>
          <p:nvPr/>
        </p:nvSpPr>
        <p:spPr>
          <a:xfrm>
            <a:off x="8613648" y="2715768"/>
            <a:ext cx="2926080" cy="2743200"/>
          </a:xfrm>
          <a:prstGeom prst="rect">
            <a:avLst/>
          </a:prstGeom>
          <a:noFill/>
          <a:ln/>
        </p:spPr>
        <p:txBody>
          <a:bodyPr wrap="square" lIns="0" tIns="0" rIns="0" bIns="0" rtlCol="0" anchor="t"/>
          <a:lstStyle/>
          <a:p>
            <a:pPr indent="0" marL="0">
              <a:buNone/>
            </a:pPr>
            <a:r>
              <a:rPr lang="en-US" sz="2400" b="1" dirty="0">
                <a:solidFill>
                  <a:srgbClr val="0C1670"/>
                </a:solidFill>
                <a:latin typeface="Arial" pitchFamily="34" charset="0"/>
                <a:ea typeface="Arial" pitchFamily="34" charset="-122"/>
                <a:cs typeface="Arial" pitchFamily="34" charset="-120"/>
              </a:rPr>
              <a:t>MgSO</a:t>
            </a:r>
            <a:pPr indent="0" marL="0">
              <a:buNone/>
            </a:pPr>
            <a:r>
              <a:rPr lang="en-US" sz="2400" b="1" baseline="-40000" dirty="0">
                <a:solidFill>
                  <a:srgbClr val="0C1670"/>
                </a:solidFill>
                <a:latin typeface="Arial" pitchFamily="34" charset="0"/>
                <a:ea typeface="Arial" pitchFamily="34" charset="-122"/>
                <a:cs typeface="Arial" pitchFamily="34" charset="-120"/>
              </a:rPr>
              <a:t>4</a:t>
            </a:r>
            <a:pPr indent="0" marL="0">
              <a:buNone/>
            </a:pPr>
            <a:r>
              <a:rPr lang="en-US" sz="2400" b="1" dirty="0">
                <a:solidFill>
                  <a:srgbClr val="0C1670"/>
                </a:solidFill>
                <a:latin typeface="Arial" pitchFamily="34" charset="0"/>
                <a:ea typeface="Arial" pitchFamily="34" charset="-122"/>
                <a:cs typeface="Arial" pitchFamily="34" charset="-120"/>
              </a:rPr>
              <a:t> · Pritchard</a:t>
            </a:r>
            <a:endParaRPr lang="en-US" sz="2400" dirty="0"/>
          </a:p>
          <a:p>
            <a:pPr indent="0" marL="0">
              <a:spcAft>
                <a:spcPts val="1000"/>
              </a:spcAft>
              <a:buNone/>
            </a:pPr>
            <a:r>
              <a:rPr lang="en-US" sz="2400" dirty="0">
                <a:solidFill>
                  <a:srgbClr val="0C1670"/>
                </a:solidFill>
                <a:latin typeface="Arial" pitchFamily="34" charset="0"/>
                <a:ea typeface="Arial" pitchFamily="34" charset="-122"/>
                <a:cs typeface="Arial" pitchFamily="34" charset="-120"/>
              </a:rPr>
              <a:t>4 g IV + 10 g IM</a:t>
            </a:r>
            <a:endParaRPr lang="en-US" sz="2400" dirty="0"/>
          </a:p>
          <a:p>
            <a:pPr indent="0" marL="0">
              <a:spcAft>
                <a:spcPts val="1000"/>
              </a:spcAft>
              <a:buNone/>
            </a:pPr>
            <a:r>
              <a:rPr lang="en-US" sz="2400" dirty="0">
                <a:solidFill>
                  <a:srgbClr val="0C1670"/>
                </a:solidFill>
                <a:latin typeface="Arial" pitchFamily="34" charset="0"/>
                <a:ea typeface="Arial" pitchFamily="34" charset="-122"/>
                <a:cs typeface="Arial" pitchFamily="34" charset="-120"/>
              </a:rPr>
              <a:t>Hidralazina IV</a:t>
            </a:r>
            <a:endParaRPr lang="en-US" sz="2400" dirty="0"/>
          </a:p>
          <a:p>
            <a:pPr indent="0" marL="0">
              <a:buNone/>
            </a:pPr>
            <a:r>
              <a:rPr lang="en-US" sz="2400" dirty="0">
                <a:solidFill>
                  <a:srgbClr val="0C1670"/>
                </a:solidFill>
                <a:latin typeface="Arial" pitchFamily="34" charset="0"/>
                <a:ea typeface="Arial" pitchFamily="34" charset="-122"/>
                <a:cs typeface="Arial" pitchFamily="34" charset="-120"/>
              </a:rPr>
              <a:t>Via aérea, O</a:t>
            </a:r>
            <a:pPr indent="0" marL="0">
              <a:buNone/>
            </a:pPr>
            <a:r>
              <a:rPr lang="en-US" sz="2400" baseline="-40000" dirty="0">
                <a:solidFill>
                  <a:srgbClr val="0C1670"/>
                </a:solidFill>
                <a:latin typeface="Arial" pitchFamily="34" charset="0"/>
                <a:ea typeface="Arial" pitchFamily="34" charset="-122"/>
                <a:cs typeface="Arial" pitchFamily="34" charset="-120"/>
              </a:rPr>
              <a:t>2</a:t>
            </a:r>
            <a:pPr indent="0" marL="0">
              <a:buNone/>
            </a:pPr>
            <a:r>
              <a:rPr lang="en-US" sz="2400" dirty="0">
                <a:solidFill>
                  <a:srgbClr val="0C1670"/>
                </a:solidFill>
                <a:latin typeface="Arial" pitchFamily="34" charset="0"/>
                <a:ea typeface="Arial" pitchFamily="34" charset="-122"/>
                <a:cs typeface="Arial" pitchFamily="34" charset="-120"/>
              </a:rPr>
              <a:t>, SVD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4 · OPÇÃO A (mais fiel ao modelo) — três colunas do modelo em tabela enxuta, alterados críticos em destaque</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EXAMES COMPLEMENTARES</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Disfunção de órgãos-alvo e insuficiência placentária</a:t>
            </a:r>
            <a:endParaRPr lang="en-US" sz="3200" dirty="0"/>
          </a:p>
        </p:txBody>
      </p:sp>
      <p:sp>
        <p:nvSpPr>
          <p:cNvPr id="5" name="Text 3"/>
          <p:cNvSpPr/>
          <p:nvPr/>
        </p:nvSpPr>
        <p:spPr>
          <a:xfrm>
            <a:off x="548640" y="1938528"/>
            <a:ext cx="566928" cy="566928"/>
          </a:xfrm>
          <a:prstGeom prst="ellipse">
            <a:avLst/>
          </a:prstGeom>
          <a:solidFill>
            <a:srgbClr val="0C1670"/>
          </a:solidFill>
          <a:ln>
            <a:solidFill>
              <a:srgbClr val="0C1670"/>
            </a:solidFill>
          </a:ln>
        </p:spPr>
        <p:txBody>
          <a:bodyPr wrap="square" lIns="0" tIns="0" rIns="0" bIns="0" rtlCol="0" anchor="ctr"/>
          <a:lstStyle/>
          <a:p>
            <a:pPr algn="ctr" indent="0" marL="0">
              <a:buNone/>
            </a:pPr>
            <a:r>
              <a:rPr lang="en-US" sz="2600" b="1" dirty="0">
                <a:solidFill>
                  <a:srgbClr val="FFD0F5"/>
                </a:solidFill>
                <a:latin typeface="Arial" pitchFamily="34" charset="0"/>
                <a:ea typeface="Arial" pitchFamily="34" charset="-122"/>
                <a:cs typeface="Arial" pitchFamily="34" charset="-120"/>
              </a:rPr>
              <a:t>1</a:t>
            </a:r>
            <a:endParaRPr lang="en-US" sz="2600" dirty="0"/>
          </a:p>
        </p:txBody>
      </p:sp>
      <p:sp>
        <p:nvSpPr>
          <p:cNvPr id="6" name="Text 4"/>
          <p:cNvSpPr txBox="1"/>
          <p:nvPr/>
        </p:nvSpPr>
        <p:spPr>
          <a:xfrm>
            <a:off x="1261872" y="1993392"/>
            <a:ext cx="2782519" cy="457200"/>
          </a:xfrm>
          <a:prstGeom prst="rect">
            <a:avLst/>
          </a:prstGeom>
          <a:noFill/>
          <a:ln/>
        </p:spPr>
        <p:txBody>
          <a:bodyPr wrap="square" lIns="0" tIns="0" rIns="0" bIns="0" rtlCol="0" anchor="ctr"/>
          <a:lstStyle/>
          <a:p>
            <a:pPr indent="0" marL="0">
              <a:buNone/>
            </a:pPr>
            <a:r>
              <a:rPr lang="en-US" sz="2400" b="1" dirty="0">
                <a:solidFill>
                  <a:srgbClr val="0C1670"/>
                </a:solidFill>
                <a:latin typeface="Arial" pitchFamily="34" charset="0"/>
                <a:ea typeface="Arial" pitchFamily="34" charset="-122"/>
                <a:cs typeface="Arial" pitchFamily="34" charset="-120"/>
              </a:rPr>
              <a:t>Laboratório</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624328"/>
          <a:ext cx="3514039" cy="914400"/>
        </p:xfrm>
        <a:graphic>
          <a:graphicData uri="http://schemas.openxmlformats.org/drawingml/2006/table">
            <a:tbl>
              <a:tblPr/>
              <a:tblGrid>
                <a:gridCol w="1828800"/>
                <a:gridCol w="1685239"/>
              </a:tblGrid>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Hb</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0C1670"/>
                          </a:solidFill>
                          <a:latin typeface="Arial" pitchFamily="34" charset="0"/>
                          <a:ea typeface="Arial" pitchFamily="34" charset="-122"/>
                          <a:cs typeface="Arial" pitchFamily="34" charset="-120"/>
                        </a:rPr>
                        <a:t>9,8</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r>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Plaquetas</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FFFFFF"/>
                          </a:solidFill>
                          <a:latin typeface="Arial" pitchFamily="34" charset="0"/>
                          <a:ea typeface="Arial" pitchFamily="34" charset="-122"/>
                          <a:cs typeface="Arial" pitchFamily="34" charset="-120"/>
                        </a:rPr>
                        <a:t>110 mil</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solidFill>
                      <a:srgbClr val="0C1670"/>
                    </a:solidFill>
                  </a:tcPr>
                </a:tc>
              </a:tr>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Proteinúria</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solidFill>
                      <a:srgbClr val="0C1670"/>
                    </a:solidFill>
                  </a:tcPr>
                </a:tc>
              </a:tr>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Ác. úrico</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0C1670"/>
                          </a:solidFill>
                          <a:latin typeface="Arial" pitchFamily="34" charset="0"/>
                          <a:ea typeface="Arial" pitchFamily="34" charset="-122"/>
                          <a:cs typeface="Arial" pitchFamily="34" charset="-120"/>
                        </a:rPr>
                        <a:t>7,9</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r>
            </a:tbl>
          </a:graphicData>
        </a:graphic>
      </p:graphicFrame>
      <p:sp>
        <p:nvSpPr>
          <p:cNvPr id="8" name="Text 5"/>
          <p:cNvSpPr/>
          <p:nvPr/>
        </p:nvSpPr>
        <p:spPr>
          <a:xfrm>
            <a:off x="4338828" y="1938528"/>
            <a:ext cx="566928" cy="566928"/>
          </a:xfrm>
          <a:prstGeom prst="ellipse">
            <a:avLst/>
          </a:prstGeom>
          <a:solidFill>
            <a:srgbClr val="0C1670"/>
          </a:solidFill>
          <a:ln>
            <a:solidFill>
              <a:srgbClr val="0C1670"/>
            </a:solidFill>
          </a:ln>
        </p:spPr>
        <p:txBody>
          <a:bodyPr wrap="square" lIns="0" tIns="0" rIns="0" bIns="0" rtlCol="0" anchor="ctr"/>
          <a:lstStyle/>
          <a:p>
            <a:pPr algn="ctr" indent="0" marL="0">
              <a:buNone/>
            </a:pPr>
            <a:r>
              <a:rPr lang="en-US" sz="2600" b="1" dirty="0">
                <a:solidFill>
                  <a:srgbClr val="FFD0F5"/>
                </a:solidFill>
                <a:latin typeface="Arial" pitchFamily="34" charset="0"/>
                <a:ea typeface="Arial" pitchFamily="34" charset="-122"/>
                <a:cs typeface="Arial" pitchFamily="34" charset="-120"/>
              </a:rPr>
              <a:t>2</a:t>
            </a:r>
            <a:endParaRPr lang="en-US" sz="2600" dirty="0"/>
          </a:p>
        </p:txBody>
      </p:sp>
      <p:sp>
        <p:nvSpPr>
          <p:cNvPr id="9" name="Text 6"/>
          <p:cNvSpPr txBox="1"/>
          <p:nvPr/>
        </p:nvSpPr>
        <p:spPr>
          <a:xfrm>
            <a:off x="5052060" y="1993392"/>
            <a:ext cx="2782519" cy="457200"/>
          </a:xfrm>
          <a:prstGeom prst="rect">
            <a:avLst/>
          </a:prstGeom>
          <a:noFill/>
          <a:ln/>
        </p:spPr>
        <p:txBody>
          <a:bodyPr wrap="square" lIns="0" tIns="0" rIns="0" bIns="0" rtlCol="0" anchor="ctr"/>
          <a:lstStyle/>
          <a:p>
            <a:pPr indent="0" marL="0">
              <a:buNone/>
            </a:pPr>
            <a:r>
              <a:rPr lang="en-US" sz="2400" b="1" dirty="0">
                <a:solidFill>
                  <a:srgbClr val="0C1670"/>
                </a:solidFill>
                <a:latin typeface="Arial" pitchFamily="34" charset="0"/>
                <a:ea typeface="Arial" pitchFamily="34" charset="-122"/>
                <a:cs typeface="Arial" pitchFamily="34" charset="-120"/>
              </a:rPr>
              <a:t>Rim e fígado</a:t>
            </a:r>
            <a:endParaRPr lang="en-US" sz="24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338828" y="2624328"/>
          <a:ext cx="3514039" cy="914400"/>
        </p:xfrm>
        <a:graphic>
          <a:graphicData uri="http://schemas.openxmlformats.org/drawingml/2006/table">
            <a:tbl>
              <a:tblPr/>
              <a:tblGrid>
                <a:gridCol w="1828800"/>
                <a:gridCol w="1685239"/>
              </a:tblGrid>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Creatinina</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FFFFFF"/>
                          </a:solidFill>
                          <a:latin typeface="Arial" pitchFamily="34" charset="0"/>
                          <a:ea typeface="Arial" pitchFamily="34" charset="-122"/>
                          <a:cs typeface="Arial" pitchFamily="34" charset="-120"/>
                        </a:rPr>
                        <a:t>1,3</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solidFill>
                      <a:srgbClr val="0C1670"/>
                    </a:solidFill>
                  </a:tcPr>
                </a:tc>
              </a:tr>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Ureia</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0C1670"/>
                          </a:solidFill>
                          <a:latin typeface="Arial" pitchFamily="34" charset="0"/>
                          <a:ea typeface="Arial" pitchFamily="34" charset="-122"/>
                          <a:cs typeface="Arial" pitchFamily="34" charset="-120"/>
                        </a:rPr>
                        <a:t>48</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r>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TGO</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FFFFFF"/>
                          </a:solidFill>
                          <a:latin typeface="Arial" pitchFamily="34" charset="0"/>
                          <a:ea typeface="Arial" pitchFamily="34" charset="-122"/>
                          <a:cs typeface="Arial" pitchFamily="34" charset="-120"/>
                        </a:rPr>
                        <a:t>78</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solidFill>
                      <a:srgbClr val="0C1670"/>
                    </a:solidFill>
                  </a:tcPr>
                </a:tc>
              </a:tr>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TGP</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FFFFFF"/>
                          </a:solidFill>
                          <a:latin typeface="Arial" pitchFamily="34" charset="0"/>
                          <a:ea typeface="Arial" pitchFamily="34" charset="-122"/>
                          <a:cs typeface="Arial" pitchFamily="34" charset="-120"/>
                        </a:rPr>
                        <a:t>82</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solidFill>
                      <a:srgbClr val="0C1670"/>
                    </a:solidFill>
                  </a:tcPr>
                </a:tc>
              </a:tr>
            </a:tbl>
          </a:graphicData>
        </a:graphic>
      </p:graphicFrame>
      <p:sp>
        <p:nvSpPr>
          <p:cNvPr id="11" name="Text 7"/>
          <p:cNvSpPr/>
          <p:nvPr/>
        </p:nvSpPr>
        <p:spPr>
          <a:xfrm>
            <a:off x="8129016" y="1938528"/>
            <a:ext cx="566928" cy="566928"/>
          </a:xfrm>
          <a:prstGeom prst="ellipse">
            <a:avLst/>
          </a:prstGeom>
          <a:solidFill>
            <a:srgbClr val="0C1670"/>
          </a:solidFill>
          <a:ln>
            <a:solidFill>
              <a:srgbClr val="0C1670"/>
            </a:solidFill>
          </a:ln>
        </p:spPr>
        <p:txBody>
          <a:bodyPr wrap="square" lIns="0" tIns="0" rIns="0" bIns="0" rtlCol="0" anchor="ctr"/>
          <a:lstStyle/>
          <a:p>
            <a:pPr algn="ctr" indent="0" marL="0">
              <a:buNone/>
            </a:pPr>
            <a:r>
              <a:rPr lang="en-US" sz="2600" b="1" dirty="0">
                <a:solidFill>
                  <a:srgbClr val="FFD0F5"/>
                </a:solidFill>
                <a:latin typeface="Arial" pitchFamily="34" charset="0"/>
                <a:ea typeface="Arial" pitchFamily="34" charset="-122"/>
                <a:cs typeface="Arial" pitchFamily="34" charset="-120"/>
              </a:rPr>
              <a:t>3</a:t>
            </a:r>
            <a:endParaRPr lang="en-US" sz="2600" dirty="0"/>
          </a:p>
        </p:txBody>
      </p:sp>
      <p:sp>
        <p:nvSpPr>
          <p:cNvPr id="12" name="Text 8"/>
          <p:cNvSpPr txBox="1"/>
          <p:nvPr/>
        </p:nvSpPr>
        <p:spPr>
          <a:xfrm>
            <a:off x="8842248" y="1993392"/>
            <a:ext cx="2782519" cy="457200"/>
          </a:xfrm>
          <a:prstGeom prst="rect">
            <a:avLst/>
          </a:prstGeom>
          <a:noFill/>
          <a:ln/>
        </p:spPr>
        <p:txBody>
          <a:bodyPr wrap="square" lIns="0" tIns="0" rIns="0" bIns="0" rtlCol="0" anchor="ctr"/>
          <a:lstStyle/>
          <a:p>
            <a:pPr indent="0" marL="0">
              <a:buNone/>
            </a:pPr>
            <a:r>
              <a:rPr lang="en-US" sz="2400" b="1" dirty="0">
                <a:solidFill>
                  <a:srgbClr val="0C1670"/>
                </a:solidFill>
                <a:latin typeface="Arial" pitchFamily="34" charset="0"/>
                <a:ea typeface="Arial" pitchFamily="34" charset="-122"/>
                <a:cs typeface="Arial" pitchFamily="34" charset="-120"/>
              </a:rPr>
              <a:t>Ultrassom</a:t>
            </a:r>
            <a:endParaRPr lang="en-US" sz="2400" dirty="0"/>
          </a:p>
        </p:txBody>
      </p:sp>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8129016" y="2624328"/>
          <a:ext cx="3514039" cy="914400"/>
        </p:xfrm>
        <a:graphic>
          <a:graphicData uri="http://schemas.openxmlformats.org/drawingml/2006/table">
            <a:tbl>
              <a:tblPr/>
              <a:tblGrid>
                <a:gridCol w="1828800"/>
                <a:gridCol w="1685239"/>
              </a:tblGrid>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IG</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0C1670"/>
                          </a:solidFill>
                          <a:latin typeface="Arial" pitchFamily="34" charset="0"/>
                          <a:ea typeface="Arial" pitchFamily="34" charset="-122"/>
                          <a:cs typeface="Arial" pitchFamily="34" charset="-120"/>
                        </a:rPr>
                        <a:t>33 s 4 d</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r>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Feto</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0C1670"/>
                          </a:solidFill>
                          <a:latin typeface="Arial" pitchFamily="34" charset="0"/>
                          <a:ea typeface="Arial" pitchFamily="34" charset="-122"/>
                          <a:cs typeface="Arial" pitchFamily="34" charset="-120"/>
                        </a:rPr>
                        <a:t>pélvico</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r>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BCF</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0C1670"/>
                          </a:solidFill>
                          <a:latin typeface="Arial" pitchFamily="34" charset="0"/>
                          <a:ea typeface="Arial" pitchFamily="34" charset="-122"/>
                          <a:cs typeface="Arial" pitchFamily="34" charset="-120"/>
                        </a:rPr>
                        <a:t>presente</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r>
              <a:tr h="438912">
                <a:tc>
                  <a:txBody>
                    <a:bodyPr/>
                    <a:lstStyle/>
                    <a:p>
                      <a:pPr indent="0" marL="0">
                        <a:buNone/>
                      </a:pPr>
                      <a:r>
                        <a:rPr lang="en-US" sz="2400" dirty="0">
                          <a:solidFill>
                            <a:srgbClr val="0C1670"/>
                          </a:solidFill>
                          <a:latin typeface="Arial" pitchFamily="34" charset="0"/>
                          <a:ea typeface="Arial" pitchFamily="34" charset="-122"/>
                          <a:cs typeface="Arial" pitchFamily="34" charset="-120"/>
                        </a:rPr>
                        <a:t>ILA</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tcPr>
                </a:tc>
                <a:tc>
                  <a:txBody>
                    <a:bodyPr/>
                    <a:lstStyle/>
                    <a:p>
                      <a:pPr algn="ctr" indent="0" marL="0">
                        <a:buNone/>
                      </a:pPr>
                      <a:r>
                        <a:rPr lang="en-US" sz="2400" b="1" dirty="0">
                          <a:solidFill>
                            <a:srgbClr val="FFFFFF"/>
                          </a:solidFill>
                          <a:latin typeface="Arial" pitchFamily="34" charset="0"/>
                          <a:ea typeface="Arial" pitchFamily="34" charset="-122"/>
                          <a:cs typeface="Arial" pitchFamily="34" charset="-120"/>
                        </a:rPr>
                        <a:t>4,2 cm</a:t>
                      </a:r>
                      <a:endParaRPr lang="en-US" sz="24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9525" cap="flat" cmpd="sng" algn="ctr">
                      <a:solidFill>
                        <a:srgbClr val="928C91"/>
                      </a:solidFill>
                      <a:prstDash val="solid"/>
                      <a:round/>
                      <a:headEnd type="none" w="med" len="med"/>
                      <a:tailEnd type="none" w="med" len="med"/>
                    </a:lnB>
                    <a:solidFill>
                      <a:srgbClr val="0C1670"/>
                    </a:solidFill>
                  </a:tcPr>
                </a:tc>
              </a:tr>
            </a:tbl>
          </a:graphicData>
        </a:graphic>
      </p:graphicFrame>
      <p:sp>
        <p:nvSpPr>
          <p:cNvPr id="14" name="Shape 9"/>
          <p:cNvSpPr/>
          <p:nvPr/>
        </p:nvSpPr>
        <p:spPr>
          <a:xfrm>
            <a:off x="548640" y="4572000"/>
            <a:ext cx="11094415" cy="859536"/>
          </a:xfrm>
          <a:prstGeom prst="roundRect">
            <a:avLst>
              <a:gd name="adj" fmla="val 21277"/>
            </a:avLst>
          </a:prstGeom>
          <a:solidFill>
            <a:srgbClr val="0C1670"/>
          </a:solidFill>
          <a:ln w="12700">
            <a:solidFill>
              <a:srgbClr val="0C1670"/>
            </a:solidFill>
            <a:prstDash val="solid"/>
          </a:ln>
        </p:spPr>
      </p:sp>
      <p:sp>
        <p:nvSpPr>
          <p:cNvPr id="15" name="Text 10"/>
          <p:cNvSpPr txBox="1"/>
          <p:nvPr/>
        </p:nvSpPr>
        <p:spPr>
          <a:xfrm>
            <a:off x="822960" y="4572000"/>
            <a:ext cx="10545775" cy="859536"/>
          </a:xfrm>
          <a:prstGeom prst="rect">
            <a:avLst/>
          </a:prstGeom>
          <a:noFill/>
          <a:ln/>
        </p:spPr>
        <p:txBody>
          <a:bodyPr wrap="square" lIns="0" tIns="0" rIns="0" bIns="0" rtlCol="0" anchor="ctr"/>
          <a:lstStyle/>
          <a:p>
            <a:pPr indent="0" marL="0">
              <a:buNone/>
            </a:pPr>
            <a:r>
              <a:rPr lang="en-US" sz="2400" b="1" dirty="0">
                <a:solidFill>
                  <a:srgbClr val="FFD0F5"/>
                </a:solidFill>
                <a:latin typeface="Arial" pitchFamily="34" charset="0"/>
                <a:ea typeface="Arial" pitchFamily="34" charset="-122"/>
                <a:cs typeface="Arial" pitchFamily="34" charset="-120"/>
              </a:rPr>
              <a:t>Pré-eclâmpsia com sinais de gravidade.</a:t>
            </a:r>
            <a:pPr indent="0" marL="0">
              <a:buNone/>
            </a:pPr>
            <a:r>
              <a:rPr lang="en-US" sz="2400" dirty="0">
                <a:solidFill>
                  <a:srgbClr val="FFFFFF"/>
                </a:solidFill>
                <a:latin typeface="Arial" pitchFamily="34" charset="0"/>
                <a:ea typeface="Arial" pitchFamily="34" charset="-122"/>
                <a:cs typeface="Arial" pitchFamily="34" charset="-120"/>
              </a:rPr>
              <a:t> HELLP completa não fechada: plaquetas &gt; 100 mil, sem DHL.</a:t>
            </a:r>
            <a:endParaRPr lang="en-US" sz="2400" dirty="0"/>
          </a:p>
        </p:txBody>
      </p:sp>
      <p:sp>
        <p:nvSpPr>
          <p:cNvPr id="16" name="Text 11"/>
          <p:cNvSpPr txBox="1"/>
          <p:nvPr/>
        </p:nvSpPr>
        <p:spPr>
          <a:xfrm>
            <a:off x="548640" y="5468112"/>
            <a:ext cx="11091672" cy="329184"/>
          </a:xfrm>
          <a:prstGeom prst="rect">
            <a:avLst/>
          </a:prstGeom>
          <a:noFill/>
          <a:ln/>
        </p:spPr>
        <p:txBody>
          <a:bodyPr wrap="square" lIns="0" tIns="0" rIns="0" bIns="0" rtlCol="0" anchor="b"/>
          <a:lstStyle/>
          <a:p>
            <a:pPr indent="0" marL="0">
              <a:buNone/>
            </a:pPr>
            <a:r>
              <a:rPr lang="en-US" sz="1100" i="1" dirty="0">
                <a:solidFill>
                  <a:srgbClr val="0C1670"/>
                </a:solidFill>
                <a:latin typeface="Arial" pitchFamily="34" charset="0"/>
                <a:ea typeface="Arial" pitchFamily="34" charset="-122"/>
                <a:cs typeface="Arial" pitchFamily="34" charset="-120"/>
              </a:rPr>
              <a:t>Em destaque: achados-chave do raciocínio diagnóstico. Unidades: Hb g/dL · plaquetas /mm³ · creatinina, ureia e ácido úrico mg/dL · TGO e TGP U/L.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4 · OPÇÃO B (recurso visual diferente) — painel por órgão-alvo (acompanha o raciocínio da fala)</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EXAMES COMPLEMENTARES</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Disfunção de órgãos-alvo e insuficiência placentária</a:t>
            </a:r>
            <a:endParaRPr lang="en-US" sz="3200" dirty="0"/>
          </a:p>
        </p:txBody>
      </p:sp>
      <p:sp>
        <p:nvSpPr>
          <p:cNvPr id="5" name="Shape 3"/>
          <p:cNvSpPr/>
          <p:nvPr/>
        </p:nvSpPr>
        <p:spPr>
          <a:xfrm>
            <a:off x="548640" y="1938528"/>
            <a:ext cx="5409590" cy="1143000"/>
          </a:xfrm>
          <a:prstGeom prst="roundRect">
            <a:avLst>
              <a:gd name="adj" fmla="val 17600"/>
            </a:avLst>
          </a:prstGeom>
          <a:solidFill>
            <a:srgbClr val="FFE9FA"/>
          </a:solidFill>
          <a:ln w="12700">
            <a:solidFill>
              <a:srgbClr val="FFE9FA"/>
            </a:solidFill>
            <a:prstDash val="solid"/>
          </a:ln>
        </p:spPr>
      </p:sp>
      <p:sp>
        <p:nvSpPr>
          <p:cNvPr id="6" name="Shape 4"/>
          <p:cNvSpPr/>
          <p:nvPr/>
        </p:nvSpPr>
        <p:spPr>
          <a:xfrm>
            <a:off x="749808" y="2098548"/>
            <a:ext cx="822960" cy="822960"/>
          </a:xfrm>
          <a:prstGeom prst="ellipse">
            <a:avLst/>
          </a:prstGeom>
          <a:solidFill>
            <a:srgbClr val="0C1670"/>
          </a:solidFill>
          <a:ln w="12700">
            <a:solidFill>
              <a:srgbClr val="0C1670"/>
            </a:solidFill>
            <a:prstDash val="solid"/>
          </a:ln>
        </p:spPr>
      </p:sp>
      <p:pic>
        <p:nvPicPr>
          <p:cNvPr id="7" name="Image 0" descr="preencoded.png">    </p:cNvPr>
          <p:cNvPicPr>
            <a:picLocks noChangeAspect="1"/>
          </p:cNvPicPr>
          <p:nvPr/>
        </p:nvPicPr>
        <p:blipFill>
          <a:blip r:embed="rId1"/>
          <a:stretch>
            <a:fillRect/>
          </a:stretch>
        </p:blipFill>
        <p:spPr>
          <a:xfrm>
            <a:off x="955548" y="2304288"/>
            <a:ext cx="411480" cy="411480"/>
          </a:xfrm>
          <a:prstGeom prst="rect">
            <a:avLst/>
          </a:prstGeom>
        </p:spPr>
      </p:pic>
      <p:sp>
        <p:nvSpPr>
          <p:cNvPr id="8" name="Text 5"/>
          <p:cNvSpPr txBox="1"/>
          <p:nvPr/>
        </p:nvSpPr>
        <p:spPr>
          <a:xfrm>
            <a:off x="1755648" y="1993392"/>
            <a:ext cx="4083710" cy="1033272"/>
          </a:xfrm>
          <a:prstGeom prst="rect">
            <a:avLst/>
          </a:prstGeom>
          <a:noFill/>
          <a:ln/>
        </p:spPr>
        <p:txBody>
          <a:bodyPr wrap="square" lIns="0" tIns="0" rIns="0" bIns="0" rtlCol="0" anchor="ctr"/>
          <a:lstStyle/>
          <a:p>
            <a:pPr indent="0" marL="0">
              <a:buNone/>
            </a:pPr>
            <a:r>
              <a:rPr lang="en-US" sz="2400" b="1" dirty="0">
                <a:solidFill>
                  <a:srgbClr val="0C1670"/>
                </a:solidFill>
                <a:latin typeface="Arial" pitchFamily="34" charset="0"/>
                <a:ea typeface="Arial" pitchFamily="34" charset="-122"/>
                <a:cs typeface="Arial" pitchFamily="34" charset="-120"/>
              </a:rPr>
              <a:t>Sangue</a:t>
            </a:r>
            <a:endParaRPr lang="en-US" sz="2400" dirty="0"/>
          </a:p>
          <a:p>
            <a:pPr indent="0" marL="0">
              <a:buNone/>
            </a:pPr>
            <a:r>
              <a:rPr lang="en-US" sz="2400" dirty="0">
                <a:solidFill>
                  <a:srgbClr val="0C1670"/>
                </a:solidFill>
                <a:latin typeface="Arial" pitchFamily="34" charset="0"/>
                <a:ea typeface="Arial" pitchFamily="34" charset="-122"/>
                <a:cs typeface="Arial" pitchFamily="34" charset="-120"/>
              </a:rPr>
              <a:t>Hb 9,8 · plaquetas 110 mil · ác. úrico 7,9</a:t>
            </a:r>
            <a:endParaRPr lang="en-US" sz="2400" dirty="0"/>
          </a:p>
        </p:txBody>
      </p:sp>
      <p:sp>
        <p:nvSpPr>
          <p:cNvPr id="9" name="Shape 6"/>
          <p:cNvSpPr/>
          <p:nvPr/>
        </p:nvSpPr>
        <p:spPr>
          <a:xfrm>
            <a:off x="6233465" y="1938528"/>
            <a:ext cx="5409590" cy="1143000"/>
          </a:xfrm>
          <a:prstGeom prst="roundRect">
            <a:avLst>
              <a:gd name="adj" fmla="val 17600"/>
            </a:avLst>
          </a:prstGeom>
          <a:solidFill>
            <a:srgbClr val="FFE9FA"/>
          </a:solidFill>
          <a:ln w="12700">
            <a:solidFill>
              <a:srgbClr val="FFE9FA"/>
            </a:solidFill>
            <a:prstDash val="solid"/>
          </a:ln>
        </p:spPr>
      </p:sp>
      <p:sp>
        <p:nvSpPr>
          <p:cNvPr id="10" name="Shape 7"/>
          <p:cNvSpPr/>
          <p:nvPr/>
        </p:nvSpPr>
        <p:spPr>
          <a:xfrm>
            <a:off x="6434633" y="2098548"/>
            <a:ext cx="822960" cy="822960"/>
          </a:xfrm>
          <a:prstGeom prst="ellipse">
            <a:avLst/>
          </a:prstGeom>
          <a:solidFill>
            <a:srgbClr val="0C1670"/>
          </a:solidFill>
          <a:ln w="12700">
            <a:solidFill>
              <a:srgbClr val="0C1670"/>
            </a:solidFill>
            <a:prstDash val="solid"/>
          </a:ln>
        </p:spPr>
      </p:sp>
      <p:pic>
        <p:nvPicPr>
          <p:cNvPr id="11" name="Image 1" descr="preencoded.png">    </p:cNvPr>
          <p:cNvPicPr>
            <a:picLocks noChangeAspect="1"/>
          </p:cNvPicPr>
          <p:nvPr/>
        </p:nvPicPr>
        <p:blipFill>
          <a:blip r:embed="rId2"/>
          <a:stretch>
            <a:fillRect/>
          </a:stretch>
        </p:blipFill>
        <p:spPr>
          <a:xfrm>
            <a:off x="6640373" y="2304288"/>
            <a:ext cx="411480" cy="411480"/>
          </a:xfrm>
          <a:prstGeom prst="rect">
            <a:avLst/>
          </a:prstGeom>
        </p:spPr>
      </p:pic>
      <p:sp>
        <p:nvSpPr>
          <p:cNvPr id="12" name="Text 8"/>
          <p:cNvSpPr txBox="1"/>
          <p:nvPr/>
        </p:nvSpPr>
        <p:spPr>
          <a:xfrm>
            <a:off x="7440473" y="1993392"/>
            <a:ext cx="4083710" cy="1033272"/>
          </a:xfrm>
          <a:prstGeom prst="rect">
            <a:avLst/>
          </a:prstGeom>
          <a:noFill/>
          <a:ln/>
        </p:spPr>
        <p:txBody>
          <a:bodyPr wrap="square" lIns="0" tIns="0" rIns="0" bIns="0" rtlCol="0" anchor="ctr"/>
          <a:lstStyle/>
          <a:p>
            <a:pPr indent="0" marL="0">
              <a:buNone/>
            </a:pPr>
            <a:r>
              <a:rPr lang="en-US" sz="2400" b="1" dirty="0">
                <a:solidFill>
                  <a:srgbClr val="0C1670"/>
                </a:solidFill>
                <a:latin typeface="Arial" pitchFamily="34" charset="0"/>
                <a:ea typeface="Arial" pitchFamily="34" charset="-122"/>
                <a:cs typeface="Arial" pitchFamily="34" charset="-120"/>
              </a:rPr>
              <a:t>Rim</a:t>
            </a:r>
            <a:endParaRPr lang="en-US" sz="2400" dirty="0"/>
          </a:p>
          <a:p>
            <a:pPr indent="0" marL="0">
              <a:buNone/>
            </a:pPr>
            <a:r>
              <a:rPr lang="en-US" sz="2400" dirty="0">
                <a:solidFill>
                  <a:srgbClr val="0C1670"/>
                </a:solidFill>
                <a:latin typeface="Arial" pitchFamily="34" charset="0"/>
                <a:ea typeface="Arial" pitchFamily="34" charset="-122"/>
                <a:cs typeface="Arial" pitchFamily="34" charset="-120"/>
              </a:rPr>
              <a:t>Creatinina 1,3 · ureia 48 · proteinúria 3+</a:t>
            </a:r>
            <a:endParaRPr lang="en-US" sz="2400" dirty="0"/>
          </a:p>
        </p:txBody>
      </p:sp>
      <p:sp>
        <p:nvSpPr>
          <p:cNvPr id="13" name="Shape 9"/>
          <p:cNvSpPr/>
          <p:nvPr/>
        </p:nvSpPr>
        <p:spPr>
          <a:xfrm>
            <a:off x="548640" y="3218688"/>
            <a:ext cx="5409590" cy="1143000"/>
          </a:xfrm>
          <a:prstGeom prst="roundRect">
            <a:avLst>
              <a:gd name="adj" fmla="val 17600"/>
            </a:avLst>
          </a:prstGeom>
          <a:solidFill>
            <a:srgbClr val="FFE9FA"/>
          </a:solidFill>
          <a:ln w="12700">
            <a:solidFill>
              <a:srgbClr val="FFE9FA"/>
            </a:solidFill>
            <a:prstDash val="solid"/>
          </a:ln>
        </p:spPr>
      </p:sp>
      <p:sp>
        <p:nvSpPr>
          <p:cNvPr id="14" name="Shape 10"/>
          <p:cNvSpPr/>
          <p:nvPr/>
        </p:nvSpPr>
        <p:spPr>
          <a:xfrm>
            <a:off x="749808" y="3378708"/>
            <a:ext cx="822960" cy="822960"/>
          </a:xfrm>
          <a:prstGeom prst="ellipse">
            <a:avLst/>
          </a:prstGeom>
          <a:solidFill>
            <a:srgbClr val="0C1670"/>
          </a:solidFill>
          <a:ln w="12700">
            <a:solidFill>
              <a:srgbClr val="0C1670"/>
            </a:solidFill>
            <a:prstDash val="solid"/>
          </a:ln>
        </p:spPr>
      </p:sp>
      <p:pic>
        <p:nvPicPr>
          <p:cNvPr id="15" name="Image 2" descr="preencoded.png">    </p:cNvPr>
          <p:cNvPicPr>
            <a:picLocks noChangeAspect="1"/>
          </p:cNvPicPr>
          <p:nvPr/>
        </p:nvPicPr>
        <p:blipFill>
          <a:blip r:embed="rId3"/>
          <a:stretch>
            <a:fillRect/>
          </a:stretch>
        </p:blipFill>
        <p:spPr>
          <a:xfrm>
            <a:off x="955548" y="3584448"/>
            <a:ext cx="411480" cy="411480"/>
          </a:xfrm>
          <a:prstGeom prst="rect">
            <a:avLst/>
          </a:prstGeom>
        </p:spPr>
      </p:pic>
      <p:sp>
        <p:nvSpPr>
          <p:cNvPr id="16" name="Text 11"/>
          <p:cNvSpPr txBox="1"/>
          <p:nvPr/>
        </p:nvSpPr>
        <p:spPr>
          <a:xfrm>
            <a:off x="1755648" y="3273552"/>
            <a:ext cx="4083710" cy="1033272"/>
          </a:xfrm>
          <a:prstGeom prst="rect">
            <a:avLst/>
          </a:prstGeom>
          <a:noFill/>
          <a:ln/>
        </p:spPr>
        <p:txBody>
          <a:bodyPr wrap="square" lIns="0" tIns="0" rIns="0" bIns="0" rtlCol="0" anchor="ctr"/>
          <a:lstStyle/>
          <a:p>
            <a:pPr indent="0" marL="0">
              <a:buNone/>
            </a:pPr>
            <a:r>
              <a:rPr lang="en-US" sz="2400" b="1" dirty="0">
                <a:solidFill>
                  <a:srgbClr val="0C1670"/>
                </a:solidFill>
                <a:latin typeface="Arial" pitchFamily="34" charset="0"/>
                <a:ea typeface="Arial" pitchFamily="34" charset="-122"/>
                <a:cs typeface="Arial" pitchFamily="34" charset="-120"/>
              </a:rPr>
              <a:t>Fígado</a:t>
            </a:r>
            <a:endParaRPr lang="en-US" sz="2400" dirty="0"/>
          </a:p>
          <a:p>
            <a:pPr indent="0" marL="0">
              <a:buNone/>
            </a:pPr>
            <a:r>
              <a:rPr lang="en-US" sz="2400" dirty="0">
                <a:solidFill>
                  <a:srgbClr val="0C1670"/>
                </a:solidFill>
                <a:latin typeface="Arial" pitchFamily="34" charset="0"/>
                <a:ea typeface="Arial" pitchFamily="34" charset="-122"/>
                <a:cs typeface="Arial" pitchFamily="34" charset="-120"/>
              </a:rPr>
              <a:t>TGO 78 · TGP 82</a:t>
            </a:r>
            <a:endParaRPr lang="en-US" sz="2400" dirty="0"/>
          </a:p>
        </p:txBody>
      </p:sp>
      <p:sp>
        <p:nvSpPr>
          <p:cNvPr id="17" name="Shape 12"/>
          <p:cNvSpPr/>
          <p:nvPr/>
        </p:nvSpPr>
        <p:spPr>
          <a:xfrm>
            <a:off x="6233465" y="3218688"/>
            <a:ext cx="5409590" cy="1143000"/>
          </a:xfrm>
          <a:prstGeom prst="roundRect">
            <a:avLst>
              <a:gd name="adj" fmla="val 17600"/>
            </a:avLst>
          </a:prstGeom>
          <a:solidFill>
            <a:srgbClr val="FFE9FA"/>
          </a:solidFill>
          <a:ln w="12700">
            <a:solidFill>
              <a:srgbClr val="FFE9FA"/>
            </a:solidFill>
            <a:prstDash val="solid"/>
          </a:ln>
        </p:spPr>
      </p:sp>
      <p:sp>
        <p:nvSpPr>
          <p:cNvPr id="18" name="Shape 13"/>
          <p:cNvSpPr/>
          <p:nvPr/>
        </p:nvSpPr>
        <p:spPr>
          <a:xfrm>
            <a:off x="6434633" y="3378708"/>
            <a:ext cx="822960" cy="822960"/>
          </a:xfrm>
          <a:prstGeom prst="ellipse">
            <a:avLst/>
          </a:prstGeom>
          <a:solidFill>
            <a:srgbClr val="0C1670"/>
          </a:solidFill>
          <a:ln w="12700">
            <a:solidFill>
              <a:srgbClr val="0C1670"/>
            </a:solidFill>
            <a:prstDash val="solid"/>
          </a:ln>
        </p:spPr>
      </p:sp>
      <p:pic>
        <p:nvPicPr>
          <p:cNvPr id="19" name="Image 3" descr="preencoded.png">    </p:cNvPr>
          <p:cNvPicPr>
            <a:picLocks noChangeAspect="1"/>
          </p:cNvPicPr>
          <p:nvPr/>
        </p:nvPicPr>
        <p:blipFill>
          <a:blip r:embed="rId4"/>
          <a:stretch>
            <a:fillRect/>
          </a:stretch>
        </p:blipFill>
        <p:spPr>
          <a:xfrm>
            <a:off x="6640373" y="3584448"/>
            <a:ext cx="411480" cy="411480"/>
          </a:xfrm>
          <a:prstGeom prst="rect">
            <a:avLst/>
          </a:prstGeom>
        </p:spPr>
      </p:pic>
      <p:sp>
        <p:nvSpPr>
          <p:cNvPr id="20" name="Text 14"/>
          <p:cNvSpPr txBox="1"/>
          <p:nvPr/>
        </p:nvSpPr>
        <p:spPr>
          <a:xfrm>
            <a:off x="7440473" y="3273552"/>
            <a:ext cx="4083710" cy="1033272"/>
          </a:xfrm>
          <a:prstGeom prst="rect">
            <a:avLst/>
          </a:prstGeom>
          <a:noFill/>
          <a:ln/>
        </p:spPr>
        <p:txBody>
          <a:bodyPr wrap="square" lIns="0" tIns="0" rIns="0" bIns="0" rtlCol="0" anchor="ctr"/>
          <a:lstStyle/>
          <a:p>
            <a:pPr indent="0" marL="0">
              <a:buNone/>
            </a:pPr>
            <a:r>
              <a:rPr lang="en-US" sz="2400" b="1" dirty="0">
                <a:solidFill>
                  <a:srgbClr val="0C1670"/>
                </a:solidFill>
                <a:latin typeface="Arial" pitchFamily="34" charset="0"/>
                <a:ea typeface="Arial" pitchFamily="34" charset="-122"/>
                <a:cs typeface="Arial" pitchFamily="34" charset="-120"/>
              </a:rPr>
              <a:t>Placenta e feto</a:t>
            </a:r>
            <a:endParaRPr lang="en-US" sz="2400" dirty="0"/>
          </a:p>
          <a:p>
            <a:pPr indent="0" marL="0">
              <a:buNone/>
            </a:pPr>
            <a:r>
              <a:rPr lang="en-US" sz="2400" dirty="0">
                <a:solidFill>
                  <a:srgbClr val="0C1670"/>
                </a:solidFill>
                <a:latin typeface="Arial" pitchFamily="34" charset="0"/>
                <a:ea typeface="Arial" pitchFamily="34" charset="-122"/>
                <a:cs typeface="Arial" pitchFamily="34" charset="-120"/>
              </a:rPr>
              <a:t>33 s 4 d · pélvico · ILA 4,2 cm</a:t>
            </a:r>
            <a:endParaRPr lang="en-US" sz="2400" dirty="0"/>
          </a:p>
        </p:txBody>
      </p:sp>
      <p:sp>
        <p:nvSpPr>
          <p:cNvPr id="21" name="Shape 15"/>
          <p:cNvSpPr/>
          <p:nvPr/>
        </p:nvSpPr>
        <p:spPr>
          <a:xfrm>
            <a:off x="548640" y="4572000"/>
            <a:ext cx="11094415" cy="859536"/>
          </a:xfrm>
          <a:prstGeom prst="roundRect">
            <a:avLst>
              <a:gd name="adj" fmla="val 21277"/>
            </a:avLst>
          </a:prstGeom>
          <a:solidFill>
            <a:srgbClr val="0C1670"/>
          </a:solidFill>
          <a:ln w="12700">
            <a:solidFill>
              <a:srgbClr val="0C1670"/>
            </a:solidFill>
            <a:prstDash val="solid"/>
          </a:ln>
        </p:spPr>
      </p:sp>
      <p:sp>
        <p:nvSpPr>
          <p:cNvPr id="22" name="Text 16"/>
          <p:cNvSpPr txBox="1"/>
          <p:nvPr/>
        </p:nvSpPr>
        <p:spPr>
          <a:xfrm>
            <a:off x="822960" y="4572000"/>
            <a:ext cx="10545775" cy="859536"/>
          </a:xfrm>
          <a:prstGeom prst="rect">
            <a:avLst/>
          </a:prstGeom>
          <a:noFill/>
          <a:ln/>
        </p:spPr>
        <p:txBody>
          <a:bodyPr wrap="square" lIns="0" tIns="0" rIns="0" bIns="0" rtlCol="0" anchor="ctr"/>
          <a:lstStyle/>
          <a:p>
            <a:pPr indent="0" marL="0">
              <a:buNone/>
            </a:pPr>
            <a:r>
              <a:rPr lang="en-US" sz="2400" b="1" dirty="0">
                <a:solidFill>
                  <a:srgbClr val="FFD0F5"/>
                </a:solidFill>
                <a:latin typeface="Arial" pitchFamily="34" charset="0"/>
                <a:ea typeface="Arial" pitchFamily="34" charset="-122"/>
                <a:cs typeface="Arial" pitchFamily="34" charset="-120"/>
              </a:rPr>
              <a:t>Pré-eclâmpsia com sinais de gravidade.</a:t>
            </a:r>
            <a:pPr indent="0" marL="0">
              <a:buNone/>
            </a:pPr>
            <a:r>
              <a:rPr lang="en-US" sz="2400" dirty="0">
                <a:solidFill>
                  <a:srgbClr val="FFFFFF"/>
                </a:solidFill>
                <a:latin typeface="Arial" pitchFamily="34" charset="0"/>
                <a:ea typeface="Arial" pitchFamily="34" charset="-122"/>
                <a:cs typeface="Arial" pitchFamily="34" charset="-120"/>
              </a:rPr>
              <a:t> HELLP completa não fechada: plaquetas &gt; 100 mil, sem DHL.</a:t>
            </a:r>
            <a:endParaRPr lang="en-US" sz="2400" dirty="0"/>
          </a:p>
        </p:txBody>
      </p:sp>
      <p:sp>
        <p:nvSpPr>
          <p:cNvPr id="23" name="Text 17"/>
          <p:cNvSpPr txBox="1"/>
          <p:nvPr/>
        </p:nvSpPr>
        <p:spPr>
          <a:xfrm>
            <a:off x="548640" y="5468112"/>
            <a:ext cx="11091672" cy="329184"/>
          </a:xfrm>
          <a:prstGeom prst="rect">
            <a:avLst/>
          </a:prstGeom>
          <a:noFill/>
          <a:ln/>
        </p:spPr>
        <p:txBody>
          <a:bodyPr wrap="square" lIns="0" tIns="0" rIns="0" bIns="0" rtlCol="0" anchor="b"/>
          <a:lstStyle/>
          <a:p>
            <a:pPr indent="0" marL="0">
              <a:buNone/>
            </a:pPr>
            <a:r>
              <a:rPr lang="en-US" sz="1100" i="1" dirty="0">
                <a:solidFill>
                  <a:srgbClr val="0C1670"/>
                </a:solidFill>
                <a:latin typeface="Arial" pitchFamily="34" charset="0"/>
                <a:ea typeface="Arial" pitchFamily="34" charset="-122"/>
                <a:cs typeface="Arial" pitchFamily="34" charset="-120"/>
              </a:rPr>
              <a:t>Em destaque: achados-chave do raciocínio diagnóstico. Unidades: Hb g/dL · plaquetas /mm³ · creatinina, ureia e ácido úrico mg/dL · TGO e TGP U/L.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5 · OPÇÃO A (mais fiel ao modelo) — três faixas do modelo, numeradas e condensadas</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CONDUTA E EVOLUÇÃO</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Cesariana, atonia refratária e histerectomia de salvamento</a:t>
            </a:r>
            <a:endParaRPr lang="en-US" sz="3200" dirty="0"/>
          </a:p>
        </p:txBody>
      </p:sp>
      <p:sp>
        <p:nvSpPr>
          <p:cNvPr id="5" name="Shape 3"/>
          <p:cNvSpPr/>
          <p:nvPr/>
        </p:nvSpPr>
        <p:spPr>
          <a:xfrm>
            <a:off x="548640" y="1938528"/>
            <a:ext cx="11094415" cy="1097280"/>
          </a:xfrm>
          <a:prstGeom prst="roundRect">
            <a:avLst>
              <a:gd name="adj" fmla="val 20833"/>
            </a:avLst>
          </a:prstGeom>
          <a:solidFill>
            <a:srgbClr val="0C1670"/>
          </a:solidFill>
          <a:ln w="12700">
            <a:solidFill>
              <a:srgbClr val="0C1670"/>
            </a:solidFill>
            <a:prstDash val="solid"/>
          </a:ln>
        </p:spPr>
      </p:sp>
      <p:sp>
        <p:nvSpPr>
          <p:cNvPr id="6" name="Text 4"/>
          <p:cNvSpPr/>
          <p:nvPr/>
        </p:nvSpPr>
        <p:spPr>
          <a:xfrm>
            <a:off x="822960" y="2144268"/>
            <a:ext cx="685800" cy="685800"/>
          </a:xfrm>
          <a:prstGeom prst="ellipse">
            <a:avLst/>
          </a:prstGeom>
          <a:solidFill>
            <a:srgbClr val="FFD0F5"/>
          </a:solidFill>
          <a:ln>
            <a:solidFill>
              <a:srgbClr val="FFD0F5"/>
            </a:solidFill>
          </a:ln>
        </p:spPr>
        <p:txBody>
          <a:bodyPr wrap="square" lIns="0" tIns="0" rIns="0" bIns="0" rtlCol="0" anchor="ctr"/>
          <a:lstStyle/>
          <a:p>
            <a:pPr algn="ctr" indent="0" marL="0">
              <a:buNone/>
            </a:pPr>
            <a:r>
              <a:rPr lang="en-US" sz="2800" b="1" dirty="0">
                <a:solidFill>
                  <a:srgbClr val="0C1670"/>
                </a:solidFill>
                <a:latin typeface="Arial" pitchFamily="34" charset="0"/>
                <a:ea typeface="Arial" pitchFamily="34" charset="-122"/>
                <a:cs typeface="Arial" pitchFamily="34" charset="-120"/>
              </a:rPr>
              <a:t>1</a:t>
            </a:r>
            <a:endParaRPr lang="en-US" sz="2800" dirty="0"/>
          </a:p>
        </p:txBody>
      </p:sp>
      <p:sp>
        <p:nvSpPr>
          <p:cNvPr id="7" name="Text 5"/>
          <p:cNvSpPr txBox="1"/>
          <p:nvPr/>
        </p:nvSpPr>
        <p:spPr>
          <a:xfrm>
            <a:off x="1783080" y="2066544"/>
            <a:ext cx="9601200" cy="411480"/>
          </a:xfrm>
          <a:prstGeom prst="rect">
            <a:avLst/>
          </a:prstGeom>
          <a:noFill/>
          <a:ln/>
        </p:spPr>
        <p:txBody>
          <a:bodyPr wrap="square" lIns="0" tIns="0" rIns="0" bIns="0" rtlCol="0" anchor="t"/>
          <a:lstStyle/>
          <a:p>
            <a:pPr indent="0" marL="0">
              <a:buNone/>
            </a:pPr>
            <a:r>
              <a:rPr lang="en-US" sz="2400" b="1" dirty="0">
                <a:solidFill>
                  <a:srgbClr val="FFD0F5"/>
                </a:solidFill>
                <a:latin typeface="Arial" pitchFamily="34" charset="0"/>
                <a:ea typeface="Arial" pitchFamily="34" charset="-122"/>
                <a:cs typeface="Arial" pitchFamily="34" charset="-120"/>
              </a:rPr>
              <a:t>Cesariana de urgência</a:t>
            </a:r>
            <a:endParaRPr lang="en-US" sz="2400" dirty="0"/>
          </a:p>
        </p:txBody>
      </p:sp>
      <p:sp>
        <p:nvSpPr>
          <p:cNvPr id="8" name="Text 6"/>
          <p:cNvSpPr txBox="1"/>
          <p:nvPr/>
        </p:nvSpPr>
        <p:spPr>
          <a:xfrm>
            <a:off x="1783080" y="2505456"/>
            <a:ext cx="9601200" cy="41148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RN vivo · 1.820 g · Apgar 4/7 · UTI neonatal</a:t>
            </a:r>
            <a:endParaRPr lang="en-US" sz="2400" dirty="0"/>
          </a:p>
        </p:txBody>
      </p:sp>
      <p:sp>
        <p:nvSpPr>
          <p:cNvPr id="9" name="Shape 7"/>
          <p:cNvSpPr/>
          <p:nvPr/>
        </p:nvSpPr>
        <p:spPr>
          <a:xfrm>
            <a:off x="548640" y="3163824"/>
            <a:ext cx="11094415" cy="1097280"/>
          </a:xfrm>
          <a:prstGeom prst="roundRect">
            <a:avLst>
              <a:gd name="adj" fmla="val 20833"/>
            </a:avLst>
          </a:prstGeom>
          <a:solidFill>
            <a:srgbClr val="0C1670"/>
          </a:solidFill>
          <a:ln w="12700">
            <a:solidFill>
              <a:srgbClr val="0C1670"/>
            </a:solidFill>
            <a:prstDash val="solid"/>
          </a:ln>
        </p:spPr>
      </p:sp>
      <p:sp>
        <p:nvSpPr>
          <p:cNvPr id="10" name="Text 8"/>
          <p:cNvSpPr/>
          <p:nvPr/>
        </p:nvSpPr>
        <p:spPr>
          <a:xfrm>
            <a:off x="822960" y="3369564"/>
            <a:ext cx="685800" cy="685800"/>
          </a:xfrm>
          <a:prstGeom prst="ellipse">
            <a:avLst/>
          </a:prstGeom>
          <a:solidFill>
            <a:srgbClr val="FFD0F5"/>
          </a:solidFill>
          <a:ln>
            <a:solidFill>
              <a:srgbClr val="FFD0F5"/>
            </a:solidFill>
          </a:ln>
        </p:spPr>
        <p:txBody>
          <a:bodyPr wrap="square" lIns="0" tIns="0" rIns="0" bIns="0" rtlCol="0" anchor="ctr"/>
          <a:lstStyle/>
          <a:p>
            <a:pPr algn="ctr" indent="0" marL="0">
              <a:buNone/>
            </a:pPr>
            <a:r>
              <a:rPr lang="en-US" sz="2800" b="1" dirty="0">
                <a:solidFill>
                  <a:srgbClr val="0C1670"/>
                </a:solidFill>
                <a:latin typeface="Arial" pitchFamily="34" charset="0"/>
                <a:ea typeface="Arial" pitchFamily="34" charset="-122"/>
                <a:cs typeface="Arial" pitchFamily="34" charset="-120"/>
              </a:rPr>
              <a:t>2</a:t>
            </a:r>
            <a:endParaRPr lang="en-US" sz="2800" dirty="0"/>
          </a:p>
        </p:txBody>
      </p:sp>
      <p:sp>
        <p:nvSpPr>
          <p:cNvPr id="11" name="Text 9"/>
          <p:cNvSpPr txBox="1"/>
          <p:nvPr/>
        </p:nvSpPr>
        <p:spPr>
          <a:xfrm>
            <a:off x="1783080" y="3291840"/>
            <a:ext cx="9601200" cy="411480"/>
          </a:xfrm>
          <a:prstGeom prst="rect">
            <a:avLst/>
          </a:prstGeom>
          <a:noFill/>
          <a:ln/>
        </p:spPr>
        <p:txBody>
          <a:bodyPr wrap="square" lIns="0" tIns="0" rIns="0" bIns="0" rtlCol="0" anchor="t"/>
          <a:lstStyle/>
          <a:p>
            <a:pPr indent="0" marL="0">
              <a:buNone/>
            </a:pPr>
            <a:r>
              <a:rPr lang="en-US" sz="2400" b="1" dirty="0">
                <a:solidFill>
                  <a:srgbClr val="FFD0F5"/>
                </a:solidFill>
                <a:latin typeface="Arial" pitchFamily="34" charset="0"/>
                <a:ea typeface="Arial" pitchFamily="34" charset="-122"/>
                <a:cs typeface="Arial" pitchFamily="34" charset="-120"/>
              </a:rPr>
              <a:t>Atonia refratária e choque hemorrágico</a:t>
            </a:r>
            <a:endParaRPr lang="en-US" sz="2400" dirty="0"/>
          </a:p>
        </p:txBody>
      </p:sp>
      <p:sp>
        <p:nvSpPr>
          <p:cNvPr id="12" name="Text 10"/>
          <p:cNvSpPr txBox="1"/>
          <p:nvPr/>
        </p:nvSpPr>
        <p:spPr>
          <a:xfrm>
            <a:off x="1783080" y="3730752"/>
            <a:ext cx="9601200" cy="41148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PA 60/30 · FC 145 · índice de choque &gt; 2</a:t>
            </a:r>
            <a:endParaRPr lang="en-US" sz="2400" dirty="0"/>
          </a:p>
        </p:txBody>
      </p:sp>
      <p:sp>
        <p:nvSpPr>
          <p:cNvPr id="13" name="Shape 11"/>
          <p:cNvSpPr/>
          <p:nvPr/>
        </p:nvSpPr>
        <p:spPr>
          <a:xfrm>
            <a:off x="548640" y="4389120"/>
            <a:ext cx="11094415" cy="1097280"/>
          </a:xfrm>
          <a:prstGeom prst="roundRect">
            <a:avLst>
              <a:gd name="adj" fmla="val 20833"/>
            </a:avLst>
          </a:prstGeom>
          <a:solidFill>
            <a:srgbClr val="0C1670"/>
          </a:solidFill>
          <a:ln w="12700">
            <a:solidFill>
              <a:srgbClr val="0C1670"/>
            </a:solidFill>
            <a:prstDash val="solid"/>
          </a:ln>
        </p:spPr>
      </p:sp>
      <p:sp>
        <p:nvSpPr>
          <p:cNvPr id="14" name="Text 12"/>
          <p:cNvSpPr/>
          <p:nvPr/>
        </p:nvSpPr>
        <p:spPr>
          <a:xfrm>
            <a:off x="822960" y="4594860"/>
            <a:ext cx="685800" cy="685800"/>
          </a:xfrm>
          <a:prstGeom prst="ellipse">
            <a:avLst/>
          </a:prstGeom>
          <a:solidFill>
            <a:srgbClr val="FFD0F5"/>
          </a:solidFill>
          <a:ln>
            <a:solidFill>
              <a:srgbClr val="FFD0F5"/>
            </a:solidFill>
          </a:ln>
        </p:spPr>
        <p:txBody>
          <a:bodyPr wrap="square" lIns="0" tIns="0" rIns="0" bIns="0" rtlCol="0" anchor="ctr"/>
          <a:lstStyle/>
          <a:p>
            <a:pPr algn="ctr" indent="0" marL="0">
              <a:buNone/>
            </a:pPr>
            <a:r>
              <a:rPr lang="en-US" sz="2800" b="1" dirty="0">
                <a:solidFill>
                  <a:srgbClr val="0C1670"/>
                </a:solidFill>
                <a:latin typeface="Arial" pitchFamily="34" charset="0"/>
                <a:ea typeface="Arial" pitchFamily="34" charset="-122"/>
                <a:cs typeface="Arial" pitchFamily="34" charset="-120"/>
              </a:rPr>
              <a:t>3</a:t>
            </a:r>
            <a:endParaRPr lang="en-US" sz="2800" dirty="0"/>
          </a:p>
        </p:txBody>
      </p:sp>
      <p:sp>
        <p:nvSpPr>
          <p:cNvPr id="15" name="Text 13"/>
          <p:cNvSpPr txBox="1"/>
          <p:nvPr/>
        </p:nvSpPr>
        <p:spPr>
          <a:xfrm>
            <a:off x="1783080" y="4517136"/>
            <a:ext cx="9601200" cy="411480"/>
          </a:xfrm>
          <a:prstGeom prst="rect">
            <a:avLst/>
          </a:prstGeom>
          <a:noFill/>
          <a:ln/>
        </p:spPr>
        <p:txBody>
          <a:bodyPr wrap="square" lIns="0" tIns="0" rIns="0" bIns="0" rtlCol="0" anchor="t"/>
          <a:lstStyle/>
          <a:p>
            <a:pPr indent="0" marL="0">
              <a:buNone/>
            </a:pPr>
            <a:r>
              <a:rPr lang="en-US" sz="2400" b="1" dirty="0">
                <a:solidFill>
                  <a:srgbClr val="FFD0F5"/>
                </a:solidFill>
                <a:latin typeface="Arial" pitchFamily="34" charset="0"/>
                <a:ea typeface="Arial" pitchFamily="34" charset="-122"/>
                <a:cs typeface="Arial" pitchFamily="34" charset="-120"/>
              </a:rPr>
              <a:t>Histerectomia subtotal de salvamento</a:t>
            </a:r>
            <a:endParaRPr lang="en-US" sz="2400" dirty="0"/>
          </a:p>
        </p:txBody>
      </p:sp>
      <p:sp>
        <p:nvSpPr>
          <p:cNvPr id="16" name="Text 14"/>
          <p:cNvSpPr txBox="1"/>
          <p:nvPr/>
        </p:nvSpPr>
        <p:spPr>
          <a:xfrm>
            <a:off x="1783080" y="4956048"/>
            <a:ext cx="9601200" cy="41148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4 CH + 2 PFC · UTI adulto</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5 · OPÇÃO B (recurso visual diferente) — linha do tempo em quatro marcos + desfecho</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CONDUTA E EVOLUÇÃO</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Cesariana, atonia refratária e histerectomia de salvamento</a:t>
            </a:r>
            <a:endParaRPr lang="en-US" sz="3200" dirty="0"/>
          </a:p>
        </p:txBody>
      </p:sp>
      <p:sp>
        <p:nvSpPr>
          <p:cNvPr id="5" name="Shape 3"/>
          <p:cNvSpPr/>
          <p:nvPr/>
        </p:nvSpPr>
        <p:spPr>
          <a:xfrm>
            <a:off x="1935442" y="2350008"/>
            <a:ext cx="8320811" cy="0"/>
          </a:xfrm>
          <a:prstGeom prst="line">
            <a:avLst/>
          </a:prstGeom>
          <a:noFill/>
          <a:ln w="38100">
            <a:solidFill>
              <a:srgbClr val="0C1670"/>
            </a:solidFill>
            <a:prstDash val="solid"/>
          </a:ln>
        </p:spPr>
      </p:sp>
      <p:sp>
        <p:nvSpPr>
          <p:cNvPr id="6" name="Text 4"/>
          <p:cNvSpPr/>
          <p:nvPr/>
        </p:nvSpPr>
        <p:spPr>
          <a:xfrm>
            <a:off x="1523962" y="1938528"/>
            <a:ext cx="822960" cy="822960"/>
          </a:xfrm>
          <a:prstGeom prst="ellipse">
            <a:avLst/>
          </a:prstGeom>
          <a:solidFill>
            <a:srgbClr val="0C1670"/>
          </a:solidFill>
          <a:ln>
            <a:solidFill>
              <a:srgbClr val="0C1670"/>
            </a:solidFill>
          </a:ln>
        </p:spPr>
        <p:txBody>
          <a:bodyPr wrap="square" lIns="0" tIns="0" rIns="0" bIns="0" rtlCol="0" anchor="ctr"/>
          <a:lstStyle/>
          <a:p>
            <a:pPr algn="ctr" indent="0" marL="0">
              <a:buNone/>
            </a:pPr>
            <a:r>
              <a:rPr lang="en-US" sz="3000" b="1" dirty="0">
                <a:solidFill>
                  <a:srgbClr val="FFD0F5"/>
                </a:solidFill>
                <a:latin typeface="Arial" pitchFamily="34" charset="0"/>
                <a:ea typeface="Arial" pitchFamily="34" charset="-122"/>
                <a:cs typeface="Arial" pitchFamily="34" charset="-120"/>
              </a:rPr>
              <a:t>1</a:t>
            </a:r>
            <a:endParaRPr lang="en-US" sz="3000" dirty="0"/>
          </a:p>
        </p:txBody>
      </p:sp>
      <p:sp>
        <p:nvSpPr>
          <p:cNvPr id="7" name="Text 5"/>
          <p:cNvSpPr txBox="1"/>
          <p:nvPr/>
        </p:nvSpPr>
        <p:spPr>
          <a:xfrm>
            <a:off x="621792" y="2898648"/>
            <a:ext cx="2627300" cy="777240"/>
          </a:xfrm>
          <a:prstGeom prst="rect">
            <a:avLst/>
          </a:prstGeom>
          <a:noFill/>
          <a:ln/>
        </p:spPr>
        <p:txBody>
          <a:bodyPr wrap="square" lIns="0" tIns="0" rIns="0" bIns="0" rtlCol="0" anchor="t"/>
          <a:lstStyle/>
          <a:p>
            <a:pPr algn="ctr" indent="0" marL="0">
              <a:buNone/>
            </a:pPr>
            <a:r>
              <a:rPr lang="en-US" sz="2400" b="1" dirty="0">
                <a:solidFill>
                  <a:srgbClr val="0C1670"/>
                </a:solidFill>
                <a:latin typeface="Arial" pitchFamily="34" charset="0"/>
                <a:ea typeface="Arial" pitchFamily="34" charset="-122"/>
                <a:cs typeface="Arial" pitchFamily="34" charset="-120"/>
              </a:rPr>
              <a:t>Cesariana de urgência</a:t>
            </a:r>
            <a:endParaRPr lang="en-US" sz="2400" dirty="0"/>
          </a:p>
        </p:txBody>
      </p:sp>
      <p:sp>
        <p:nvSpPr>
          <p:cNvPr id="8" name="Text 6"/>
          <p:cNvSpPr txBox="1"/>
          <p:nvPr/>
        </p:nvSpPr>
        <p:spPr>
          <a:xfrm>
            <a:off x="621792" y="3694176"/>
            <a:ext cx="2627300" cy="777240"/>
          </a:xfrm>
          <a:prstGeom prst="rect">
            <a:avLst/>
          </a:prstGeom>
          <a:noFill/>
          <a:ln/>
        </p:spPr>
        <p:txBody>
          <a:bodyPr wrap="square" lIns="0" tIns="0" rIns="0" bIns="0" rtlCol="0" anchor="t"/>
          <a:lstStyle/>
          <a:p>
            <a:pPr algn="ctr" indent="0" marL="0">
              <a:buNone/>
            </a:pPr>
            <a:r>
              <a:rPr lang="en-US" sz="2400" dirty="0">
                <a:solidFill>
                  <a:srgbClr val="0C1670"/>
                </a:solidFill>
                <a:latin typeface="Arial" pitchFamily="34" charset="0"/>
                <a:ea typeface="Arial" pitchFamily="34" charset="-122"/>
                <a:cs typeface="Arial" pitchFamily="34" charset="-120"/>
              </a:rPr>
              <a:t>pélvico, PA refratária</a:t>
            </a:r>
            <a:endParaRPr lang="en-US" sz="2400" dirty="0"/>
          </a:p>
        </p:txBody>
      </p:sp>
      <p:sp>
        <p:nvSpPr>
          <p:cNvPr id="9" name="Text 7"/>
          <p:cNvSpPr/>
          <p:nvPr/>
        </p:nvSpPr>
        <p:spPr>
          <a:xfrm>
            <a:off x="4297566" y="1938528"/>
            <a:ext cx="822960" cy="822960"/>
          </a:xfrm>
          <a:prstGeom prst="ellipse">
            <a:avLst/>
          </a:prstGeom>
          <a:solidFill>
            <a:srgbClr val="0C1670"/>
          </a:solidFill>
          <a:ln>
            <a:solidFill>
              <a:srgbClr val="0C1670"/>
            </a:solidFill>
          </a:ln>
        </p:spPr>
        <p:txBody>
          <a:bodyPr wrap="square" lIns="0" tIns="0" rIns="0" bIns="0" rtlCol="0" anchor="ctr"/>
          <a:lstStyle/>
          <a:p>
            <a:pPr algn="ctr" indent="0" marL="0">
              <a:buNone/>
            </a:pPr>
            <a:r>
              <a:rPr lang="en-US" sz="3000" b="1" dirty="0">
                <a:solidFill>
                  <a:srgbClr val="FFD0F5"/>
                </a:solidFill>
                <a:latin typeface="Arial" pitchFamily="34" charset="0"/>
                <a:ea typeface="Arial" pitchFamily="34" charset="-122"/>
                <a:cs typeface="Arial" pitchFamily="34" charset="-120"/>
              </a:rPr>
              <a:t>2</a:t>
            </a:r>
            <a:endParaRPr lang="en-US" sz="3000" dirty="0"/>
          </a:p>
        </p:txBody>
      </p:sp>
      <p:sp>
        <p:nvSpPr>
          <p:cNvPr id="10" name="Text 8"/>
          <p:cNvSpPr txBox="1"/>
          <p:nvPr/>
        </p:nvSpPr>
        <p:spPr>
          <a:xfrm>
            <a:off x="3395396" y="2898648"/>
            <a:ext cx="2627300" cy="777240"/>
          </a:xfrm>
          <a:prstGeom prst="rect">
            <a:avLst/>
          </a:prstGeom>
          <a:noFill/>
          <a:ln/>
        </p:spPr>
        <p:txBody>
          <a:bodyPr wrap="square" lIns="0" tIns="0" rIns="0" bIns="0" rtlCol="0" anchor="t"/>
          <a:lstStyle/>
          <a:p>
            <a:pPr algn="ctr" indent="0" marL="0">
              <a:buNone/>
            </a:pPr>
            <a:r>
              <a:rPr lang="en-US" sz="2400" b="1" dirty="0">
                <a:solidFill>
                  <a:srgbClr val="0C1670"/>
                </a:solidFill>
                <a:latin typeface="Arial" pitchFamily="34" charset="0"/>
                <a:ea typeface="Arial" pitchFamily="34" charset="-122"/>
                <a:cs typeface="Arial" pitchFamily="34" charset="-120"/>
              </a:rPr>
              <a:t>RN vivo</a:t>
            </a:r>
            <a:endParaRPr lang="en-US" sz="2400" dirty="0"/>
          </a:p>
        </p:txBody>
      </p:sp>
      <p:sp>
        <p:nvSpPr>
          <p:cNvPr id="11" name="Text 9"/>
          <p:cNvSpPr txBox="1"/>
          <p:nvPr/>
        </p:nvSpPr>
        <p:spPr>
          <a:xfrm>
            <a:off x="3395396" y="3694176"/>
            <a:ext cx="2627300" cy="777240"/>
          </a:xfrm>
          <a:prstGeom prst="rect">
            <a:avLst/>
          </a:prstGeom>
          <a:noFill/>
          <a:ln/>
        </p:spPr>
        <p:txBody>
          <a:bodyPr wrap="square" lIns="0" tIns="0" rIns="0" bIns="0" rtlCol="0" anchor="t"/>
          <a:lstStyle/>
          <a:p>
            <a:pPr algn="ctr" indent="0" marL="0">
              <a:buNone/>
            </a:pPr>
            <a:r>
              <a:rPr lang="en-US" sz="2400" dirty="0">
                <a:solidFill>
                  <a:srgbClr val="0C1670"/>
                </a:solidFill>
                <a:latin typeface="Arial" pitchFamily="34" charset="0"/>
                <a:ea typeface="Arial" pitchFamily="34" charset="-122"/>
                <a:cs typeface="Arial" pitchFamily="34" charset="-120"/>
              </a:rPr>
              <a:t>1.820 g · Apgar 4/7</a:t>
            </a:r>
            <a:endParaRPr lang="en-US" sz="2400" dirty="0"/>
          </a:p>
        </p:txBody>
      </p:sp>
      <p:sp>
        <p:nvSpPr>
          <p:cNvPr id="12" name="Text 10"/>
          <p:cNvSpPr/>
          <p:nvPr/>
        </p:nvSpPr>
        <p:spPr>
          <a:xfrm>
            <a:off x="7071169" y="1938528"/>
            <a:ext cx="822960" cy="822960"/>
          </a:xfrm>
          <a:prstGeom prst="ellipse">
            <a:avLst/>
          </a:prstGeom>
          <a:solidFill>
            <a:srgbClr val="0C1670"/>
          </a:solidFill>
          <a:ln>
            <a:solidFill>
              <a:srgbClr val="0C1670"/>
            </a:solidFill>
          </a:ln>
        </p:spPr>
        <p:txBody>
          <a:bodyPr wrap="square" lIns="0" tIns="0" rIns="0" bIns="0" rtlCol="0" anchor="ctr"/>
          <a:lstStyle/>
          <a:p>
            <a:pPr algn="ctr" indent="0" marL="0">
              <a:buNone/>
            </a:pPr>
            <a:r>
              <a:rPr lang="en-US" sz="3000" b="1" dirty="0">
                <a:solidFill>
                  <a:srgbClr val="FFD0F5"/>
                </a:solidFill>
                <a:latin typeface="Arial" pitchFamily="34" charset="0"/>
                <a:ea typeface="Arial" pitchFamily="34" charset="-122"/>
                <a:cs typeface="Arial" pitchFamily="34" charset="-120"/>
              </a:rPr>
              <a:t>3</a:t>
            </a:r>
            <a:endParaRPr lang="en-US" sz="3000" dirty="0"/>
          </a:p>
        </p:txBody>
      </p:sp>
      <p:sp>
        <p:nvSpPr>
          <p:cNvPr id="13" name="Text 11"/>
          <p:cNvSpPr txBox="1"/>
          <p:nvPr/>
        </p:nvSpPr>
        <p:spPr>
          <a:xfrm>
            <a:off x="6169000" y="2898648"/>
            <a:ext cx="2627300" cy="777240"/>
          </a:xfrm>
          <a:prstGeom prst="rect">
            <a:avLst/>
          </a:prstGeom>
          <a:noFill/>
          <a:ln/>
        </p:spPr>
        <p:txBody>
          <a:bodyPr wrap="square" lIns="0" tIns="0" rIns="0" bIns="0" rtlCol="0" anchor="t"/>
          <a:lstStyle/>
          <a:p>
            <a:pPr algn="ctr" indent="0" marL="0">
              <a:buNone/>
            </a:pPr>
            <a:r>
              <a:rPr lang="en-US" sz="2400" b="1" dirty="0">
                <a:solidFill>
                  <a:srgbClr val="0C1670"/>
                </a:solidFill>
                <a:latin typeface="Arial" pitchFamily="34" charset="0"/>
                <a:ea typeface="Arial" pitchFamily="34" charset="-122"/>
                <a:cs typeface="Arial" pitchFamily="34" charset="-120"/>
              </a:rPr>
              <a:t>Atonia e choque</a:t>
            </a:r>
            <a:endParaRPr lang="en-US" sz="2400" dirty="0"/>
          </a:p>
        </p:txBody>
      </p:sp>
      <p:sp>
        <p:nvSpPr>
          <p:cNvPr id="14" name="Text 12"/>
          <p:cNvSpPr txBox="1"/>
          <p:nvPr/>
        </p:nvSpPr>
        <p:spPr>
          <a:xfrm>
            <a:off x="6169000" y="3694176"/>
            <a:ext cx="2627300" cy="777240"/>
          </a:xfrm>
          <a:prstGeom prst="rect">
            <a:avLst/>
          </a:prstGeom>
          <a:noFill/>
          <a:ln/>
        </p:spPr>
        <p:txBody>
          <a:bodyPr wrap="square" lIns="0" tIns="0" rIns="0" bIns="0" rtlCol="0" anchor="t"/>
          <a:lstStyle/>
          <a:p>
            <a:pPr algn="ctr" indent="0" marL="0">
              <a:buNone/>
            </a:pPr>
            <a:r>
              <a:rPr lang="en-US" sz="2400" dirty="0">
                <a:solidFill>
                  <a:srgbClr val="0C1670"/>
                </a:solidFill>
                <a:latin typeface="Arial" pitchFamily="34" charset="0"/>
                <a:ea typeface="Arial" pitchFamily="34" charset="-122"/>
                <a:cs typeface="Arial" pitchFamily="34" charset="-120"/>
              </a:rPr>
              <a:t>PA 60/30 · FC 145</a:t>
            </a:r>
            <a:endParaRPr lang="en-US" sz="2400" dirty="0"/>
          </a:p>
        </p:txBody>
      </p:sp>
      <p:sp>
        <p:nvSpPr>
          <p:cNvPr id="15" name="Text 13"/>
          <p:cNvSpPr/>
          <p:nvPr/>
        </p:nvSpPr>
        <p:spPr>
          <a:xfrm>
            <a:off x="9844773" y="1938528"/>
            <a:ext cx="822960" cy="822960"/>
          </a:xfrm>
          <a:prstGeom prst="ellipse">
            <a:avLst/>
          </a:prstGeom>
          <a:solidFill>
            <a:srgbClr val="0C1670"/>
          </a:solidFill>
          <a:ln>
            <a:solidFill>
              <a:srgbClr val="0C1670"/>
            </a:solidFill>
          </a:ln>
        </p:spPr>
        <p:txBody>
          <a:bodyPr wrap="square" lIns="0" tIns="0" rIns="0" bIns="0" rtlCol="0" anchor="ctr"/>
          <a:lstStyle/>
          <a:p>
            <a:pPr algn="ctr" indent="0" marL="0">
              <a:buNone/>
            </a:pPr>
            <a:r>
              <a:rPr lang="en-US" sz="3000" b="1" dirty="0">
                <a:solidFill>
                  <a:srgbClr val="FFD0F5"/>
                </a:solidFill>
                <a:latin typeface="Arial" pitchFamily="34" charset="0"/>
                <a:ea typeface="Arial" pitchFamily="34" charset="-122"/>
                <a:cs typeface="Arial" pitchFamily="34" charset="-120"/>
              </a:rPr>
              <a:t>4</a:t>
            </a:r>
            <a:endParaRPr lang="en-US" sz="3000" dirty="0"/>
          </a:p>
        </p:txBody>
      </p:sp>
      <p:sp>
        <p:nvSpPr>
          <p:cNvPr id="16" name="Text 14"/>
          <p:cNvSpPr txBox="1"/>
          <p:nvPr/>
        </p:nvSpPr>
        <p:spPr>
          <a:xfrm>
            <a:off x="8942603" y="2898648"/>
            <a:ext cx="2627300" cy="777240"/>
          </a:xfrm>
          <a:prstGeom prst="rect">
            <a:avLst/>
          </a:prstGeom>
          <a:noFill/>
          <a:ln/>
        </p:spPr>
        <p:txBody>
          <a:bodyPr wrap="square" lIns="0" tIns="0" rIns="0" bIns="0" rtlCol="0" anchor="t"/>
          <a:lstStyle/>
          <a:p>
            <a:pPr algn="ctr" indent="0" marL="0">
              <a:buNone/>
            </a:pPr>
            <a:r>
              <a:rPr lang="en-US" sz="2400" b="1" dirty="0">
                <a:solidFill>
                  <a:srgbClr val="0C1670"/>
                </a:solidFill>
                <a:latin typeface="Arial" pitchFamily="34" charset="0"/>
                <a:ea typeface="Arial" pitchFamily="34" charset="-122"/>
                <a:cs typeface="Arial" pitchFamily="34" charset="-120"/>
              </a:rPr>
              <a:t>Histerectomia subtotal</a:t>
            </a:r>
            <a:endParaRPr lang="en-US" sz="2400" dirty="0"/>
          </a:p>
        </p:txBody>
      </p:sp>
      <p:sp>
        <p:nvSpPr>
          <p:cNvPr id="17" name="Text 15"/>
          <p:cNvSpPr txBox="1"/>
          <p:nvPr/>
        </p:nvSpPr>
        <p:spPr>
          <a:xfrm>
            <a:off x="8942603" y="3694176"/>
            <a:ext cx="2627300" cy="777240"/>
          </a:xfrm>
          <a:prstGeom prst="rect">
            <a:avLst/>
          </a:prstGeom>
          <a:noFill/>
          <a:ln/>
        </p:spPr>
        <p:txBody>
          <a:bodyPr wrap="square" lIns="0" tIns="0" rIns="0" bIns="0" rtlCol="0" anchor="t"/>
          <a:lstStyle/>
          <a:p>
            <a:pPr algn="ctr" indent="0" marL="0">
              <a:buNone/>
            </a:pPr>
            <a:r>
              <a:rPr lang="en-US" sz="2400" dirty="0">
                <a:solidFill>
                  <a:srgbClr val="0C1670"/>
                </a:solidFill>
                <a:latin typeface="Arial" pitchFamily="34" charset="0"/>
                <a:ea typeface="Arial" pitchFamily="34" charset="-122"/>
                <a:cs typeface="Arial" pitchFamily="34" charset="-120"/>
              </a:rPr>
              <a:t>4 CH + 2 PFC</a:t>
            </a:r>
            <a:endParaRPr lang="en-US" sz="2400" dirty="0"/>
          </a:p>
        </p:txBody>
      </p:sp>
      <p:sp>
        <p:nvSpPr>
          <p:cNvPr id="18" name="Shape 16"/>
          <p:cNvSpPr/>
          <p:nvPr/>
        </p:nvSpPr>
        <p:spPr>
          <a:xfrm>
            <a:off x="548640" y="4626864"/>
            <a:ext cx="11094415" cy="868680"/>
          </a:xfrm>
          <a:prstGeom prst="roundRect">
            <a:avLst>
              <a:gd name="adj" fmla="val 21053"/>
            </a:avLst>
          </a:prstGeom>
          <a:solidFill>
            <a:srgbClr val="0C1670"/>
          </a:solidFill>
          <a:ln w="12700">
            <a:solidFill>
              <a:srgbClr val="0C1670"/>
            </a:solidFill>
            <a:prstDash val="solid"/>
          </a:ln>
        </p:spPr>
      </p:sp>
      <p:sp>
        <p:nvSpPr>
          <p:cNvPr id="19" name="Text 17"/>
          <p:cNvSpPr txBox="1"/>
          <p:nvPr/>
        </p:nvSpPr>
        <p:spPr>
          <a:xfrm>
            <a:off x="822960" y="4626864"/>
            <a:ext cx="10545775" cy="868680"/>
          </a:xfrm>
          <a:prstGeom prst="rect">
            <a:avLst/>
          </a:prstGeom>
          <a:noFill/>
          <a:ln/>
        </p:spPr>
        <p:txBody>
          <a:bodyPr wrap="square" lIns="0" tIns="0" rIns="0" bIns="0" rtlCol="0" anchor="ctr"/>
          <a:lstStyle/>
          <a:p>
            <a:pPr algn="ctr" indent="0" marL="0">
              <a:buNone/>
            </a:pPr>
            <a:r>
              <a:rPr lang="en-US" sz="2600" dirty="0">
                <a:solidFill>
                  <a:srgbClr val="FFFFFF"/>
                </a:solidFill>
                <a:latin typeface="Arial" pitchFamily="34" charset="0"/>
                <a:ea typeface="Arial" pitchFamily="34" charset="-122"/>
                <a:cs typeface="Arial" pitchFamily="34" charset="-120"/>
              </a:rPr>
              <a:t>Saiu viva para a UTI. </a:t>
            </a:r>
            <a:pPr algn="ctr" indent="0" marL="0">
              <a:buNone/>
            </a:pPr>
            <a:r>
              <a:rPr lang="en-US" sz="2600" b="1" dirty="0">
                <a:solidFill>
                  <a:srgbClr val="FFD0F5"/>
                </a:solidFill>
                <a:latin typeface="Arial" pitchFamily="34" charset="0"/>
                <a:ea typeface="Arial" pitchFamily="34" charset="-122"/>
                <a:cs typeface="Arial" pitchFamily="34" charset="-120"/>
              </a:rPr>
              <a:t>Sem o útero, aos 12 anos.</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6 · OPÇÃO A (mais fiel ao modelo) — dois números grandes + os três eixos do modelo</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DISCUSSÃO</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Biologia somada a abandono</a:t>
            </a:r>
            <a:endParaRPr lang="en-US" sz="3200" dirty="0"/>
          </a:p>
        </p:txBody>
      </p:sp>
      <p:sp>
        <p:nvSpPr>
          <p:cNvPr id="5" name="Shape 3"/>
          <p:cNvSpPr/>
          <p:nvPr/>
        </p:nvSpPr>
        <p:spPr>
          <a:xfrm>
            <a:off x="548640" y="1938528"/>
            <a:ext cx="5409590" cy="2103120"/>
          </a:xfrm>
          <a:prstGeom prst="roundRect">
            <a:avLst>
              <a:gd name="adj" fmla="val 13043"/>
            </a:avLst>
          </a:prstGeom>
          <a:solidFill>
            <a:srgbClr val="0C1670"/>
          </a:solidFill>
          <a:ln w="12700">
            <a:solidFill>
              <a:srgbClr val="0C1670"/>
            </a:solidFill>
            <a:prstDash val="solid"/>
          </a:ln>
        </p:spPr>
      </p:sp>
      <p:sp>
        <p:nvSpPr>
          <p:cNvPr id="6" name="Shape 4"/>
          <p:cNvSpPr/>
          <p:nvPr/>
        </p:nvSpPr>
        <p:spPr>
          <a:xfrm>
            <a:off x="6233465" y="1938528"/>
            <a:ext cx="5409590" cy="2103120"/>
          </a:xfrm>
          <a:prstGeom prst="roundRect">
            <a:avLst>
              <a:gd name="adj" fmla="val 13043"/>
            </a:avLst>
          </a:prstGeom>
          <a:solidFill>
            <a:srgbClr val="0C1670"/>
          </a:solidFill>
          <a:ln w="12700">
            <a:solidFill>
              <a:srgbClr val="0C1670"/>
            </a:solidFill>
            <a:prstDash val="solid"/>
          </a:ln>
        </p:spPr>
      </p:sp>
      <p:sp>
        <p:nvSpPr>
          <p:cNvPr id="7" name="Text 5"/>
          <p:cNvSpPr txBox="1"/>
          <p:nvPr/>
        </p:nvSpPr>
        <p:spPr>
          <a:xfrm>
            <a:off x="822960" y="2029968"/>
            <a:ext cx="4860950" cy="1143000"/>
          </a:xfrm>
          <a:prstGeom prst="rect">
            <a:avLst/>
          </a:prstGeom>
          <a:noFill/>
          <a:ln/>
        </p:spPr>
        <p:txBody>
          <a:bodyPr wrap="square" lIns="0" tIns="0" rIns="0" bIns="0" rtlCol="0" anchor="ctr"/>
          <a:lstStyle/>
          <a:p>
            <a:pPr algn="ctr" indent="0" marL="0">
              <a:buNone/>
            </a:pPr>
            <a:r>
              <a:rPr lang="en-US" sz="8000" b="1" dirty="0">
                <a:solidFill>
                  <a:srgbClr val="FFD0F5"/>
                </a:solidFill>
                <a:latin typeface="Arial" pitchFamily="34" charset="0"/>
                <a:ea typeface="Arial" pitchFamily="34" charset="-122"/>
                <a:cs typeface="Arial" pitchFamily="34" charset="-120"/>
              </a:rPr>
              <a:t>188</a:t>
            </a:r>
            <a:endParaRPr lang="en-US" sz="8000" dirty="0"/>
          </a:p>
        </p:txBody>
      </p:sp>
      <p:sp>
        <p:nvSpPr>
          <p:cNvPr id="8" name="Text 6"/>
          <p:cNvSpPr txBox="1"/>
          <p:nvPr/>
        </p:nvSpPr>
        <p:spPr>
          <a:xfrm>
            <a:off x="822960" y="3154680"/>
            <a:ext cx="4860950" cy="822960"/>
          </a:xfrm>
          <a:prstGeom prst="rect">
            <a:avLst/>
          </a:prstGeom>
          <a:noFill/>
          <a:ln/>
        </p:spPr>
        <p:txBody>
          <a:bodyPr wrap="square" lIns="0" tIns="0" rIns="0" bIns="0" rtlCol="0" anchor="t"/>
          <a:lstStyle/>
          <a:p>
            <a:pPr algn="ctr" indent="0" marL="0">
              <a:buNone/>
            </a:pPr>
            <a:r>
              <a:rPr lang="en-US" sz="2400" dirty="0">
                <a:solidFill>
                  <a:srgbClr val="FFFFFF"/>
                </a:solidFill>
                <a:latin typeface="Arial" pitchFamily="34" charset="0"/>
                <a:ea typeface="Arial" pitchFamily="34" charset="-122"/>
                <a:cs typeface="Arial" pitchFamily="34" charset="-120"/>
              </a:rPr>
              <a:t>nascidos vivos de mães de até 14 anos · ES, 2024</a:t>
            </a:r>
            <a:endParaRPr lang="en-US" sz="2400" dirty="0"/>
          </a:p>
        </p:txBody>
      </p:sp>
      <p:sp>
        <p:nvSpPr>
          <p:cNvPr id="9" name="Text 7"/>
          <p:cNvSpPr txBox="1"/>
          <p:nvPr/>
        </p:nvSpPr>
        <p:spPr>
          <a:xfrm>
            <a:off x="6507785" y="2029968"/>
            <a:ext cx="4860950" cy="1143000"/>
          </a:xfrm>
          <a:prstGeom prst="rect">
            <a:avLst/>
          </a:prstGeom>
          <a:noFill/>
          <a:ln/>
        </p:spPr>
        <p:txBody>
          <a:bodyPr wrap="square" lIns="0" tIns="0" rIns="0" bIns="0" rtlCol="0" anchor="ctr"/>
          <a:lstStyle/>
          <a:p>
            <a:pPr algn="ctr" indent="0" marL="0">
              <a:buNone/>
            </a:pPr>
            <a:r>
              <a:rPr lang="en-US" sz="8000" b="1" dirty="0">
                <a:solidFill>
                  <a:srgbClr val="FFD0F5"/>
                </a:solidFill>
                <a:latin typeface="Arial" pitchFamily="34" charset="0"/>
                <a:ea typeface="Arial" pitchFamily="34" charset="-122"/>
                <a:cs typeface="Arial" pitchFamily="34" charset="-120"/>
              </a:rPr>
              <a:t>1</a:t>
            </a:r>
            <a:pPr algn="ctr" indent="0" marL="0">
              <a:buNone/>
            </a:pPr>
            <a:r>
              <a:rPr lang="en-US" sz="3200" b="1" dirty="0">
                <a:solidFill>
                  <a:srgbClr val="FFD0F5"/>
                </a:solidFill>
                <a:latin typeface="Arial" pitchFamily="34" charset="0"/>
                <a:ea typeface="Arial" pitchFamily="34" charset="-122"/>
                <a:cs typeface="Arial" pitchFamily="34" charset="-120"/>
              </a:rPr>
              <a:t> a cada </a:t>
            </a:r>
            <a:pPr algn="ctr" indent="0" marL="0">
              <a:buNone/>
            </a:pPr>
            <a:r>
              <a:rPr lang="en-US" sz="8000" b="1" dirty="0">
                <a:solidFill>
                  <a:srgbClr val="FFD0F5"/>
                </a:solidFill>
                <a:latin typeface="Arial" pitchFamily="34" charset="0"/>
                <a:ea typeface="Arial" pitchFamily="34" charset="-122"/>
                <a:cs typeface="Arial" pitchFamily="34" charset="-120"/>
              </a:rPr>
              <a:t>2</a:t>
            </a:r>
            <a:pPr algn="ctr" indent="0" marL="0">
              <a:buNone/>
            </a:pPr>
            <a:r>
              <a:rPr lang="en-US" sz="3200" b="1" dirty="0">
                <a:solidFill>
                  <a:srgbClr val="FFD0F5"/>
                </a:solidFill>
                <a:latin typeface="Arial" pitchFamily="34" charset="0"/>
                <a:ea typeface="Arial" pitchFamily="34" charset="-122"/>
                <a:cs typeface="Arial" pitchFamily="34" charset="-120"/>
              </a:rPr>
              <a:t> dias</a:t>
            </a:r>
            <a:endParaRPr lang="en-US" sz="8000" dirty="0"/>
          </a:p>
        </p:txBody>
      </p:sp>
      <p:sp>
        <p:nvSpPr>
          <p:cNvPr id="10" name="Text 8"/>
          <p:cNvSpPr txBox="1"/>
          <p:nvPr/>
        </p:nvSpPr>
        <p:spPr>
          <a:xfrm>
            <a:off x="6507785" y="3154680"/>
            <a:ext cx="4860950" cy="822960"/>
          </a:xfrm>
          <a:prstGeom prst="rect">
            <a:avLst/>
          </a:prstGeom>
          <a:noFill/>
          <a:ln/>
        </p:spPr>
        <p:txBody>
          <a:bodyPr wrap="square" lIns="0" tIns="0" rIns="0" bIns="0" rtlCol="0" anchor="t"/>
          <a:lstStyle/>
          <a:p>
            <a:pPr algn="ctr" indent="0" marL="0">
              <a:buNone/>
            </a:pPr>
            <a:r>
              <a:rPr lang="en-US" sz="2400" dirty="0">
                <a:solidFill>
                  <a:srgbClr val="FFFFFF"/>
                </a:solidFill>
                <a:latin typeface="Arial" pitchFamily="34" charset="0"/>
                <a:ea typeface="Arial" pitchFamily="34" charset="-122"/>
                <a:cs typeface="Arial" pitchFamily="34" charset="-120"/>
              </a:rPr>
              <a:t>uma menina-mãe no Espírito Santo</a:t>
            </a:r>
            <a:endParaRPr lang="en-US" sz="2400" dirty="0"/>
          </a:p>
        </p:txBody>
      </p:sp>
      <p:sp>
        <p:nvSpPr>
          <p:cNvPr id="11" name="Shape 9"/>
          <p:cNvSpPr/>
          <p:nvPr/>
        </p:nvSpPr>
        <p:spPr>
          <a:xfrm>
            <a:off x="548640" y="4224528"/>
            <a:ext cx="3514039" cy="1143000"/>
          </a:xfrm>
          <a:prstGeom prst="roundRect">
            <a:avLst>
              <a:gd name="adj" fmla="val 17600"/>
            </a:avLst>
          </a:prstGeom>
          <a:solidFill>
            <a:srgbClr val="FFE9FA"/>
          </a:solidFill>
          <a:ln w="12700">
            <a:solidFill>
              <a:srgbClr val="FFE9FA"/>
            </a:solidFill>
            <a:prstDash val="solid"/>
          </a:ln>
        </p:spPr>
      </p:sp>
      <p:sp>
        <p:nvSpPr>
          <p:cNvPr id="12" name="Text 10"/>
          <p:cNvSpPr txBox="1"/>
          <p:nvPr/>
        </p:nvSpPr>
        <p:spPr>
          <a:xfrm>
            <a:off x="731520" y="4224528"/>
            <a:ext cx="3148279" cy="1143000"/>
          </a:xfrm>
          <a:prstGeom prst="rect">
            <a:avLst/>
          </a:prstGeom>
          <a:noFill/>
          <a:ln/>
        </p:spPr>
        <p:txBody>
          <a:bodyPr wrap="square" lIns="0" tIns="0" rIns="0" bIns="0" rtlCol="0" anchor="ctr"/>
          <a:lstStyle/>
          <a:p>
            <a:pPr algn="ctr" indent="0" marL="0">
              <a:buNone/>
            </a:pPr>
            <a:r>
              <a:rPr lang="en-US" sz="2400" b="1" dirty="0">
                <a:solidFill>
                  <a:srgbClr val="0C1670"/>
                </a:solidFill>
                <a:latin typeface="Arial" pitchFamily="34" charset="0"/>
                <a:ea typeface="Arial" pitchFamily="34" charset="-122"/>
                <a:cs typeface="Arial" pitchFamily="34" charset="-120"/>
              </a:rPr>
              <a:t>Imaturidade vascular e uterina</a:t>
            </a:r>
            <a:endParaRPr lang="en-US" sz="2400" dirty="0"/>
          </a:p>
        </p:txBody>
      </p:sp>
      <p:sp>
        <p:nvSpPr>
          <p:cNvPr id="13" name="Shape 11"/>
          <p:cNvSpPr/>
          <p:nvPr/>
        </p:nvSpPr>
        <p:spPr>
          <a:xfrm>
            <a:off x="4338828" y="4224528"/>
            <a:ext cx="3514039" cy="1143000"/>
          </a:xfrm>
          <a:prstGeom prst="roundRect">
            <a:avLst>
              <a:gd name="adj" fmla="val 17600"/>
            </a:avLst>
          </a:prstGeom>
          <a:solidFill>
            <a:srgbClr val="FFE9FA"/>
          </a:solidFill>
          <a:ln w="12700">
            <a:solidFill>
              <a:srgbClr val="FFE9FA"/>
            </a:solidFill>
            <a:prstDash val="solid"/>
          </a:ln>
        </p:spPr>
      </p:sp>
      <p:sp>
        <p:nvSpPr>
          <p:cNvPr id="14" name="Text 12"/>
          <p:cNvSpPr txBox="1"/>
          <p:nvPr/>
        </p:nvSpPr>
        <p:spPr>
          <a:xfrm>
            <a:off x="4521708" y="4224528"/>
            <a:ext cx="3148279" cy="1143000"/>
          </a:xfrm>
          <a:prstGeom prst="rect">
            <a:avLst/>
          </a:prstGeom>
          <a:noFill/>
          <a:ln/>
        </p:spPr>
        <p:txBody>
          <a:bodyPr wrap="square" lIns="0" tIns="0" rIns="0" bIns="0" rtlCol="0" anchor="ctr"/>
          <a:lstStyle/>
          <a:p>
            <a:pPr algn="ctr" indent="0" marL="0">
              <a:buNone/>
            </a:pPr>
            <a:r>
              <a:rPr lang="en-US" sz="2400" b="1" dirty="0">
                <a:solidFill>
                  <a:srgbClr val="0C1670"/>
                </a:solidFill>
                <a:latin typeface="Arial" pitchFamily="34" charset="0"/>
                <a:ea typeface="Arial" pitchFamily="34" charset="-122"/>
                <a:cs typeface="Arial" pitchFamily="34" charset="-120"/>
              </a:rPr>
              <a:t>Fertilidade perdida aos 12 anos</a:t>
            </a:r>
            <a:endParaRPr lang="en-US" sz="2400" dirty="0"/>
          </a:p>
        </p:txBody>
      </p:sp>
      <p:sp>
        <p:nvSpPr>
          <p:cNvPr id="15" name="Shape 13"/>
          <p:cNvSpPr/>
          <p:nvPr/>
        </p:nvSpPr>
        <p:spPr>
          <a:xfrm>
            <a:off x="8129016" y="4224528"/>
            <a:ext cx="3514039" cy="1143000"/>
          </a:xfrm>
          <a:prstGeom prst="roundRect">
            <a:avLst>
              <a:gd name="adj" fmla="val 17600"/>
            </a:avLst>
          </a:prstGeom>
          <a:solidFill>
            <a:srgbClr val="FFE9FA"/>
          </a:solidFill>
          <a:ln w="12700">
            <a:solidFill>
              <a:srgbClr val="FFE9FA"/>
            </a:solidFill>
            <a:prstDash val="solid"/>
          </a:ln>
        </p:spPr>
      </p:sp>
      <p:sp>
        <p:nvSpPr>
          <p:cNvPr id="16" name="Text 14"/>
          <p:cNvSpPr txBox="1"/>
          <p:nvPr/>
        </p:nvSpPr>
        <p:spPr>
          <a:xfrm>
            <a:off x="8311896" y="4224528"/>
            <a:ext cx="3148279" cy="1143000"/>
          </a:xfrm>
          <a:prstGeom prst="rect">
            <a:avLst/>
          </a:prstGeom>
          <a:noFill/>
          <a:ln/>
        </p:spPr>
        <p:txBody>
          <a:bodyPr wrap="square" lIns="0" tIns="0" rIns="0" bIns="0" rtlCol="0" anchor="ctr"/>
          <a:lstStyle/>
          <a:p>
            <a:pPr algn="ctr" indent="0" marL="0">
              <a:buNone/>
            </a:pPr>
            <a:r>
              <a:rPr lang="en-US" sz="2400" b="1" dirty="0">
                <a:solidFill>
                  <a:srgbClr val="0C1670"/>
                </a:solidFill>
                <a:latin typeface="Arial" pitchFamily="34" charset="0"/>
                <a:ea typeface="Arial" pitchFamily="34" charset="-122"/>
                <a:cs typeface="Arial" pitchFamily="34" charset="-120"/>
              </a:rPr>
              <a:t>Trauma: seguimento de longo prazo</a:t>
            </a:r>
            <a:endParaRPr lang="en-US" sz="2400" dirty="0"/>
          </a:p>
        </p:txBody>
      </p:sp>
      <p:sp>
        <p:nvSpPr>
          <p:cNvPr id="17" name="Text 15"/>
          <p:cNvSpPr txBox="1"/>
          <p:nvPr/>
        </p:nvSpPr>
        <p:spPr>
          <a:xfrm>
            <a:off x="548640" y="5468112"/>
            <a:ext cx="11091672" cy="329184"/>
          </a:xfrm>
          <a:prstGeom prst="rect">
            <a:avLst/>
          </a:prstGeom>
          <a:noFill/>
          <a:ln/>
        </p:spPr>
        <p:txBody>
          <a:bodyPr wrap="square" lIns="0" tIns="0" rIns="0" bIns="0" rtlCol="0" anchor="b"/>
          <a:lstStyle/>
          <a:p>
            <a:pPr indent="0" marL="0">
              <a:buNone/>
            </a:pPr>
            <a:r>
              <a:rPr lang="en-US" sz="1100" i="1" dirty="0">
                <a:solidFill>
                  <a:srgbClr val="0C1670"/>
                </a:solidFill>
                <a:latin typeface="Arial" pitchFamily="34" charset="0"/>
                <a:ea typeface="Arial" pitchFamily="34" charset="-122"/>
                <a:cs typeface="Arial" pitchFamily="34" charset="-120"/>
              </a:rPr>
              <a:t>Fonte: Painel de Monitoramento de Nascidos Vivos (SINASC/MS), ES, 2024, em levantamento da NPLA (2025). Razão 188 ÷ 366 dias: cálculo dos autores.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6 · OPÇÃO B (recurso visual diferente) — 1973 → 2024 (acompanha a abertura da fala) + cadeia de consequências</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DISCUSSÃO</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Biologia somada a abandono</a:t>
            </a:r>
            <a:endParaRPr lang="en-US" sz="3200" dirty="0"/>
          </a:p>
        </p:txBody>
      </p:sp>
      <p:sp>
        <p:nvSpPr>
          <p:cNvPr id="5" name="Shape 3"/>
          <p:cNvSpPr/>
          <p:nvPr/>
        </p:nvSpPr>
        <p:spPr>
          <a:xfrm>
            <a:off x="548640" y="1938528"/>
            <a:ext cx="4526280" cy="2194560"/>
          </a:xfrm>
          <a:prstGeom prst="roundRect">
            <a:avLst>
              <a:gd name="adj" fmla="val 12500"/>
            </a:avLst>
          </a:prstGeom>
          <a:solidFill>
            <a:srgbClr val="FFE9FA"/>
          </a:solidFill>
          <a:ln w="12700">
            <a:solidFill>
              <a:srgbClr val="FFE9FA"/>
            </a:solidFill>
            <a:prstDash val="solid"/>
          </a:ln>
        </p:spPr>
      </p:sp>
      <p:sp>
        <p:nvSpPr>
          <p:cNvPr id="6" name="Text 4"/>
          <p:cNvSpPr txBox="1"/>
          <p:nvPr/>
        </p:nvSpPr>
        <p:spPr>
          <a:xfrm>
            <a:off x="822960" y="2048256"/>
            <a:ext cx="4297680" cy="868680"/>
          </a:xfrm>
          <a:prstGeom prst="rect">
            <a:avLst/>
          </a:prstGeom>
          <a:noFill/>
          <a:ln/>
        </p:spPr>
        <p:txBody>
          <a:bodyPr wrap="square" lIns="0" tIns="0" rIns="0" bIns="0" rtlCol="0" anchor="t"/>
          <a:lstStyle/>
          <a:p>
            <a:pPr indent="0" marL="0">
              <a:buNone/>
            </a:pPr>
            <a:r>
              <a:rPr lang="en-US" sz="6000" b="1" dirty="0">
                <a:solidFill>
                  <a:srgbClr val="0C1670"/>
                </a:solidFill>
                <a:latin typeface="Arial" pitchFamily="34" charset="0"/>
                <a:ea typeface="Arial" pitchFamily="34" charset="-122"/>
                <a:cs typeface="Arial" pitchFamily="34" charset="-120"/>
              </a:rPr>
              <a:t>1973</a:t>
            </a:r>
            <a:endParaRPr lang="en-US" sz="6000" dirty="0"/>
          </a:p>
        </p:txBody>
      </p:sp>
      <p:sp>
        <p:nvSpPr>
          <p:cNvPr id="7" name="Text 5"/>
          <p:cNvSpPr txBox="1"/>
          <p:nvPr/>
        </p:nvSpPr>
        <p:spPr>
          <a:xfrm>
            <a:off x="822960" y="2990088"/>
            <a:ext cx="4069080" cy="1005840"/>
          </a:xfrm>
          <a:prstGeom prst="rect">
            <a:avLst/>
          </a:prstGeom>
          <a:noFill/>
          <a:ln/>
        </p:spPr>
        <p:txBody>
          <a:bodyPr wrap="square" lIns="0" tIns="0" rIns="0" bIns="0" rtlCol="0" anchor="t"/>
          <a:lstStyle/>
          <a:p>
            <a:pPr indent="0" marL="0">
              <a:buNone/>
            </a:pPr>
            <a:r>
              <a:rPr lang="en-US" sz="2400" dirty="0">
                <a:solidFill>
                  <a:srgbClr val="0C1670"/>
                </a:solidFill>
                <a:latin typeface="Arial" pitchFamily="34" charset="0"/>
                <a:ea typeface="Arial" pitchFamily="34" charset="-122"/>
                <a:cs typeface="Arial" pitchFamily="34" charset="-120"/>
              </a:rPr>
              <a:t>Vitória, caso Araceli, 8 anos: a origem do 18 de maio</a:t>
            </a:r>
            <a:endParaRPr lang="en-US" sz="2400" dirty="0"/>
          </a:p>
        </p:txBody>
      </p:sp>
      <p:sp>
        <p:nvSpPr>
          <p:cNvPr id="8" name="Shape 6"/>
          <p:cNvSpPr/>
          <p:nvPr/>
        </p:nvSpPr>
        <p:spPr>
          <a:xfrm>
            <a:off x="5458968" y="2990088"/>
            <a:ext cx="1280160" cy="548640"/>
          </a:xfrm>
          <a:prstGeom prst="rightArrow">
            <a:avLst/>
          </a:prstGeom>
          <a:solidFill>
            <a:srgbClr val="0C1670"/>
          </a:solidFill>
          <a:ln w="12700">
            <a:solidFill>
              <a:srgbClr val="0C1670"/>
            </a:solidFill>
            <a:prstDash val="solid"/>
          </a:ln>
        </p:spPr>
      </p:sp>
      <p:sp>
        <p:nvSpPr>
          <p:cNvPr id="9" name="Text 7"/>
          <p:cNvSpPr txBox="1"/>
          <p:nvPr/>
        </p:nvSpPr>
        <p:spPr>
          <a:xfrm>
            <a:off x="5230368" y="2487168"/>
            <a:ext cx="1737360" cy="411480"/>
          </a:xfrm>
          <a:prstGeom prst="rect">
            <a:avLst/>
          </a:prstGeom>
          <a:noFill/>
          <a:ln/>
        </p:spPr>
        <p:txBody>
          <a:bodyPr wrap="square" lIns="0" tIns="0" rIns="0" bIns="0" rtlCol="0" anchor="t"/>
          <a:lstStyle/>
          <a:p>
            <a:pPr algn="ctr" indent="0" marL="0">
              <a:buNone/>
            </a:pPr>
            <a:r>
              <a:rPr lang="en-US" sz="2400" b="1" dirty="0">
                <a:solidFill>
                  <a:srgbClr val="0C1670"/>
                </a:solidFill>
                <a:latin typeface="Arial" pitchFamily="34" charset="0"/>
                <a:ea typeface="Arial" pitchFamily="34" charset="-122"/>
                <a:cs typeface="Arial" pitchFamily="34" charset="-120"/>
              </a:rPr>
              <a:t>+ 50 anos</a:t>
            </a:r>
            <a:endParaRPr lang="en-US" sz="2400" dirty="0"/>
          </a:p>
        </p:txBody>
      </p:sp>
      <p:sp>
        <p:nvSpPr>
          <p:cNvPr id="10" name="Shape 8"/>
          <p:cNvSpPr/>
          <p:nvPr/>
        </p:nvSpPr>
        <p:spPr>
          <a:xfrm>
            <a:off x="7114032" y="1938528"/>
            <a:ext cx="4526280" cy="2194560"/>
          </a:xfrm>
          <a:prstGeom prst="roundRect">
            <a:avLst>
              <a:gd name="adj" fmla="val 12500"/>
            </a:avLst>
          </a:prstGeom>
          <a:solidFill>
            <a:srgbClr val="0C1670"/>
          </a:solidFill>
          <a:ln w="12700">
            <a:solidFill>
              <a:srgbClr val="0C1670"/>
            </a:solidFill>
            <a:prstDash val="solid"/>
          </a:ln>
        </p:spPr>
      </p:sp>
      <p:sp>
        <p:nvSpPr>
          <p:cNvPr id="11" name="Text 9"/>
          <p:cNvSpPr txBox="1"/>
          <p:nvPr/>
        </p:nvSpPr>
        <p:spPr>
          <a:xfrm>
            <a:off x="7388352" y="2048256"/>
            <a:ext cx="4023360" cy="868680"/>
          </a:xfrm>
          <a:prstGeom prst="rect">
            <a:avLst/>
          </a:prstGeom>
          <a:noFill/>
          <a:ln/>
        </p:spPr>
        <p:txBody>
          <a:bodyPr wrap="square" lIns="0" tIns="0" rIns="0" bIns="0" rtlCol="0" anchor="t"/>
          <a:lstStyle/>
          <a:p>
            <a:pPr indent="0" marL="0">
              <a:buNone/>
            </a:pPr>
            <a:r>
              <a:rPr lang="en-US" sz="6000" b="1" dirty="0">
                <a:solidFill>
                  <a:srgbClr val="FFD0F5"/>
                </a:solidFill>
                <a:latin typeface="Arial" pitchFamily="34" charset="0"/>
                <a:ea typeface="Arial" pitchFamily="34" charset="-122"/>
                <a:cs typeface="Arial" pitchFamily="34" charset="-120"/>
              </a:rPr>
              <a:t>2024</a:t>
            </a:r>
            <a:endParaRPr lang="en-US" sz="6000" dirty="0"/>
          </a:p>
        </p:txBody>
      </p:sp>
      <p:sp>
        <p:nvSpPr>
          <p:cNvPr id="12" name="Text 10"/>
          <p:cNvSpPr txBox="1"/>
          <p:nvPr/>
        </p:nvSpPr>
        <p:spPr>
          <a:xfrm>
            <a:off x="7388352" y="2990088"/>
            <a:ext cx="4069080" cy="100584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188 meninas-mães no ES: </a:t>
            </a:r>
            <a:pPr indent="0" marL="0">
              <a:buNone/>
            </a:pPr>
            <a:r>
              <a:rPr lang="en-US" sz="2400" b="1" dirty="0">
                <a:solidFill>
                  <a:srgbClr val="FFD0F5"/>
                </a:solidFill>
                <a:latin typeface="Arial" pitchFamily="34" charset="0"/>
                <a:ea typeface="Arial" pitchFamily="34" charset="-122"/>
                <a:cs typeface="Arial" pitchFamily="34" charset="-120"/>
              </a:rPr>
              <a:t>1 a cada 2 dias</a:t>
            </a:r>
            <a:endParaRPr lang="en-US" sz="2400" dirty="0"/>
          </a:p>
        </p:txBody>
      </p:sp>
      <p:sp>
        <p:nvSpPr>
          <p:cNvPr id="13" name="Shape 11"/>
          <p:cNvSpPr/>
          <p:nvPr/>
        </p:nvSpPr>
        <p:spPr>
          <a:xfrm>
            <a:off x="548640" y="4361688"/>
            <a:ext cx="2468880" cy="1005840"/>
          </a:xfrm>
          <a:prstGeom prst="roundRect">
            <a:avLst>
              <a:gd name="adj" fmla="val 18182"/>
            </a:avLst>
          </a:prstGeom>
          <a:solidFill>
            <a:srgbClr val="FFE9FA"/>
          </a:solidFill>
          <a:ln w="12700">
            <a:solidFill>
              <a:srgbClr val="FFE9FA"/>
            </a:solidFill>
            <a:prstDash val="solid"/>
          </a:ln>
        </p:spPr>
      </p:sp>
      <p:sp>
        <p:nvSpPr>
          <p:cNvPr id="14" name="Text 12"/>
          <p:cNvSpPr txBox="1"/>
          <p:nvPr/>
        </p:nvSpPr>
        <p:spPr>
          <a:xfrm>
            <a:off x="640080" y="4361688"/>
            <a:ext cx="2286000" cy="1005840"/>
          </a:xfrm>
          <a:prstGeom prst="rect">
            <a:avLst/>
          </a:prstGeom>
          <a:noFill/>
          <a:ln/>
        </p:spPr>
        <p:txBody>
          <a:bodyPr wrap="square" lIns="0" tIns="0" rIns="0" bIns="0" rtlCol="0" anchor="ctr"/>
          <a:lstStyle/>
          <a:p>
            <a:pPr algn="ctr" indent="0" marL="0">
              <a:buNone/>
            </a:pPr>
            <a:r>
              <a:rPr lang="en-US" sz="2400" b="1" dirty="0">
                <a:solidFill>
                  <a:srgbClr val="0C1670"/>
                </a:solidFill>
                <a:latin typeface="Arial" pitchFamily="34" charset="0"/>
                <a:ea typeface="Arial" pitchFamily="34" charset="-122"/>
                <a:cs typeface="Arial" pitchFamily="34" charset="-120"/>
              </a:rPr>
              <a:t>Corpo imaturo</a:t>
            </a:r>
            <a:endParaRPr lang="en-US" sz="2400" dirty="0"/>
          </a:p>
        </p:txBody>
      </p:sp>
      <p:sp>
        <p:nvSpPr>
          <p:cNvPr id="15" name="Shape 13"/>
          <p:cNvSpPr/>
          <p:nvPr/>
        </p:nvSpPr>
        <p:spPr>
          <a:xfrm>
            <a:off x="3072384" y="4700016"/>
            <a:ext cx="296570" cy="329184"/>
          </a:xfrm>
          <a:prstGeom prst="rightArrow">
            <a:avLst/>
          </a:prstGeom>
          <a:solidFill>
            <a:srgbClr val="0C1670"/>
          </a:solidFill>
          <a:ln w="12700">
            <a:solidFill>
              <a:srgbClr val="0C1670"/>
            </a:solidFill>
            <a:prstDash val="solid"/>
          </a:ln>
        </p:spPr>
      </p:sp>
      <p:sp>
        <p:nvSpPr>
          <p:cNvPr id="16" name="Shape 14"/>
          <p:cNvSpPr/>
          <p:nvPr/>
        </p:nvSpPr>
        <p:spPr>
          <a:xfrm>
            <a:off x="3423818" y="4361688"/>
            <a:ext cx="2468880" cy="1005840"/>
          </a:xfrm>
          <a:prstGeom prst="roundRect">
            <a:avLst>
              <a:gd name="adj" fmla="val 18182"/>
            </a:avLst>
          </a:prstGeom>
          <a:solidFill>
            <a:srgbClr val="FFE9FA"/>
          </a:solidFill>
          <a:ln w="12700">
            <a:solidFill>
              <a:srgbClr val="FFE9FA"/>
            </a:solidFill>
            <a:prstDash val="solid"/>
          </a:ln>
        </p:spPr>
      </p:sp>
      <p:sp>
        <p:nvSpPr>
          <p:cNvPr id="17" name="Text 15"/>
          <p:cNvSpPr txBox="1"/>
          <p:nvPr/>
        </p:nvSpPr>
        <p:spPr>
          <a:xfrm>
            <a:off x="3515258" y="4361688"/>
            <a:ext cx="2286000" cy="1005840"/>
          </a:xfrm>
          <a:prstGeom prst="rect">
            <a:avLst/>
          </a:prstGeom>
          <a:noFill/>
          <a:ln/>
        </p:spPr>
        <p:txBody>
          <a:bodyPr wrap="square" lIns="0" tIns="0" rIns="0" bIns="0" rtlCol="0" anchor="ctr"/>
          <a:lstStyle/>
          <a:p>
            <a:pPr algn="ctr" indent="0" marL="0">
              <a:buNone/>
            </a:pPr>
            <a:r>
              <a:rPr lang="en-US" sz="2400" b="1" dirty="0">
                <a:solidFill>
                  <a:srgbClr val="0C1670"/>
                </a:solidFill>
                <a:latin typeface="Arial" pitchFamily="34" charset="0"/>
                <a:ea typeface="Arial" pitchFamily="34" charset="-122"/>
                <a:cs typeface="Arial" pitchFamily="34" charset="-120"/>
              </a:rPr>
              <a:t>Sem pré-natal</a:t>
            </a:r>
            <a:endParaRPr lang="en-US" sz="2400" dirty="0"/>
          </a:p>
        </p:txBody>
      </p:sp>
      <p:sp>
        <p:nvSpPr>
          <p:cNvPr id="18" name="Shape 16"/>
          <p:cNvSpPr/>
          <p:nvPr/>
        </p:nvSpPr>
        <p:spPr>
          <a:xfrm>
            <a:off x="5947562" y="4700016"/>
            <a:ext cx="296570" cy="329184"/>
          </a:xfrm>
          <a:prstGeom prst="rightArrow">
            <a:avLst/>
          </a:prstGeom>
          <a:solidFill>
            <a:srgbClr val="0C1670"/>
          </a:solidFill>
          <a:ln w="12700">
            <a:solidFill>
              <a:srgbClr val="0C1670"/>
            </a:solidFill>
            <a:prstDash val="solid"/>
          </a:ln>
        </p:spPr>
      </p:sp>
      <p:sp>
        <p:nvSpPr>
          <p:cNvPr id="19" name="Shape 17"/>
          <p:cNvSpPr/>
          <p:nvPr/>
        </p:nvSpPr>
        <p:spPr>
          <a:xfrm>
            <a:off x="6298997" y="4361688"/>
            <a:ext cx="2468880" cy="1005840"/>
          </a:xfrm>
          <a:prstGeom prst="roundRect">
            <a:avLst>
              <a:gd name="adj" fmla="val 18182"/>
            </a:avLst>
          </a:prstGeom>
          <a:solidFill>
            <a:srgbClr val="FFE9FA"/>
          </a:solidFill>
          <a:ln w="12700">
            <a:solidFill>
              <a:srgbClr val="FFE9FA"/>
            </a:solidFill>
            <a:prstDash val="solid"/>
          </a:ln>
        </p:spPr>
      </p:sp>
      <p:sp>
        <p:nvSpPr>
          <p:cNvPr id="20" name="Text 18"/>
          <p:cNvSpPr txBox="1"/>
          <p:nvPr/>
        </p:nvSpPr>
        <p:spPr>
          <a:xfrm>
            <a:off x="6390437" y="4361688"/>
            <a:ext cx="2286000" cy="1005840"/>
          </a:xfrm>
          <a:prstGeom prst="rect">
            <a:avLst/>
          </a:prstGeom>
          <a:noFill/>
          <a:ln/>
        </p:spPr>
        <p:txBody>
          <a:bodyPr wrap="square" lIns="0" tIns="0" rIns="0" bIns="0" rtlCol="0" anchor="ctr"/>
          <a:lstStyle/>
          <a:p>
            <a:pPr algn="ctr" indent="0" marL="0">
              <a:buNone/>
            </a:pPr>
            <a:r>
              <a:rPr lang="en-US" sz="2400" b="1" dirty="0">
                <a:solidFill>
                  <a:srgbClr val="0C1670"/>
                </a:solidFill>
                <a:latin typeface="Arial" pitchFamily="34" charset="0"/>
                <a:ea typeface="Arial" pitchFamily="34" charset="-122"/>
                <a:cs typeface="Arial" pitchFamily="34" charset="-120"/>
              </a:rPr>
              <a:t>Histerectomia aos 12</a:t>
            </a:r>
            <a:endParaRPr lang="en-US" sz="2400" dirty="0"/>
          </a:p>
        </p:txBody>
      </p:sp>
      <p:sp>
        <p:nvSpPr>
          <p:cNvPr id="21" name="Shape 19"/>
          <p:cNvSpPr/>
          <p:nvPr/>
        </p:nvSpPr>
        <p:spPr>
          <a:xfrm>
            <a:off x="8822741" y="4700016"/>
            <a:ext cx="296570" cy="329184"/>
          </a:xfrm>
          <a:prstGeom prst="rightArrow">
            <a:avLst/>
          </a:prstGeom>
          <a:solidFill>
            <a:srgbClr val="0C1670"/>
          </a:solidFill>
          <a:ln w="12700">
            <a:solidFill>
              <a:srgbClr val="0C1670"/>
            </a:solidFill>
            <a:prstDash val="solid"/>
          </a:ln>
        </p:spPr>
      </p:sp>
      <p:sp>
        <p:nvSpPr>
          <p:cNvPr id="22" name="Shape 20"/>
          <p:cNvSpPr/>
          <p:nvPr/>
        </p:nvSpPr>
        <p:spPr>
          <a:xfrm>
            <a:off x="9174175" y="4361688"/>
            <a:ext cx="2468880" cy="1005840"/>
          </a:xfrm>
          <a:prstGeom prst="roundRect">
            <a:avLst>
              <a:gd name="adj" fmla="val 18182"/>
            </a:avLst>
          </a:prstGeom>
          <a:solidFill>
            <a:srgbClr val="0C1670"/>
          </a:solidFill>
          <a:ln w="12700">
            <a:solidFill>
              <a:srgbClr val="0C1670"/>
            </a:solidFill>
            <a:prstDash val="solid"/>
          </a:ln>
        </p:spPr>
      </p:sp>
      <p:sp>
        <p:nvSpPr>
          <p:cNvPr id="23" name="Text 21"/>
          <p:cNvSpPr txBox="1"/>
          <p:nvPr/>
        </p:nvSpPr>
        <p:spPr>
          <a:xfrm>
            <a:off x="9265615" y="4361688"/>
            <a:ext cx="2286000" cy="1005840"/>
          </a:xfrm>
          <a:prstGeom prst="rect">
            <a:avLst/>
          </a:prstGeom>
          <a:noFill/>
          <a:ln/>
        </p:spPr>
        <p:txBody>
          <a:bodyPr wrap="square" lIns="0" tIns="0" rIns="0" bIns="0" rtlCol="0" anchor="ctr"/>
          <a:lstStyle/>
          <a:p>
            <a:pPr algn="ctr" indent="0" marL="0">
              <a:buNone/>
            </a:pPr>
            <a:r>
              <a:rPr lang="en-US" sz="2400" b="1" dirty="0">
                <a:solidFill>
                  <a:srgbClr val="FFD0F5"/>
                </a:solidFill>
                <a:latin typeface="Arial" pitchFamily="34" charset="0"/>
                <a:ea typeface="Arial" pitchFamily="34" charset="-122"/>
                <a:cs typeface="Arial" pitchFamily="34" charset="-120"/>
              </a:rPr>
              <a:t>Trauma prolongado</a:t>
            </a:r>
            <a:endParaRPr lang="en-US" sz="2400" dirty="0"/>
          </a:p>
        </p:txBody>
      </p:sp>
      <p:sp>
        <p:nvSpPr>
          <p:cNvPr id="24" name="Text 22"/>
          <p:cNvSpPr txBox="1"/>
          <p:nvPr/>
        </p:nvSpPr>
        <p:spPr>
          <a:xfrm>
            <a:off x="548640" y="5468112"/>
            <a:ext cx="11091672" cy="329184"/>
          </a:xfrm>
          <a:prstGeom prst="rect">
            <a:avLst/>
          </a:prstGeom>
          <a:noFill/>
          <a:ln/>
        </p:spPr>
        <p:txBody>
          <a:bodyPr wrap="square" lIns="0" tIns="0" rIns="0" bIns="0" rtlCol="0" anchor="b"/>
          <a:lstStyle/>
          <a:p>
            <a:pPr indent="0" marL="0">
              <a:buNone/>
            </a:pPr>
            <a:r>
              <a:rPr lang="en-US" sz="1100" i="1" dirty="0">
                <a:solidFill>
                  <a:srgbClr val="0C1670"/>
                </a:solidFill>
                <a:latin typeface="Arial" pitchFamily="34" charset="0"/>
                <a:ea typeface="Arial" pitchFamily="34" charset="-122"/>
                <a:cs typeface="Arial" pitchFamily="34" charset="-120"/>
              </a:rPr>
              <a:t>Fontes: Lei nº 9.970/2000; Painel de Monitoramento de Nascidos Vivos (SINASC/MS), ES, 2024, em levantamento da NPLA (2025). Razão 188 ÷ 366: cálculo dos autores.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7 · OPÇÃO A (mais fiel ao modelo) — linha do tempo dos prazos</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PROFILAXIAS E ISTs</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A Lei do Minuto Seguinte já garantia as profilaxias</a:t>
            </a:r>
            <a:endParaRPr lang="en-US" sz="3200" dirty="0"/>
          </a:p>
        </p:txBody>
      </p:sp>
      <p:sp>
        <p:nvSpPr>
          <p:cNvPr id="5" name="Shape 3"/>
          <p:cNvSpPr/>
          <p:nvPr/>
        </p:nvSpPr>
        <p:spPr>
          <a:xfrm>
            <a:off x="1097280" y="2304288"/>
            <a:ext cx="9966960" cy="0"/>
          </a:xfrm>
          <a:prstGeom prst="line">
            <a:avLst/>
          </a:prstGeom>
          <a:noFill/>
          <a:ln w="38100">
            <a:solidFill>
              <a:srgbClr val="0C1670"/>
            </a:solidFill>
            <a:prstDash val="solid"/>
          </a:ln>
        </p:spPr>
      </p:sp>
      <p:sp>
        <p:nvSpPr>
          <p:cNvPr id="6" name="Text 4"/>
          <p:cNvSpPr/>
          <p:nvPr/>
        </p:nvSpPr>
        <p:spPr>
          <a:xfrm>
            <a:off x="1024128" y="1938528"/>
            <a:ext cx="2560320" cy="731520"/>
          </a:xfrm>
          <a:prstGeom prst="roundRect">
            <a:avLst>
              <a:gd name="adj" fmla="val 50000"/>
            </a:avLst>
          </a:prstGeom>
          <a:solidFill>
            <a:srgbClr val="0C1670"/>
          </a:solidFill>
          <a:ln>
            <a:solidFill>
              <a:srgbClr val="0C1670"/>
            </a:solidFill>
          </a:ln>
        </p:spPr>
        <p:txBody>
          <a:bodyPr wrap="square" lIns="0" tIns="0" rIns="0" bIns="0" rtlCol="0" anchor="ctr"/>
          <a:lstStyle/>
          <a:p>
            <a:pPr algn="ctr" indent="0" marL="0">
              <a:buNone/>
            </a:pPr>
            <a:r>
              <a:rPr lang="en-US" sz="2800" b="1" dirty="0">
                <a:solidFill>
                  <a:srgbClr val="FFD0F5"/>
                </a:solidFill>
                <a:latin typeface="Arial" pitchFamily="34" charset="0"/>
                <a:ea typeface="Arial" pitchFamily="34" charset="-122"/>
                <a:cs typeface="Arial" pitchFamily="34" charset="-120"/>
              </a:rPr>
              <a:t>Imediato</a:t>
            </a:r>
            <a:endParaRPr lang="en-US" sz="2800" dirty="0"/>
          </a:p>
        </p:txBody>
      </p:sp>
      <p:sp>
        <p:nvSpPr>
          <p:cNvPr id="7" name="Text 5"/>
          <p:cNvSpPr txBox="1"/>
          <p:nvPr/>
        </p:nvSpPr>
        <p:spPr>
          <a:xfrm>
            <a:off x="658368" y="2852928"/>
            <a:ext cx="3294583" cy="1188720"/>
          </a:xfrm>
          <a:prstGeom prst="rect">
            <a:avLst/>
          </a:prstGeom>
          <a:noFill/>
          <a:ln/>
        </p:spPr>
        <p:txBody>
          <a:bodyPr wrap="square" lIns="0" tIns="0" rIns="0" bIns="0" rtlCol="0" anchor="t"/>
          <a:lstStyle/>
          <a:p>
            <a:pPr algn="ctr" indent="0" marL="0">
              <a:buNone/>
            </a:pPr>
            <a:r>
              <a:rPr lang="en-US" sz="2400" dirty="0">
                <a:solidFill>
                  <a:srgbClr val="0C1670"/>
                </a:solidFill>
                <a:latin typeface="Arial" pitchFamily="34" charset="0"/>
                <a:ea typeface="Arial" pitchFamily="34" charset="-122"/>
                <a:cs typeface="Arial" pitchFamily="34" charset="-120"/>
              </a:rPr>
              <a:t>Qualquer hospital do SUS, sem BO</a:t>
            </a:r>
            <a:endParaRPr lang="en-US" sz="2400" dirty="0"/>
          </a:p>
        </p:txBody>
      </p:sp>
      <p:sp>
        <p:nvSpPr>
          <p:cNvPr id="8" name="Text 6"/>
          <p:cNvSpPr/>
          <p:nvPr/>
        </p:nvSpPr>
        <p:spPr>
          <a:xfrm>
            <a:off x="4814316" y="1938528"/>
            <a:ext cx="2560320" cy="731520"/>
          </a:xfrm>
          <a:prstGeom prst="roundRect">
            <a:avLst>
              <a:gd name="adj" fmla="val 50000"/>
            </a:avLst>
          </a:prstGeom>
          <a:solidFill>
            <a:srgbClr val="0C1670"/>
          </a:solidFill>
          <a:ln>
            <a:solidFill>
              <a:srgbClr val="0C1670"/>
            </a:solidFill>
          </a:ln>
        </p:spPr>
        <p:txBody>
          <a:bodyPr wrap="square" lIns="0" tIns="0" rIns="0" bIns="0" rtlCol="0" anchor="ctr"/>
          <a:lstStyle/>
          <a:p>
            <a:pPr algn="ctr" indent="0" marL="0">
              <a:buNone/>
            </a:pPr>
            <a:r>
              <a:rPr lang="en-US" sz="2800" b="1" dirty="0">
                <a:solidFill>
                  <a:srgbClr val="FFD0F5"/>
                </a:solidFill>
                <a:latin typeface="Arial" pitchFamily="34" charset="0"/>
                <a:ea typeface="Arial" pitchFamily="34" charset="-122"/>
                <a:cs typeface="Arial" pitchFamily="34" charset="-120"/>
              </a:rPr>
              <a:t>Até 72 h</a:t>
            </a:r>
            <a:endParaRPr lang="en-US" sz="2800" dirty="0"/>
          </a:p>
        </p:txBody>
      </p:sp>
      <p:sp>
        <p:nvSpPr>
          <p:cNvPr id="9" name="Text 7"/>
          <p:cNvSpPr txBox="1"/>
          <p:nvPr/>
        </p:nvSpPr>
        <p:spPr>
          <a:xfrm>
            <a:off x="4448556" y="2852928"/>
            <a:ext cx="3294583" cy="1188720"/>
          </a:xfrm>
          <a:prstGeom prst="rect">
            <a:avLst/>
          </a:prstGeom>
          <a:noFill/>
          <a:ln/>
        </p:spPr>
        <p:txBody>
          <a:bodyPr wrap="square" lIns="0" tIns="0" rIns="0" bIns="0" rtlCol="0" anchor="t"/>
          <a:lstStyle/>
          <a:p>
            <a:pPr algn="ctr" indent="0" marL="0">
              <a:buNone/>
            </a:pPr>
            <a:r>
              <a:rPr lang="en-US" sz="2400" dirty="0">
                <a:solidFill>
                  <a:srgbClr val="0C1670"/>
                </a:solidFill>
                <a:latin typeface="Arial" pitchFamily="34" charset="0"/>
                <a:ea typeface="Arial" pitchFamily="34" charset="-122"/>
                <a:cs typeface="Arial" pitchFamily="34" charset="-120"/>
              </a:rPr>
              <a:t>PEP HIV por 28 dias, hepatite B e ISTs</a:t>
            </a:r>
            <a:endParaRPr lang="en-US" sz="2400" dirty="0"/>
          </a:p>
        </p:txBody>
      </p:sp>
      <p:sp>
        <p:nvSpPr>
          <p:cNvPr id="10" name="Text 8"/>
          <p:cNvSpPr/>
          <p:nvPr/>
        </p:nvSpPr>
        <p:spPr>
          <a:xfrm>
            <a:off x="8604504" y="1938528"/>
            <a:ext cx="2560320" cy="731520"/>
          </a:xfrm>
          <a:prstGeom prst="roundRect">
            <a:avLst>
              <a:gd name="adj" fmla="val 50000"/>
            </a:avLst>
          </a:prstGeom>
          <a:solidFill>
            <a:srgbClr val="0C1670"/>
          </a:solidFill>
          <a:ln>
            <a:solidFill>
              <a:srgbClr val="0C1670"/>
            </a:solidFill>
          </a:ln>
        </p:spPr>
        <p:txBody>
          <a:bodyPr wrap="square" lIns="0" tIns="0" rIns="0" bIns="0" rtlCol="0" anchor="ctr"/>
          <a:lstStyle/>
          <a:p>
            <a:pPr algn="ctr" indent="0" marL="0">
              <a:buNone/>
            </a:pPr>
            <a:r>
              <a:rPr lang="en-US" sz="2800" b="1" dirty="0">
                <a:solidFill>
                  <a:srgbClr val="FFD0F5"/>
                </a:solidFill>
                <a:latin typeface="Arial" pitchFamily="34" charset="0"/>
                <a:ea typeface="Arial" pitchFamily="34" charset="-122"/>
                <a:cs typeface="Arial" pitchFamily="34" charset="-120"/>
              </a:rPr>
              <a:t>Até 5 dias</a:t>
            </a:r>
            <a:endParaRPr lang="en-US" sz="2800" dirty="0"/>
          </a:p>
        </p:txBody>
      </p:sp>
      <p:sp>
        <p:nvSpPr>
          <p:cNvPr id="11" name="Text 9"/>
          <p:cNvSpPr txBox="1"/>
          <p:nvPr/>
        </p:nvSpPr>
        <p:spPr>
          <a:xfrm>
            <a:off x="8238744" y="2852928"/>
            <a:ext cx="3294583" cy="1188720"/>
          </a:xfrm>
          <a:prstGeom prst="rect">
            <a:avLst/>
          </a:prstGeom>
          <a:noFill/>
          <a:ln/>
        </p:spPr>
        <p:txBody>
          <a:bodyPr wrap="square" lIns="0" tIns="0" rIns="0" bIns="0" rtlCol="0" anchor="t"/>
          <a:lstStyle/>
          <a:p>
            <a:pPr algn="ctr" indent="0" marL="0">
              <a:buNone/>
            </a:pPr>
            <a:r>
              <a:rPr lang="en-US" sz="2400" dirty="0">
                <a:solidFill>
                  <a:srgbClr val="0C1670"/>
                </a:solidFill>
                <a:latin typeface="Arial" pitchFamily="34" charset="0"/>
                <a:ea typeface="Arial" pitchFamily="34" charset="-122"/>
                <a:cs typeface="Arial" pitchFamily="34" charset="-120"/>
              </a:rPr>
              <a:t>Contracepção de emergência</a:t>
            </a:r>
            <a:endParaRPr lang="en-US" sz="2400" dirty="0"/>
          </a:p>
        </p:txBody>
      </p:sp>
      <p:sp>
        <p:nvSpPr>
          <p:cNvPr id="12" name="Shape 10"/>
          <p:cNvSpPr/>
          <p:nvPr/>
        </p:nvSpPr>
        <p:spPr>
          <a:xfrm>
            <a:off x="548640" y="4224528"/>
            <a:ext cx="11094415" cy="1005840"/>
          </a:xfrm>
          <a:prstGeom prst="roundRect">
            <a:avLst>
              <a:gd name="adj" fmla="val 18182"/>
            </a:avLst>
          </a:prstGeom>
          <a:solidFill>
            <a:srgbClr val="0C1670"/>
          </a:solidFill>
          <a:ln w="12700">
            <a:solidFill>
              <a:srgbClr val="0C1670"/>
            </a:solidFill>
            <a:prstDash val="solid"/>
          </a:ln>
        </p:spPr>
      </p:sp>
      <p:sp>
        <p:nvSpPr>
          <p:cNvPr id="13" name="Text 11"/>
          <p:cNvSpPr txBox="1"/>
          <p:nvPr/>
        </p:nvSpPr>
        <p:spPr>
          <a:xfrm>
            <a:off x="822960" y="4224528"/>
            <a:ext cx="10545775" cy="1005840"/>
          </a:xfrm>
          <a:prstGeom prst="rect">
            <a:avLst/>
          </a:prstGeom>
          <a:noFill/>
          <a:ln/>
        </p:spPr>
        <p:txBody>
          <a:bodyPr wrap="square" lIns="0" tIns="0" rIns="0" bIns="0" rtlCol="0" anchor="ctr"/>
          <a:lstStyle/>
          <a:p>
            <a:pPr algn="ctr" indent="0" marL="0">
              <a:buNone/>
            </a:pPr>
            <a:r>
              <a:rPr lang="en-US" sz="2600" b="1" dirty="0">
                <a:solidFill>
                  <a:srgbClr val="FFD0F5"/>
                </a:solidFill>
                <a:latin typeface="Arial" pitchFamily="34" charset="0"/>
                <a:ea typeface="Arial" pitchFamily="34" charset="-122"/>
                <a:cs typeface="Arial" pitchFamily="34" charset="-120"/>
              </a:rPr>
              <a:t>L.M.S.: dez meses sem acesso. </a:t>
            </a:r>
            <a:pPr algn="ctr" indent="0" marL="0">
              <a:buNone/>
            </a:pPr>
            <a:r>
              <a:rPr lang="en-US" sz="2600" dirty="0">
                <a:solidFill>
                  <a:srgbClr val="FFFFFF"/>
                </a:solidFill>
                <a:latin typeface="Arial" pitchFamily="34" charset="0"/>
                <a:ea typeface="Arial" pitchFamily="34" charset="-122"/>
                <a:cs typeface="Arial" pitchFamily="34" charset="-120"/>
              </a:rPr>
              <a:t>Restou o rastreio tardio.</a:t>
            </a:r>
            <a:endParaRPr lang="en-US" sz="2600" dirty="0"/>
          </a:p>
        </p:txBody>
      </p:sp>
      <p:sp>
        <p:nvSpPr>
          <p:cNvPr id="14" name="Text 12"/>
          <p:cNvSpPr txBox="1"/>
          <p:nvPr/>
        </p:nvSpPr>
        <p:spPr>
          <a:xfrm>
            <a:off x="548640" y="5468112"/>
            <a:ext cx="11091672" cy="329184"/>
          </a:xfrm>
          <a:prstGeom prst="rect">
            <a:avLst/>
          </a:prstGeom>
          <a:noFill/>
          <a:ln/>
        </p:spPr>
        <p:txBody>
          <a:bodyPr wrap="square" lIns="0" tIns="0" rIns="0" bIns="0" rtlCol="0" anchor="b"/>
          <a:lstStyle/>
          <a:p>
            <a:pPr indent="0" marL="0">
              <a:buNone/>
            </a:pPr>
            <a:r>
              <a:rPr lang="en-US" sz="1100" i="1" dirty="0">
                <a:solidFill>
                  <a:srgbClr val="0C1670"/>
                </a:solidFill>
                <a:latin typeface="Arial" pitchFamily="34" charset="0"/>
                <a:ea typeface="Arial" pitchFamily="34" charset="-122"/>
                <a:cs typeface="Arial" pitchFamily="34" charset="-120"/>
              </a:rPr>
              <a:t>Fontes: Lei nº 12.845/2013 (Lei do Minuto Seguinte); PCDT de Profilaxia Pós-Exposição (PEP), Ministério da Saúde.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7 · OPÇÃO B (recurso visual diferente) — comparação em duas colunas: garantido × recebido</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PROFILAXIAS E ISTs</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A Lei do Minuto Seguinte já garantia as profilaxias</a:t>
            </a:r>
            <a:endParaRPr lang="en-US" sz="3200" dirty="0"/>
          </a:p>
        </p:txBody>
      </p:sp>
      <p:sp>
        <p:nvSpPr>
          <p:cNvPr id="5" name="Shape 3"/>
          <p:cNvSpPr/>
          <p:nvPr/>
        </p:nvSpPr>
        <p:spPr>
          <a:xfrm>
            <a:off x="548640" y="1938528"/>
            <a:ext cx="6583680" cy="3310128"/>
          </a:xfrm>
          <a:prstGeom prst="roundRect">
            <a:avLst>
              <a:gd name="adj" fmla="val 8287"/>
            </a:avLst>
          </a:prstGeom>
          <a:solidFill>
            <a:srgbClr val="FFE9FA"/>
          </a:solidFill>
          <a:ln w="12700">
            <a:solidFill>
              <a:srgbClr val="FFE9FA"/>
            </a:solidFill>
            <a:prstDash val="solid"/>
          </a:ln>
        </p:spPr>
      </p:sp>
      <p:sp>
        <p:nvSpPr>
          <p:cNvPr id="6" name="Text 4"/>
          <p:cNvSpPr txBox="1"/>
          <p:nvPr/>
        </p:nvSpPr>
        <p:spPr>
          <a:xfrm>
            <a:off x="868680" y="2167128"/>
            <a:ext cx="6035040" cy="411480"/>
          </a:xfrm>
          <a:prstGeom prst="rect">
            <a:avLst/>
          </a:prstGeom>
          <a:noFill/>
          <a:ln/>
        </p:spPr>
        <p:txBody>
          <a:bodyPr wrap="square" lIns="0" tIns="0" rIns="0" bIns="0" rtlCol="0" anchor="t"/>
          <a:lstStyle/>
          <a:p>
            <a:pPr indent="0" marL="0">
              <a:buNone/>
            </a:pPr>
            <a:r>
              <a:rPr lang="en-US" sz="2400" b="1" spc="200" kern="0" dirty="0">
                <a:solidFill>
                  <a:srgbClr val="0C1670"/>
                </a:solidFill>
                <a:latin typeface="Arial" pitchFamily="34" charset="0"/>
                <a:ea typeface="Arial" pitchFamily="34" charset="-122"/>
                <a:cs typeface="Arial" pitchFamily="34" charset="-120"/>
              </a:rPr>
              <a:t>GARANTIDO POR LEI</a:t>
            </a:r>
            <a:endParaRPr lang="en-US" sz="2400" dirty="0"/>
          </a:p>
        </p:txBody>
      </p:sp>
      <p:sp>
        <p:nvSpPr>
          <p:cNvPr id="7" name="Text 5"/>
          <p:cNvSpPr txBox="1"/>
          <p:nvPr/>
        </p:nvSpPr>
        <p:spPr>
          <a:xfrm>
            <a:off x="868680" y="2761488"/>
            <a:ext cx="6126480" cy="2377440"/>
          </a:xfrm>
          <a:prstGeom prst="rect">
            <a:avLst/>
          </a:prstGeom>
          <a:noFill/>
          <a:ln/>
        </p:spPr>
        <p:txBody>
          <a:bodyPr wrap="square" lIns="0" tIns="0" rIns="0" bIns="0" rtlCol="0" anchor="t"/>
          <a:lstStyle/>
          <a:p>
            <a:pPr marL="203200" indent="-203200">
              <a:spcAft>
                <a:spcPts val="800"/>
              </a:spcAft>
              <a:buSzPct val="100000"/>
              <a:buChar char="•"/>
            </a:pPr>
            <a:r>
              <a:rPr lang="en-US" sz="2400" dirty="0">
                <a:solidFill>
                  <a:srgbClr val="0C1670"/>
                </a:solidFill>
                <a:latin typeface="Arial" pitchFamily="34" charset="0"/>
                <a:ea typeface="Arial" pitchFamily="34" charset="-122"/>
                <a:cs typeface="Arial" pitchFamily="34" charset="-120"/>
              </a:rPr>
              <a:t>Atendimento imediato, sem BO</a:t>
            </a:r>
            <a:endParaRPr lang="en-US" sz="2400" dirty="0"/>
          </a:p>
          <a:p>
            <a:pPr marL="203200" indent="-203200">
              <a:spcAft>
                <a:spcPts val="800"/>
              </a:spcAft>
              <a:buSzPct val="100000"/>
              <a:buChar char="•"/>
            </a:pPr>
            <a:r>
              <a:rPr lang="en-US" sz="2400" dirty="0">
                <a:solidFill>
                  <a:srgbClr val="0C1670"/>
                </a:solidFill>
                <a:latin typeface="Arial" pitchFamily="34" charset="0"/>
                <a:ea typeface="Arial" pitchFamily="34" charset="-122"/>
                <a:cs typeface="Arial" pitchFamily="34" charset="-120"/>
              </a:rPr>
              <a:t>PEP HIV em até 72 h, por 28 dias</a:t>
            </a:r>
            <a:endParaRPr lang="en-US" sz="2400" dirty="0"/>
          </a:p>
          <a:p>
            <a:pPr marL="203200" indent="-203200">
              <a:spcAft>
                <a:spcPts val="800"/>
              </a:spcAft>
              <a:buSzPct val="100000"/>
              <a:buChar char="•"/>
            </a:pPr>
            <a:r>
              <a:rPr lang="en-US" sz="2400" dirty="0">
                <a:solidFill>
                  <a:srgbClr val="0C1670"/>
                </a:solidFill>
                <a:latin typeface="Arial" pitchFamily="34" charset="0"/>
                <a:ea typeface="Arial" pitchFamily="34" charset="-122"/>
                <a:cs typeface="Arial" pitchFamily="34" charset="-120"/>
              </a:rPr>
              <a:t>Hepatite B e antibióticos para ISTs</a:t>
            </a:r>
            <a:endParaRPr lang="en-US" sz="2400" dirty="0"/>
          </a:p>
          <a:p>
            <a:pPr marL="203200" indent="-203200">
              <a:spcAft>
                <a:spcPts val="800"/>
              </a:spcAft>
              <a:buSzPct val="100000"/>
              <a:buChar char="•"/>
            </a:pPr>
            <a:r>
              <a:rPr lang="en-US" sz="2400" dirty="0">
                <a:solidFill>
                  <a:srgbClr val="0C1670"/>
                </a:solidFill>
                <a:latin typeface="Arial" pitchFamily="34" charset="0"/>
                <a:ea typeface="Arial" pitchFamily="34" charset="-122"/>
                <a:cs typeface="Arial" pitchFamily="34" charset="-120"/>
              </a:rPr>
              <a:t>Contracepção de emergência até 5 dias</a:t>
            </a:r>
            <a:endParaRPr lang="en-US" sz="2400" dirty="0"/>
          </a:p>
        </p:txBody>
      </p:sp>
      <p:sp>
        <p:nvSpPr>
          <p:cNvPr id="8" name="Shape 6"/>
          <p:cNvSpPr/>
          <p:nvPr/>
        </p:nvSpPr>
        <p:spPr>
          <a:xfrm>
            <a:off x="7406640" y="1938528"/>
            <a:ext cx="4233672" cy="3310128"/>
          </a:xfrm>
          <a:prstGeom prst="roundRect">
            <a:avLst>
              <a:gd name="adj" fmla="val 8287"/>
            </a:avLst>
          </a:prstGeom>
          <a:solidFill>
            <a:srgbClr val="0C1670"/>
          </a:solidFill>
          <a:ln w="12700">
            <a:solidFill>
              <a:srgbClr val="0C1670"/>
            </a:solidFill>
            <a:prstDash val="solid"/>
          </a:ln>
        </p:spPr>
      </p:sp>
      <p:sp>
        <p:nvSpPr>
          <p:cNvPr id="9" name="Text 7"/>
          <p:cNvSpPr txBox="1"/>
          <p:nvPr/>
        </p:nvSpPr>
        <p:spPr>
          <a:xfrm>
            <a:off x="7726680" y="2167128"/>
            <a:ext cx="3657600" cy="411480"/>
          </a:xfrm>
          <a:prstGeom prst="rect">
            <a:avLst/>
          </a:prstGeom>
          <a:noFill/>
          <a:ln/>
        </p:spPr>
        <p:txBody>
          <a:bodyPr wrap="square" lIns="0" tIns="0" rIns="0" bIns="0" rtlCol="0" anchor="t"/>
          <a:lstStyle/>
          <a:p>
            <a:pPr indent="0" marL="0">
              <a:buNone/>
            </a:pPr>
            <a:r>
              <a:rPr lang="en-US" sz="2400" b="1" spc="200" kern="0" dirty="0">
                <a:solidFill>
                  <a:srgbClr val="FFD0F5"/>
                </a:solidFill>
                <a:latin typeface="Arial" pitchFamily="34" charset="0"/>
                <a:ea typeface="Arial" pitchFamily="34" charset="-122"/>
                <a:cs typeface="Arial" pitchFamily="34" charset="-120"/>
              </a:rPr>
              <a:t>RECEBIDO</a:t>
            </a:r>
            <a:endParaRPr lang="en-US" sz="2400" dirty="0"/>
          </a:p>
        </p:txBody>
      </p:sp>
      <p:sp>
        <p:nvSpPr>
          <p:cNvPr id="10" name="Text 8"/>
          <p:cNvSpPr txBox="1"/>
          <p:nvPr/>
        </p:nvSpPr>
        <p:spPr>
          <a:xfrm>
            <a:off x="7726680" y="2670048"/>
            <a:ext cx="3657600" cy="1051560"/>
          </a:xfrm>
          <a:prstGeom prst="rect">
            <a:avLst/>
          </a:prstGeom>
          <a:noFill/>
          <a:ln/>
        </p:spPr>
        <p:txBody>
          <a:bodyPr wrap="square" lIns="0" tIns="0" rIns="0" bIns="0" rtlCol="0" anchor="ctr"/>
          <a:lstStyle/>
          <a:p>
            <a:pPr indent="0" marL="0">
              <a:buNone/>
            </a:pPr>
            <a:r>
              <a:rPr lang="en-US" sz="6600" b="1" dirty="0">
                <a:solidFill>
                  <a:srgbClr val="FFFFFF"/>
                </a:solidFill>
                <a:latin typeface="Arial" pitchFamily="34" charset="0"/>
                <a:ea typeface="Arial" pitchFamily="34" charset="-122"/>
                <a:cs typeface="Arial" pitchFamily="34" charset="-120"/>
              </a:rPr>
              <a:t>Nada.</a:t>
            </a:r>
            <a:endParaRPr lang="en-US" sz="6600" dirty="0"/>
          </a:p>
        </p:txBody>
      </p:sp>
      <p:sp>
        <p:nvSpPr>
          <p:cNvPr id="11" name="Text 9"/>
          <p:cNvSpPr txBox="1"/>
          <p:nvPr/>
        </p:nvSpPr>
        <p:spPr>
          <a:xfrm>
            <a:off x="7726680" y="3904488"/>
            <a:ext cx="3703320" cy="1188720"/>
          </a:xfrm>
          <a:prstGeom prst="rect">
            <a:avLst/>
          </a:prstGeom>
          <a:noFill/>
          <a:ln/>
        </p:spPr>
        <p:txBody>
          <a:bodyPr wrap="square" lIns="0" tIns="0" rIns="0" bIns="0" rtlCol="0" anchor="t"/>
          <a:lstStyle/>
          <a:p>
            <a:pPr indent="0" marL="0">
              <a:buNone/>
            </a:pPr>
            <a:r>
              <a:rPr lang="en-US" sz="2400" dirty="0">
                <a:solidFill>
                  <a:srgbClr val="FFD0F5"/>
                </a:solidFill>
                <a:latin typeface="Arial" pitchFamily="34" charset="0"/>
                <a:ea typeface="Arial" pitchFamily="34" charset="-122"/>
                <a:cs typeface="Arial" pitchFamily="34" charset="-120"/>
              </a:rPr>
              <a:t>Dez meses de silêncio; só o rastreio tardio.</a:t>
            </a:r>
            <a:endParaRPr lang="en-US" sz="2400" dirty="0"/>
          </a:p>
        </p:txBody>
      </p:sp>
      <p:sp>
        <p:nvSpPr>
          <p:cNvPr id="12" name="Text 10"/>
          <p:cNvSpPr txBox="1"/>
          <p:nvPr/>
        </p:nvSpPr>
        <p:spPr>
          <a:xfrm>
            <a:off x="548640" y="5468112"/>
            <a:ext cx="11091672" cy="329184"/>
          </a:xfrm>
          <a:prstGeom prst="rect">
            <a:avLst/>
          </a:prstGeom>
          <a:noFill/>
          <a:ln/>
        </p:spPr>
        <p:txBody>
          <a:bodyPr wrap="square" lIns="0" tIns="0" rIns="0" bIns="0" rtlCol="0" anchor="b"/>
          <a:lstStyle/>
          <a:p>
            <a:pPr indent="0" marL="0">
              <a:buNone/>
            </a:pPr>
            <a:r>
              <a:rPr lang="en-US" sz="1100" i="1" dirty="0">
                <a:solidFill>
                  <a:srgbClr val="0C1670"/>
                </a:solidFill>
                <a:latin typeface="Arial" pitchFamily="34" charset="0"/>
                <a:ea typeface="Arial" pitchFamily="34" charset="-122"/>
                <a:cs typeface="Arial" pitchFamily="34" charset="-120"/>
              </a:rPr>
              <a:t>Fontes: Lei nº 12.845/2013 (Lei do Minuto Seguinte); PCDT de Profilaxia Pós-Exposição (PEP), Ministério da Saúde.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8 · OPÇÃO A (mais fiel ao modelo) — dois cartões de mesmo peso</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MARCO LEGAL</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O direito existia. Faltou quem a enxergasse.</a:t>
            </a:r>
            <a:endParaRPr lang="en-US" sz="3200" dirty="0"/>
          </a:p>
        </p:txBody>
      </p:sp>
      <p:sp>
        <p:nvSpPr>
          <p:cNvPr id="5" name="Shape 3"/>
          <p:cNvSpPr/>
          <p:nvPr/>
        </p:nvSpPr>
        <p:spPr>
          <a:xfrm>
            <a:off x="548640" y="1938528"/>
            <a:ext cx="5409590" cy="3383280"/>
          </a:xfrm>
          <a:prstGeom prst="roundRect">
            <a:avLst>
              <a:gd name="adj" fmla="val 8108"/>
            </a:avLst>
          </a:prstGeom>
          <a:solidFill>
            <a:srgbClr val="0C1670"/>
          </a:solidFill>
          <a:ln w="12700">
            <a:solidFill>
              <a:srgbClr val="0C1670"/>
            </a:solidFill>
            <a:prstDash val="solid"/>
          </a:ln>
        </p:spPr>
      </p:sp>
      <p:sp>
        <p:nvSpPr>
          <p:cNvPr id="6" name="Text 4"/>
          <p:cNvSpPr txBox="1"/>
          <p:nvPr/>
        </p:nvSpPr>
        <p:spPr>
          <a:xfrm>
            <a:off x="868680" y="2121408"/>
            <a:ext cx="4769510" cy="731520"/>
          </a:xfrm>
          <a:prstGeom prst="rect">
            <a:avLst/>
          </a:prstGeom>
          <a:noFill/>
          <a:ln/>
        </p:spPr>
        <p:txBody>
          <a:bodyPr wrap="square" lIns="0" tIns="0" rIns="0" bIns="0" rtlCol="0" anchor="t"/>
          <a:lstStyle/>
          <a:p>
            <a:pPr indent="0" marL="0">
              <a:buNone/>
            </a:pPr>
            <a:r>
              <a:rPr lang="en-US" sz="4400" b="1" dirty="0">
                <a:solidFill>
                  <a:srgbClr val="FFD0F5"/>
                </a:solidFill>
                <a:latin typeface="Arial" pitchFamily="34" charset="0"/>
                <a:ea typeface="Arial" pitchFamily="34" charset="-122"/>
                <a:cs typeface="Arial" pitchFamily="34" charset="-120"/>
              </a:rPr>
              <a:t>Art. 217-A</a:t>
            </a:r>
            <a:endParaRPr lang="en-US" sz="4400" dirty="0"/>
          </a:p>
        </p:txBody>
      </p:sp>
      <p:sp>
        <p:nvSpPr>
          <p:cNvPr id="7" name="Text 5"/>
          <p:cNvSpPr txBox="1"/>
          <p:nvPr/>
        </p:nvSpPr>
        <p:spPr>
          <a:xfrm>
            <a:off x="868680" y="2871216"/>
            <a:ext cx="4769510" cy="50292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Estupro de vulnerável</a:t>
            </a:r>
            <a:endParaRPr lang="en-US" sz="2800" dirty="0"/>
          </a:p>
        </p:txBody>
      </p:sp>
      <p:sp>
        <p:nvSpPr>
          <p:cNvPr id="8" name="Text 6"/>
          <p:cNvSpPr txBox="1"/>
          <p:nvPr/>
        </p:nvSpPr>
        <p:spPr>
          <a:xfrm>
            <a:off x="868680" y="3493008"/>
            <a:ext cx="4860950" cy="1691640"/>
          </a:xfrm>
          <a:prstGeom prst="rect">
            <a:avLst/>
          </a:prstGeom>
          <a:noFill/>
          <a:ln/>
        </p:spPr>
        <p:txBody>
          <a:bodyPr wrap="square" lIns="0" tIns="0" rIns="0" bIns="0" rtlCol="0" anchor="t"/>
          <a:lstStyle/>
          <a:p>
            <a:pPr marL="203200" indent="-203200">
              <a:spcAft>
                <a:spcPts val="400"/>
              </a:spcAft>
              <a:buSzPct val="100000"/>
              <a:buChar char="•"/>
            </a:pPr>
            <a:r>
              <a:rPr lang="en-US" sz="2400" dirty="0">
                <a:solidFill>
                  <a:srgbClr val="FFFFFF"/>
                </a:solidFill>
                <a:latin typeface="Arial" pitchFamily="34" charset="0"/>
                <a:ea typeface="Arial" pitchFamily="34" charset="-122"/>
                <a:cs typeface="Arial" pitchFamily="34" charset="-120"/>
              </a:rPr>
              <a:t>Menor de 14 anos</a:t>
            </a:r>
            <a:endParaRPr lang="en-US" sz="2400" dirty="0"/>
          </a:p>
          <a:p>
            <a:pPr marL="203200" indent="-203200">
              <a:spcAft>
                <a:spcPts val="400"/>
              </a:spcAft>
              <a:buSzPct val="100000"/>
              <a:buChar char="•"/>
            </a:pPr>
            <a:r>
              <a:rPr lang="en-US" sz="2400" dirty="0">
                <a:solidFill>
                  <a:srgbClr val="FFFFFF"/>
                </a:solidFill>
                <a:latin typeface="Arial" pitchFamily="34" charset="0"/>
                <a:ea typeface="Arial" pitchFamily="34" charset="-122"/>
                <a:cs typeface="Arial" pitchFamily="34" charset="-120"/>
              </a:rPr>
              <a:t>Crime hediondo</a:t>
            </a:r>
            <a:endParaRPr lang="en-US" sz="2400" dirty="0"/>
          </a:p>
          <a:p>
            <a:pPr marL="203200" indent="-203200">
              <a:spcAft>
                <a:spcPts val="400"/>
              </a:spcAft>
              <a:buSzPct val="100000"/>
              <a:buChar char="•"/>
            </a:pPr>
            <a:r>
              <a:rPr lang="en-US" sz="2400" dirty="0">
                <a:solidFill>
                  <a:srgbClr val="FFFFFF"/>
                </a:solidFill>
                <a:latin typeface="Arial" pitchFamily="34" charset="0"/>
                <a:ea typeface="Arial" pitchFamily="34" charset="-122"/>
                <a:cs typeface="Arial" pitchFamily="34" charset="-120"/>
              </a:rPr>
              <a:t>Consentimento é irrelevante</a:t>
            </a:r>
            <a:endParaRPr lang="en-US" sz="2400" dirty="0"/>
          </a:p>
        </p:txBody>
      </p:sp>
      <p:sp>
        <p:nvSpPr>
          <p:cNvPr id="9" name="Shape 7"/>
          <p:cNvSpPr/>
          <p:nvPr/>
        </p:nvSpPr>
        <p:spPr>
          <a:xfrm>
            <a:off x="6233465" y="1938528"/>
            <a:ext cx="5409590" cy="3383280"/>
          </a:xfrm>
          <a:prstGeom prst="roundRect">
            <a:avLst>
              <a:gd name="adj" fmla="val 8108"/>
            </a:avLst>
          </a:prstGeom>
          <a:solidFill>
            <a:srgbClr val="0C1670"/>
          </a:solidFill>
          <a:ln w="12700">
            <a:solidFill>
              <a:srgbClr val="0C1670"/>
            </a:solidFill>
            <a:prstDash val="solid"/>
          </a:ln>
        </p:spPr>
      </p:sp>
      <p:sp>
        <p:nvSpPr>
          <p:cNvPr id="10" name="Text 8"/>
          <p:cNvSpPr txBox="1"/>
          <p:nvPr/>
        </p:nvSpPr>
        <p:spPr>
          <a:xfrm>
            <a:off x="6553505" y="2121408"/>
            <a:ext cx="4769510" cy="731520"/>
          </a:xfrm>
          <a:prstGeom prst="rect">
            <a:avLst/>
          </a:prstGeom>
          <a:noFill/>
          <a:ln/>
        </p:spPr>
        <p:txBody>
          <a:bodyPr wrap="square" lIns="0" tIns="0" rIns="0" bIns="0" rtlCol="0" anchor="t"/>
          <a:lstStyle/>
          <a:p>
            <a:pPr indent="0" marL="0">
              <a:buNone/>
            </a:pPr>
            <a:r>
              <a:rPr lang="en-US" sz="4400" b="1" dirty="0">
                <a:solidFill>
                  <a:srgbClr val="FFD0F5"/>
                </a:solidFill>
                <a:latin typeface="Arial" pitchFamily="34" charset="0"/>
                <a:ea typeface="Arial" pitchFamily="34" charset="-122"/>
                <a:cs typeface="Arial" pitchFamily="34" charset="-120"/>
              </a:rPr>
              <a:t>Art. 128, II</a:t>
            </a:r>
            <a:endParaRPr lang="en-US" sz="4400" dirty="0"/>
          </a:p>
        </p:txBody>
      </p:sp>
      <p:sp>
        <p:nvSpPr>
          <p:cNvPr id="11" name="Text 9"/>
          <p:cNvSpPr txBox="1"/>
          <p:nvPr/>
        </p:nvSpPr>
        <p:spPr>
          <a:xfrm>
            <a:off x="6553505" y="2871216"/>
            <a:ext cx="4769510" cy="50292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Aborto legal</a:t>
            </a:r>
            <a:endParaRPr lang="en-US" sz="2800" dirty="0"/>
          </a:p>
        </p:txBody>
      </p:sp>
      <p:sp>
        <p:nvSpPr>
          <p:cNvPr id="12" name="Text 10"/>
          <p:cNvSpPr txBox="1"/>
          <p:nvPr/>
        </p:nvSpPr>
        <p:spPr>
          <a:xfrm>
            <a:off x="6553505" y="3493008"/>
            <a:ext cx="4860950" cy="1691640"/>
          </a:xfrm>
          <a:prstGeom prst="rect">
            <a:avLst/>
          </a:prstGeom>
          <a:noFill/>
          <a:ln/>
        </p:spPr>
        <p:txBody>
          <a:bodyPr wrap="square" lIns="0" tIns="0" rIns="0" bIns="0" rtlCol="0" anchor="t"/>
          <a:lstStyle/>
          <a:p>
            <a:pPr marL="203200" indent="-203200">
              <a:spcAft>
                <a:spcPts val="400"/>
              </a:spcAft>
              <a:buSzPct val="100000"/>
              <a:buChar char="•"/>
            </a:pPr>
            <a:r>
              <a:rPr lang="en-US" sz="2400" dirty="0">
                <a:solidFill>
                  <a:srgbClr val="FFFFFF"/>
                </a:solidFill>
                <a:latin typeface="Arial" pitchFamily="34" charset="0"/>
                <a:ea typeface="Arial" pitchFamily="34" charset="-122"/>
                <a:cs typeface="Arial" pitchFamily="34" charset="-120"/>
              </a:rPr>
              <a:t>Gestação decorrente de estupro</a:t>
            </a:r>
            <a:endParaRPr lang="en-US" sz="2400" dirty="0"/>
          </a:p>
          <a:p>
            <a:pPr marL="203200" indent="-203200">
              <a:spcAft>
                <a:spcPts val="400"/>
              </a:spcAft>
              <a:buSzPct val="100000"/>
              <a:buChar char="•"/>
            </a:pPr>
            <a:r>
              <a:rPr lang="en-US" sz="2400" dirty="0">
                <a:solidFill>
                  <a:srgbClr val="FFFFFF"/>
                </a:solidFill>
                <a:latin typeface="Arial" pitchFamily="34" charset="0"/>
                <a:ea typeface="Arial" pitchFamily="34" charset="-122"/>
                <a:cs typeface="Arial" pitchFamily="34" charset="-120"/>
              </a:rPr>
              <a:t>Desde 1940</a:t>
            </a:r>
            <a:endParaRPr lang="en-US" sz="2400" dirty="0"/>
          </a:p>
          <a:p>
            <a:pPr marL="203200" indent="-203200">
              <a:spcAft>
                <a:spcPts val="400"/>
              </a:spcAft>
              <a:buSzPct val="100000"/>
              <a:buChar char="•"/>
            </a:pPr>
            <a:r>
              <a:rPr lang="en-US" sz="2400" dirty="0">
                <a:solidFill>
                  <a:srgbClr val="FFFFFF"/>
                </a:solidFill>
                <a:latin typeface="Arial" pitchFamily="34" charset="0"/>
                <a:ea typeface="Arial" pitchFamily="34" charset="-122"/>
                <a:cs typeface="Arial" pitchFamily="34" charset="-120"/>
              </a:rPr>
              <a:t>Sem ordem judicial</a:t>
            </a:r>
            <a:endParaRPr lang="en-US" sz="2400" dirty="0"/>
          </a:p>
        </p:txBody>
      </p:sp>
      <p:sp>
        <p:nvSpPr>
          <p:cNvPr id="13" name="Text 11"/>
          <p:cNvSpPr txBox="1"/>
          <p:nvPr/>
        </p:nvSpPr>
        <p:spPr>
          <a:xfrm>
            <a:off x="548640" y="5468112"/>
            <a:ext cx="11091672" cy="329184"/>
          </a:xfrm>
          <a:prstGeom prst="rect">
            <a:avLst/>
          </a:prstGeom>
          <a:noFill/>
          <a:ln/>
        </p:spPr>
        <p:txBody>
          <a:bodyPr wrap="square" lIns="0" tIns="0" rIns="0" bIns="0" rtlCol="0" anchor="b"/>
          <a:lstStyle/>
          <a:p>
            <a:pPr indent="0" marL="0">
              <a:buNone/>
            </a:pPr>
            <a:r>
              <a:rPr lang="en-US" sz="1100" i="1" dirty="0">
                <a:solidFill>
                  <a:srgbClr val="0C1670"/>
                </a:solidFill>
                <a:latin typeface="Arial" pitchFamily="34" charset="0"/>
                <a:ea typeface="Arial" pitchFamily="34" charset="-122"/>
                <a:cs typeface="Arial" pitchFamily="34" charset="-120"/>
              </a:rPr>
              <a:t>Fonte: Código Penal (Decreto-Lei nº 2.848/1940), arts. 217-A e 128, II; Lei nº 8.072/1990 (crimes hediondos).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8 · OPÇÃO B (recurso visual diferente) — frase-síntese em destaque + dois artigos com ícone</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MARCO LEGAL</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A lei já protegia L.M.S.</a:t>
            </a:r>
            <a:endParaRPr lang="en-US" sz="3200" dirty="0"/>
          </a:p>
        </p:txBody>
      </p:sp>
      <p:sp>
        <p:nvSpPr>
          <p:cNvPr id="5" name="Shape 3"/>
          <p:cNvSpPr/>
          <p:nvPr/>
        </p:nvSpPr>
        <p:spPr>
          <a:xfrm>
            <a:off x="548640" y="1938528"/>
            <a:ext cx="4937760" cy="3383280"/>
          </a:xfrm>
          <a:prstGeom prst="roundRect">
            <a:avLst>
              <a:gd name="adj" fmla="val 8108"/>
            </a:avLst>
          </a:prstGeom>
          <a:solidFill>
            <a:srgbClr val="0C1670"/>
          </a:solidFill>
          <a:ln w="12700">
            <a:solidFill>
              <a:srgbClr val="0C1670"/>
            </a:solidFill>
            <a:prstDash val="solid"/>
          </a:ln>
        </p:spPr>
      </p:sp>
      <p:sp>
        <p:nvSpPr>
          <p:cNvPr id="6" name="Text 4"/>
          <p:cNvSpPr txBox="1"/>
          <p:nvPr/>
        </p:nvSpPr>
        <p:spPr>
          <a:xfrm>
            <a:off x="868680" y="2121408"/>
            <a:ext cx="4389120" cy="3017520"/>
          </a:xfrm>
          <a:prstGeom prst="rect">
            <a:avLst/>
          </a:prstGeom>
          <a:noFill/>
          <a:ln/>
        </p:spPr>
        <p:txBody>
          <a:bodyPr wrap="square" lIns="0" tIns="0" rIns="0" bIns="0" rtlCol="0" anchor="ctr"/>
          <a:lstStyle/>
          <a:p>
            <a:pPr indent="0" marL="0">
              <a:spcAft>
                <a:spcPts val="1400"/>
              </a:spcAft>
              <a:buNone/>
            </a:pPr>
            <a:r>
              <a:rPr lang="en-US" sz="3600" b="1" dirty="0">
                <a:solidFill>
                  <a:srgbClr val="FFD0F5"/>
                </a:solidFill>
                <a:latin typeface="Arial" pitchFamily="34" charset="0"/>
                <a:ea typeface="Arial" pitchFamily="34" charset="-122"/>
                <a:cs typeface="Arial" pitchFamily="34" charset="-120"/>
              </a:rPr>
              <a:t>O direito existia.</a:t>
            </a:r>
            <a:endParaRPr lang="en-US" sz="3600" dirty="0"/>
          </a:p>
          <a:p>
            <a:pPr indent="0" marL="0">
              <a:buNone/>
            </a:pPr>
            <a:r>
              <a:rPr lang="en-US" sz="3600" b="1" dirty="0">
                <a:solidFill>
                  <a:srgbClr val="FFFFFF"/>
                </a:solidFill>
                <a:latin typeface="Arial" pitchFamily="34" charset="0"/>
                <a:ea typeface="Arial" pitchFamily="34" charset="-122"/>
                <a:cs typeface="Arial" pitchFamily="34" charset="-120"/>
              </a:rPr>
              <a:t>Faltou quem a enxergasse.</a:t>
            </a:r>
            <a:endParaRPr lang="en-US" sz="3600" dirty="0"/>
          </a:p>
        </p:txBody>
      </p:sp>
      <p:sp>
        <p:nvSpPr>
          <p:cNvPr id="7" name="Shape 5"/>
          <p:cNvSpPr/>
          <p:nvPr/>
        </p:nvSpPr>
        <p:spPr>
          <a:xfrm>
            <a:off x="5852160" y="2075688"/>
            <a:ext cx="868680" cy="868680"/>
          </a:xfrm>
          <a:prstGeom prst="ellipse">
            <a:avLst/>
          </a:prstGeom>
          <a:solidFill>
            <a:srgbClr val="0C1670"/>
          </a:solidFill>
          <a:ln w="12700">
            <a:solidFill>
              <a:srgbClr val="0C1670"/>
            </a:solidFill>
            <a:prstDash val="solid"/>
          </a:ln>
        </p:spPr>
      </p:sp>
      <p:pic>
        <p:nvPicPr>
          <p:cNvPr id="8" name="Image 0" descr="preencoded.png">    </p:cNvPr>
          <p:cNvPicPr>
            <a:picLocks noChangeAspect="1"/>
          </p:cNvPicPr>
          <p:nvPr/>
        </p:nvPicPr>
        <p:blipFill>
          <a:blip r:embed="rId1"/>
          <a:stretch>
            <a:fillRect/>
          </a:stretch>
        </p:blipFill>
        <p:spPr>
          <a:xfrm>
            <a:off x="6069330" y="2292858"/>
            <a:ext cx="434340" cy="434340"/>
          </a:xfrm>
          <a:prstGeom prst="rect">
            <a:avLst/>
          </a:prstGeom>
        </p:spPr>
      </p:pic>
      <p:sp>
        <p:nvSpPr>
          <p:cNvPr id="9" name="Text 6"/>
          <p:cNvSpPr txBox="1"/>
          <p:nvPr/>
        </p:nvSpPr>
        <p:spPr>
          <a:xfrm>
            <a:off x="6949440" y="2029968"/>
            <a:ext cx="4690872" cy="502920"/>
          </a:xfrm>
          <a:prstGeom prst="rect">
            <a:avLst/>
          </a:prstGeom>
          <a:noFill/>
          <a:ln/>
        </p:spPr>
        <p:txBody>
          <a:bodyPr wrap="square" lIns="0" tIns="0" rIns="0" bIns="0" rtlCol="0" anchor="t"/>
          <a:lstStyle/>
          <a:p>
            <a:pPr indent="0" marL="0">
              <a:buNone/>
            </a:pPr>
            <a:r>
              <a:rPr lang="en-US" sz="2800" b="1" dirty="0">
                <a:solidFill>
                  <a:srgbClr val="0C1670"/>
                </a:solidFill>
                <a:latin typeface="Arial" pitchFamily="34" charset="0"/>
                <a:ea typeface="Arial" pitchFamily="34" charset="-122"/>
                <a:cs typeface="Arial" pitchFamily="34" charset="-120"/>
              </a:rPr>
              <a:t>Art. 217-A</a:t>
            </a:r>
            <a:endParaRPr lang="en-US" sz="2800" dirty="0"/>
          </a:p>
        </p:txBody>
      </p:sp>
      <p:sp>
        <p:nvSpPr>
          <p:cNvPr id="10" name="Text 7"/>
          <p:cNvSpPr txBox="1"/>
          <p:nvPr/>
        </p:nvSpPr>
        <p:spPr>
          <a:xfrm>
            <a:off x="6949440" y="2560320"/>
            <a:ext cx="4690872" cy="868680"/>
          </a:xfrm>
          <a:prstGeom prst="rect">
            <a:avLst/>
          </a:prstGeom>
          <a:noFill/>
          <a:ln/>
        </p:spPr>
        <p:txBody>
          <a:bodyPr wrap="square" lIns="0" tIns="0" rIns="0" bIns="0" rtlCol="0" anchor="t"/>
          <a:lstStyle/>
          <a:p>
            <a:pPr indent="0" marL="0">
              <a:buNone/>
            </a:pPr>
            <a:r>
              <a:rPr lang="en-US" sz="2400" dirty="0">
                <a:solidFill>
                  <a:srgbClr val="0C1670"/>
                </a:solidFill>
                <a:latin typeface="Arial" pitchFamily="34" charset="0"/>
                <a:ea typeface="Arial" pitchFamily="34" charset="-122"/>
                <a:cs typeface="Arial" pitchFamily="34" charset="-120"/>
              </a:rPr>
              <a:t>Menor de 14 anos: estupro de vulnerável, crime hediondo</a:t>
            </a:r>
            <a:endParaRPr lang="en-US" sz="2400" dirty="0"/>
          </a:p>
        </p:txBody>
      </p:sp>
      <p:sp>
        <p:nvSpPr>
          <p:cNvPr id="11" name="Shape 8"/>
          <p:cNvSpPr/>
          <p:nvPr/>
        </p:nvSpPr>
        <p:spPr>
          <a:xfrm>
            <a:off x="5852160" y="3767328"/>
            <a:ext cx="868680" cy="868680"/>
          </a:xfrm>
          <a:prstGeom prst="ellipse">
            <a:avLst/>
          </a:prstGeom>
          <a:solidFill>
            <a:srgbClr val="0C1670"/>
          </a:solidFill>
          <a:ln w="12700">
            <a:solidFill>
              <a:srgbClr val="0C1670"/>
            </a:solidFill>
            <a:prstDash val="solid"/>
          </a:ln>
        </p:spPr>
      </p:sp>
      <p:pic>
        <p:nvPicPr>
          <p:cNvPr id="12" name="Image 1" descr="preencoded.png">    </p:cNvPr>
          <p:cNvPicPr>
            <a:picLocks noChangeAspect="1"/>
          </p:cNvPicPr>
          <p:nvPr/>
        </p:nvPicPr>
        <p:blipFill>
          <a:blip r:embed="rId2"/>
          <a:stretch>
            <a:fillRect/>
          </a:stretch>
        </p:blipFill>
        <p:spPr>
          <a:xfrm>
            <a:off x="6069330" y="3984498"/>
            <a:ext cx="434340" cy="434340"/>
          </a:xfrm>
          <a:prstGeom prst="rect">
            <a:avLst/>
          </a:prstGeom>
        </p:spPr>
      </p:pic>
      <p:sp>
        <p:nvSpPr>
          <p:cNvPr id="13" name="Text 9"/>
          <p:cNvSpPr txBox="1"/>
          <p:nvPr/>
        </p:nvSpPr>
        <p:spPr>
          <a:xfrm>
            <a:off x="6949440" y="3721608"/>
            <a:ext cx="4690872" cy="502920"/>
          </a:xfrm>
          <a:prstGeom prst="rect">
            <a:avLst/>
          </a:prstGeom>
          <a:noFill/>
          <a:ln/>
        </p:spPr>
        <p:txBody>
          <a:bodyPr wrap="square" lIns="0" tIns="0" rIns="0" bIns="0" rtlCol="0" anchor="t"/>
          <a:lstStyle/>
          <a:p>
            <a:pPr indent="0" marL="0">
              <a:buNone/>
            </a:pPr>
            <a:r>
              <a:rPr lang="en-US" sz="2800" b="1" dirty="0">
                <a:solidFill>
                  <a:srgbClr val="0C1670"/>
                </a:solidFill>
                <a:latin typeface="Arial" pitchFamily="34" charset="0"/>
                <a:ea typeface="Arial" pitchFamily="34" charset="-122"/>
                <a:cs typeface="Arial" pitchFamily="34" charset="-120"/>
              </a:rPr>
              <a:t>Art. 128, II</a:t>
            </a:r>
            <a:endParaRPr lang="en-US" sz="2800" dirty="0"/>
          </a:p>
        </p:txBody>
      </p:sp>
      <p:sp>
        <p:nvSpPr>
          <p:cNvPr id="14" name="Text 10"/>
          <p:cNvSpPr txBox="1"/>
          <p:nvPr/>
        </p:nvSpPr>
        <p:spPr>
          <a:xfrm>
            <a:off x="6949440" y="4251960"/>
            <a:ext cx="4690872" cy="868680"/>
          </a:xfrm>
          <a:prstGeom prst="rect">
            <a:avLst/>
          </a:prstGeom>
          <a:noFill/>
          <a:ln/>
        </p:spPr>
        <p:txBody>
          <a:bodyPr wrap="square" lIns="0" tIns="0" rIns="0" bIns="0" rtlCol="0" anchor="t"/>
          <a:lstStyle/>
          <a:p>
            <a:pPr indent="0" marL="0">
              <a:buNone/>
            </a:pPr>
            <a:r>
              <a:rPr lang="en-US" sz="2400" dirty="0">
                <a:solidFill>
                  <a:srgbClr val="0C1670"/>
                </a:solidFill>
                <a:latin typeface="Arial" pitchFamily="34" charset="0"/>
                <a:ea typeface="Arial" pitchFamily="34" charset="-122"/>
                <a:cs typeface="Arial" pitchFamily="34" charset="-120"/>
              </a:rPr>
              <a:t>Aborto legal desde 1940, sem ordem judicial</a:t>
            </a:r>
            <a:endParaRPr lang="en-US" sz="2400" dirty="0"/>
          </a:p>
        </p:txBody>
      </p:sp>
      <p:sp>
        <p:nvSpPr>
          <p:cNvPr id="15" name="Text 11"/>
          <p:cNvSpPr txBox="1"/>
          <p:nvPr/>
        </p:nvSpPr>
        <p:spPr>
          <a:xfrm>
            <a:off x="548640" y="5468112"/>
            <a:ext cx="11091672" cy="329184"/>
          </a:xfrm>
          <a:prstGeom prst="rect">
            <a:avLst/>
          </a:prstGeom>
          <a:noFill/>
          <a:ln/>
        </p:spPr>
        <p:txBody>
          <a:bodyPr wrap="square" lIns="0" tIns="0" rIns="0" bIns="0" rtlCol="0" anchor="b"/>
          <a:lstStyle/>
          <a:p>
            <a:pPr indent="0" marL="0">
              <a:buNone/>
            </a:pPr>
            <a:r>
              <a:rPr lang="en-US" sz="1100" i="1" dirty="0">
                <a:solidFill>
                  <a:srgbClr val="0C1670"/>
                </a:solidFill>
                <a:latin typeface="Arial" pitchFamily="34" charset="0"/>
                <a:ea typeface="Arial" pitchFamily="34" charset="-122"/>
                <a:cs typeface="Arial" pitchFamily="34" charset="-120"/>
              </a:rPr>
              <a:t>Fonte: Código Penal (Decreto-Lei nº 2.848/1940), arts. 217-A e 128, II; Lei nº 8.072/1990 (crimes hediondos).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9 · OPÇÃO A (mais fiel ao modelo) — lista 01–04 do modelo, com uma linha de apoio</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CONCLUSÃO</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Quatro mensagens para a prática médica</a:t>
            </a:r>
            <a:endParaRPr lang="en-US" sz="3200" dirty="0"/>
          </a:p>
        </p:txBody>
      </p:sp>
      <p:sp>
        <p:nvSpPr>
          <p:cNvPr id="5" name="Text 3"/>
          <p:cNvSpPr txBox="1"/>
          <p:nvPr/>
        </p:nvSpPr>
        <p:spPr>
          <a:xfrm>
            <a:off x="548640" y="1938528"/>
            <a:ext cx="1097280" cy="777240"/>
          </a:xfrm>
          <a:prstGeom prst="rect">
            <a:avLst/>
          </a:prstGeom>
          <a:noFill/>
          <a:ln/>
        </p:spPr>
        <p:txBody>
          <a:bodyPr wrap="square" lIns="0" tIns="0" rIns="0" bIns="0" rtlCol="0" anchor="ctr"/>
          <a:lstStyle/>
          <a:p>
            <a:pPr indent="0" marL="0">
              <a:buNone/>
            </a:pPr>
            <a:r>
              <a:rPr lang="en-US" sz="4400" b="1" dirty="0">
                <a:solidFill>
                  <a:srgbClr val="0C1670"/>
                </a:solidFill>
                <a:latin typeface="Arial" pitchFamily="34" charset="0"/>
                <a:ea typeface="Arial" pitchFamily="34" charset="-122"/>
                <a:cs typeface="Arial" pitchFamily="34" charset="-120"/>
              </a:rPr>
              <a:t>01</a:t>
            </a:r>
            <a:endParaRPr lang="en-US" sz="4400" dirty="0"/>
          </a:p>
        </p:txBody>
      </p:sp>
      <p:sp>
        <p:nvSpPr>
          <p:cNvPr id="6" name="Text 4"/>
          <p:cNvSpPr txBox="1"/>
          <p:nvPr/>
        </p:nvSpPr>
        <p:spPr>
          <a:xfrm>
            <a:off x="1783080" y="1956816"/>
            <a:ext cx="9784080" cy="384048"/>
          </a:xfrm>
          <a:prstGeom prst="rect">
            <a:avLst/>
          </a:prstGeom>
          <a:noFill/>
          <a:ln/>
        </p:spPr>
        <p:txBody>
          <a:bodyPr wrap="square" lIns="0" tIns="0" rIns="0" bIns="0" rtlCol="0" anchor="t"/>
          <a:lstStyle/>
          <a:p>
            <a:pPr indent="0" marL="0">
              <a:buNone/>
            </a:pPr>
            <a:r>
              <a:rPr lang="en-US" sz="2400" b="1" spc="150" kern="0" dirty="0">
                <a:solidFill>
                  <a:srgbClr val="0C1670"/>
                </a:solidFill>
                <a:latin typeface="Arial" pitchFamily="34" charset="0"/>
                <a:ea typeface="Arial" pitchFamily="34" charset="-122"/>
                <a:cs typeface="Arial" pitchFamily="34" charset="-120"/>
              </a:rPr>
              <a:t>SUSPEIÇÃO CLÍNICA</a:t>
            </a:r>
            <a:endParaRPr lang="en-US" sz="2400" dirty="0"/>
          </a:p>
        </p:txBody>
      </p:sp>
      <p:sp>
        <p:nvSpPr>
          <p:cNvPr id="7" name="Text 5"/>
          <p:cNvSpPr txBox="1"/>
          <p:nvPr/>
        </p:nvSpPr>
        <p:spPr>
          <a:xfrm>
            <a:off x="1783080" y="2331720"/>
            <a:ext cx="9784080" cy="384048"/>
          </a:xfrm>
          <a:prstGeom prst="rect">
            <a:avLst/>
          </a:prstGeom>
          <a:noFill/>
          <a:ln/>
        </p:spPr>
        <p:txBody>
          <a:bodyPr wrap="square" lIns="0" tIns="0" rIns="0" bIns="0" rtlCol="0" anchor="t"/>
          <a:lstStyle/>
          <a:p>
            <a:pPr indent="0" marL="0">
              <a:buNone/>
            </a:pPr>
            <a:r>
              <a:rPr lang="en-US" sz="2400" dirty="0">
                <a:solidFill>
                  <a:srgbClr val="0C1670"/>
                </a:solidFill>
                <a:latin typeface="Arial" pitchFamily="34" charset="0"/>
                <a:ea typeface="Arial" pitchFamily="34" charset="-122"/>
                <a:cs typeface="Arial" pitchFamily="34" charset="-120"/>
              </a:rPr>
              <a:t>Gravidez antes dos 14 anos é violência</a:t>
            </a:r>
            <a:endParaRPr lang="en-US" sz="2400" dirty="0"/>
          </a:p>
        </p:txBody>
      </p:sp>
      <p:sp>
        <p:nvSpPr>
          <p:cNvPr id="8" name="Text 6"/>
          <p:cNvSpPr txBox="1"/>
          <p:nvPr/>
        </p:nvSpPr>
        <p:spPr>
          <a:xfrm>
            <a:off x="548640" y="2807208"/>
            <a:ext cx="1097280" cy="777240"/>
          </a:xfrm>
          <a:prstGeom prst="rect">
            <a:avLst/>
          </a:prstGeom>
          <a:noFill/>
          <a:ln/>
        </p:spPr>
        <p:txBody>
          <a:bodyPr wrap="square" lIns="0" tIns="0" rIns="0" bIns="0" rtlCol="0" anchor="ctr"/>
          <a:lstStyle/>
          <a:p>
            <a:pPr indent="0" marL="0">
              <a:buNone/>
            </a:pPr>
            <a:r>
              <a:rPr lang="en-US" sz="4400" b="1" dirty="0">
                <a:solidFill>
                  <a:srgbClr val="0C1670"/>
                </a:solidFill>
                <a:latin typeface="Arial" pitchFamily="34" charset="0"/>
                <a:ea typeface="Arial" pitchFamily="34" charset="-122"/>
                <a:cs typeface="Arial" pitchFamily="34" charset="-120"/>
              </a:rPr>
              <a:t>02</a:t>
            </a:r>
            <a:endParaRPr lang="en-US" sz="4400" dirty="0"/>
          </a:p>
        </p:txBody>
      </p:sp>
      <p:sp>
        <p:nvSpPr>
          <p:cNvPr id="9" name="Text 7"/>
          <p:cNvSpPr txBox="1"/>
          <p:nvPr/>
        </p:nvSpPr>
        <p:spPr>
          <a:xfrm>
            <a:off x="1783080" y="2825496"/>
            <a:ext cx="9784080" cy="384048"/>
          </a:xfrm>
          <a:prstGeom prst="rect">
            <a:avLst/>
          </a:prstGeom>
          <a:noFill/>
          <a:ln/>
        </p:spPr>
        <p:txBody>
          <a:bodyPr wrap="square" lIns="0" tIns="0" rIns="0" bIns="0" rtlCol="0" anchor="t"/>
          <a:lstStyle/>
          <a:p>
            <a:pPr indent="0" marL="0">
              <a:buNone/>
            </a:pPr>
            <a:r>
              <a:rPr lang="en-US" sz="2400" b="1" spc="150" kern="0" dirty="0">
                <a:solidFill>
                  <a:srgbClr val="0C1670"/>
                </a:solidFill>
                <a:latin typeface="Arial" pitchFamily="34" charset="0"/>
                <a:ea typeface="Arial" pitchFamily="34" charset="-122"/>
                <a:cs typeface="Arial" pitchFamily="34" charset="-120"/>
              </a:rPr>
              <a:t>NOTIFICAÇÃO COMPULSÓRIA</a:t>
            </a:r>
            <a:endParaRPr lang="en-US" sz="2400" dirty="0"/>
          </a:p>
        </p:txBody>
      </p:sp>
      <p:sp>
        <p:nvSpPr>
          <p:cNvPr id="10" name="Text 8"/>
          <p:cNvSpPr txBox="1"/>
          <p:nvPr/>
        </p:nvSpPr>
        <p:spPr>
          <a:xfrm>
            <a:off x="1783080" y="3200400"/>
            <a:ext cx="9784080" cy="384048"/>
          </a:xfrm>
          <a:prstGeom prst="rect">
            <a:avLst/>
          </a:prstGeom>
          <a:noFill/>
          <a:ln/>
        </p:spPr>
        <p:txBody>
          <a:bodyPr wrap="square" lIns="0" tIns="0" rIns="0" bIns="0" rtlCol="0" anchor="t"/>
          <a:lstStyle/>
          <a:p>
            <a:pPr indent="0" marL="0">
              <a:buNone/>
            </a:pPr>
            <a:r>
              <a:rPr lang="en-US" sz="2400" dirty="0">
                <a:solidFill>
                  <a:srgbClr val="0C1670"/>
                </a:solidFill>
                <a:latin typeface="Arial" pitchFamily="34" charset="0"/>
                <a:ea typeface="Arial" pitchFamily="34" charset="-122"/>
                <a:cs typeface="Arial" pitchFamily="34" charset="-120"/>
              </a:rPr>
              <a:t>SINAN em até 24 h e Conselho Tutelar</a:t>
            </a:r>
            <a:endParaRPr lang="en-US" sz="2400" dirty="0"/>
          </a:p>
        </p:txBody>
      </p:sp>
      <p:sp>
        <p:nvSpPr>
          <p:cNvPr id="11" name="Text 9"/>
          <p:cNvSpPr txBox="1"/>
          <p:nvPr/>
        </p:nvSpPr>
        <p:spPr>
          <a:xfrm>
            <a:off x="548640" y="3675888"/>
            <a:ext cx="1097280" cy="777240"/>
          </a:xfrm>
          <a:prstGeom prst="rect">
            <a:avLst/>
          </a:prstGeom>
          <a:noFill/>
          <a:ln/>
        </p:spPr>
        <p:txBody>
          <a:bodyPr wrap="square" lIns="0" tIns="0" rIns="0" bIns="0" rtlCol="0" anchor="ctr"/>
          <a:lstStyle/>
          <a:p>
            <a:pPr indent="0" marL="0">
              <a:buNone/>
            </a:pPr>
            <a:r>
              <a:rPr lang="en-US" sz="4400" b="1" dirty="0">
                <a:solidFill>
                  <a:srgbClr val="0C1670"/>
                </a:solidFill>
                <a:latin typeface="Arial" pitchFamily="34" charset="0"/>
                <a:ea typeface="Arial" pitchFamily="34" charset="-122"/>
                <a:cs typeface="Arial" pitchFamily="34" charset="-120"/>
              </a:rPr>
              <a:t>03</a:t>
            </a:r>
            <a:endParaRPr lang="en-US" sz="4400" dirty="0"/>
          </a:p>
        </p:txBody>
      </p:sp>
      <p:sp>
        <p:nvSpPr>
          <p:cNvPr id="12" name="Text 10"/>
          <p:cNvSpPr txBox="1"/>
          <p:nvPr/>
        </p:nvSpPr>
        <p:spPr>
          <a:xfrm>
            <a:off x="1783080" y="3694176"/>
            <a:ext cx="9784080" cy="384048"/>
          </a:xfrm>
          <a:prstGeom prst="rect">
            <a:avLst/>
          </a:prstGeom>
          <a:noFill/>
          <a:ln/>
        </p:spPr>
        <p:txBody>
          <a:bodyPr wrap="square" lIns="0" tIns="0" rIns="0" bIns="0" rtlCol="0" anchor="t"/>
          <a:lstStyle/>
          <a:p>
            <a:pPr indent="0" marL="0">
              <a:buNone/>
            </a:pPr>
            <a:r>
              <a:rPr lang="en-US" sz="2400" b="1" spc="150" kern="0" dirty="0">
                <a:solidFill>
                  <a:srgbClr val="0C1670"/>
                </a:solidFill>
                <a:latin typeface="Arial" pitchFamily="34" charset="0"/>
                <a:ea typeface="Arial" pitchFamily="34" charset="-122"/>
                <a:cs typeface="Arial" pitchFamily="34" charset="-120"/>
              </a:rPr>
              <a:t>ACOLHIMENTO SEM JULGAMENTO</a:t>
            </a:r>
            <a:endParaRPr lang="en-US" sz="2400" dirty="0"/>
          </a:p>
        </p:txBody>
      </p:sp>
      <p:sp>
        <p:nvSpPr>
          <p:cNvPr id="13" name="Text 11"/>
          <p:cNvSpPr txBox="1"/>
          <p:nvPr/>
        </p:nvSpPr>
        <p:spPr>
          <a:xfrm>
            <a:off x="1783080" y="4069080"/>
            <a:ext cx="9784080" cy="384048"/>
          </a:xfrm>
          <a:prstGeom prst="rect">
            <a:avLst/>
          </a:prstGeom>
          <a:noFill/>
          <a:ln/>
        </p:spPr>
        <p:txBody>
          <a:bodyPr wrap="square" lIns="0" tIns="0" rIns="0" bIns="0" rtlCol="0" anchor="t"/>
          <a:lstStyle/>
          <a:p>
            <a:pPr indent="0" marL="0">
              <a:buNone/>
            </a:pPr>
            <a:r>
              <a:rPr lang="en-US" sz="2400" dirty="0">
                <a:solidFill>
                  <a:srgbClr val="0C1670"/>
                </a:solidFill>
                <a:latin typeface="Arial" pitchFamily="34" charset="0"/>
                <a:ea typeface="Arial" pitchFamily="34" charset="-122"/>
                <a:cs typeface="Arial" pitchFamily="34" charset="-120"/>
              </a:rPr>
              <a:t>Espaço privativo e escuta qualificada</a:t>
            </a:r>
            <a:endParaRPr lang="en-US" sz="2400" dirty="0"/>
          </a:p>
        </p:txBody>
      </p:sp>
      <p:sp>
        <p:nvSpPr>
          <p:cNvPr id="14" name="Text 12"/>
          <p:cNvSpPr txBox="1"/>
          <p:nvPr/>
        </p:nvSpPr>
        <p:spPr>
          <a:xfrm>
            <a:off x="548640" y="4544568"/>
            <a:ext cx="1097280" cy="777240"/>
          </a:xfrm>
          <a:prstGeom prst="rect">
            <a:avLst/>
          </a:prstGeom>
          <a:noFill/>
          <a:ln/>
        </p:spPr>
        <p:txBody>
          <a:bodyPr wrap="square" lIns="0" tIns="0" rIns="0" bIns="0" rtlCol="0" anchor="ctr"/>
          <a:lstStyle/>
          <a:p>
            <a:pPr indent="0" marL="0">
              <a:buNone/>
            </a:pPr>
            <a:r>
              <a:rPr lang="en-US" sz="4400" b="1" dirty="0">
                <a:solidFill>
                  <a:srgbClr val="0C1670"/>
                </a:solidFill>
                <a:latin typeface="Arial" pitchFamily="34" charset="0"/>
                <a:ea typeface="Arial" pitchFamily="34" charset="-122"/>
                <a:cs typeface="Arial" pitchFamily="34" charset="-120"/>
              </a:rPr>
              <a:t>04</a:t>
            </a:r>
            <a:endParaRPr lang="en-US" sz="4400" dirty="0"/>
          </a:p>
        </p:txBody>
      </p:sp>
      <p:sp>
        <p:nvSpPr>
          <p:cNvPr id="15" name="Text 13"/>
          <p:cNvSpPr txBox="1"/>
          <p:nvPr/>
        </p:nvSpPr>
        <p:spPr>
          <a:xfrm>
            <a:off x="1783080" y="4562856"/>
            <a:ext cx="9784080" cy="384048"/>
          </a:xfrm>
          <a:prstGeom prst="rect">
            <a:avLst/>
          </a:prstGeom>
          <a:noFill/>
          <a:ln/>
        </p:spPr>
        <p:txBody>
          <a:bodyPr wrap="square" lIns="0" tIns="0" rIns="0" bIns="0" rtlCol="0" anchor="t"/>
          <a:lstStyle/>
          <a:p>
            <a:pPr indent="0" marL="0">
              <a:buNone/>
            </a:pPr>
            <a:r>
              <a:rPr lang="en-US" sz="2400" b="1" spc="150" kern="0" dirty="0">
                <a:solidFill>
                  <a:srgbClr val="0C1670"/>
                </a:solidFill>
                <a:latin typeface="Arial" pitchFamily="34" charset="0"/>
                <a:ea typeface="Arial" pitchFamily="34" charset="-122"/>
                <a:cs typeface="Arial" pitchFamily="34" charset="-120"/>
              </a:rPr>
              <a:t>INTEGRAÇÃO MULTIDISCIPLINAR</a:t>
            </a:r>
            <a:endParaRPr lang="en-US" sz="2400" dirty="0"/>
          </a:p>
        </p:txBody>
      </p:sp>
      <p:sp>
        <p:nvSpPr>
          <p:cNvPr id="16" name="Text 14"/>
          <p:cNvSpPr txBox="1"/>
          <p:nvPr/>
        </p:nvSpPr>
        <p:spPr>
          <a:xfrm>
            <a:off x="1783080" y="4937760"/>
            <a:ext cx="9784080" cy="384048"/>
          </a:xfrm>
          <a:prstGeom prst="rect">
            <a:avLst/>
          </a:prstGeom>
          <a:noFill/>
          <a:ln/>
        </p:spPr>
        <p:txBody>
          <a:bodyPr wrap="square" lIns="0" tIns="0" rIns="0" bIns="0" rtlCol="0" anchor="t"/>
          <a:lstStyle/>
          <a:p>
            <a:pPr indent="0" marL="0">
              <a:buNone/>
            </a:pPr>
            <a:r>
              <a:rPr lang="en-US" sz="2400" dirty="0">
                <a:solidFill>
                  <a:srgbClr val="0C1670"/>
                </a:solidFill>
                <a:latin typeface="Arial" pitchFamily="34" charset="0"/>
                <a:ea typeface="Arial" pitchFamily="34" charset="-122"/>
                <a:cs typeface="Arial" pitchFamily="34" charset="-120"/>
              </a:rPr>
              <a:t>Da emergência ao seguimento</a:t>
            </a:r>
            <a:endParaRPr lang="en-US" sz="2400" dirty="0"/>
          </a:p>
        </p:txBody>
      </p:sp>
      <p:sp>
        <p:nvSpPr>
          <p:cNvPr id="17" name="Text 15"/>
          <p:cNvSpPr txBox="1"/>
          <p:nvPr/>
        </p:nvSpPr>
        <p:spPr>
          <a:xfrm>
            <a:off x="548640" y="5468112"/>
            <a:ext cx="11091672" cy="329184"/>
          </a:xfrm>
          <a:prstGeom prst="rect">
            <a:avLst/>
          </a:prstGeom>
          <a:noFill/>
          <a:ln/>
        </p:spPr>
        <p:txBody>
          <a:bodyPr wrap="square" lIns="0" tIns="0" rIns="0" bIns="0" rtlCol="0" anchor="b"/>
          <a:lstStyle/>
          <a:p>
            <a:pPr indent="0" marL="0">
              <a:buNone/>
            </a:pPr>
            <a:r>
              <a:rPr lang="en-US" sz="1100" i="1" dirty="0">
                <a:solidFill>
                  <a:srgbClr val="0C1670"/>
                </a:solidFill>
                <a:latin typeface="Arial" pitchFamily="34" charset="0"/>
                <a:ea typeface="Arial" pitchFamily="34" charset="-122"/>
                <a:cs typeface="Arial" pitchFamily="34" charset="-120"/>
              </a:rPr>
              <a:t>Fontes: Código Penal, art. 217-A; Portaria de Consolidação GM/MS nº 4/2017 (Lista Nacional de Notificação Compulsória); ECA, art. 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SLIDE 9 · OPÇÃO B (recurso visual diferente) — grade 2×2, quatro blocos de mesmo peso</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CONCLUSÃO</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Quatro mensagens para a prática médica</a:t>
            </a:r>
            <a:endParaRPr lang="en-US" sz="3200" dirty="0"/>
          </a:p>
        </p:txBody>
      </p:sp>
      <p:sp>
        <p:nvSpPr>
          <p:cNvPr id="5" name="Shape 3"/>
          <p:cNvSpPr/>
          <p:nvPr/>
        </p:nvSpPr>
        <p:spPr>
          <a:xfrm>
            <a:off x="548640" y="1938528"/>
            <a:ext cx="5409590" cy="1600200"/>
          </a:xfrm>
          <a:prstGeom prst="roundRect">
            <a:avLst>
              <a:gd name="adj" fmla="val 16000"/>
            </a:avLst>
          </a:prstGeom>
          <a:solidFill>
            <a:srgbClr val="0C1670"/>
          </a:solidFill>
          <a:ln w="12700">
            <a:solidFill>
              <a:srgbClr val="0C1670"/>
            </a:solidFill>
            <a:prstDash val="solid"/>
          </a:ln>
        </p:spPr>
      </p:sp>
      <p:sp>
        <p:nvSpPr>
          <p:cNvPr id="6" name="Text 4"/>
          <p:cNvSpPr txBox="1"/>
          <p:nvPr/>
        </p:nvSpPr>
        <p:spPr>
          <a:xfrm>
            <a:off x="822960" y="2048256"/>
            <a:ext cx="1051560" cy="777240"/>
          </a:xfrm>
          <a:prstGeom prst="rect">
            <a:avLst/>
          </a:prstGeom>
          <a:noFill/>
          <a:ln/>
        </p:spPr>
        <p:txBody>
          <a:bodyPr wrap="square" lIns="0" tIns="0" rIns="0" bIns="0" rtlCol="0" anchor="ctr"/>
          <a:lstStyle/>
          <a:p>
            <a:pPr indent="0" marL="0">
              <a:buNone/>
            </a:pPr>
            <a:r>
              <a:rPr lang="en-US" sz="4000" b="1" dirty="0">
                <a:solidFill>
                  <a:srgbClr val="FFD0F5"/>
                </a:solidFill>
                <a:latin typeface="Arial" pitchFamily="34" charset="0"/>
                <a:ea typeface="Arial" pitchFamily="34" charset="-122"/>
                <a:cs typeface="Arial" pitchFamily="34" charset="-120"/>
              </a:rPr>
              <a:t>01</a:t>
            </a:r>
            <a:endParaRPr lang="en-US" sz="4000" dirty="0"/>
          </a:p>
        </p:txBody>
      </p:sp>
      <p:sp>
        <p:nvSpPr>
          <p:cNvPr id="7" name="Text 5"/>
          <p:cNvSpPr txBox="1"/>
          <p:nvPr/>
        </p:nvSpPr>
        <p:spPr>
          <a:xfrm>
            <a:off x="1920240" y="2048256"/>
            <a:ext cx="3855110" cy="777240"/>
          </a:xfrm>
          <a:prstGeom prst="rect">
            <a:avLst/>
          </a:prstGeom>
          <a:noFill/>
          <a:ln/>
        </p:spPr>
        <p:txBody>
          <a:bodyPr wrap="square" lIns="0" tIns="0" rIns="0" bIns="0" rtlCol="0" anchor="ctr"/>
          <a:lstStyle/>
          <a:p>
            <a:pPr indent="0" marL="0">
              <a:buNone/>
            </a:pPr>
            <a:r>
              <a:rPr lang="en-US" sz="2400" b="1" dirty="0">
                <a:solidFill>
                  <a:srgbClr val="FFD0F5"/>
                </a:solidFill>
                <a:latin typeface="Arial" pitchFamily="34" charset="0"/>
                <a:ea typeface="Arial" pitchFamily="34" charset="-122"/>
                <a:cs typeface="Arial" pitchFamily="34" charset="-120"/>
              </a:rPr>
              <a:t>SUSPEIÇÃO CLÍNICA</a:t>
            </a:r>
            <a:endParaRPr lang="en-US" sz="2400" dirty="0"/>
          </a:p>
        </p:txBody>
      </p:sp>
      <p:sp>
        <p:nvSpPr>
          <p:cNvPr id="8" name="Text 6"/>
          <p:cNvSpPr txBox="1"/>
          <p:nvPr/>
        </p:nvSpPr>
        <p:spPr>
          <a:xfrm>
            <a:off x="822960" y="2926080"/>
            <a:ext cx="4998110" cy="45720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Gravidez &lt; 14 anos é violência</a:t>
            </a:r>
            <a:endParaRPr lang="en-US" sz="2400" dirty="0"/>
          </a:p>
        </p:txBody>
      </p:sp>
      <p:sp>
        <p:nvSpPr>
          <p:cNvPr id="9" name="Shape 7"/>
          <p:cNvSpPr/>
          <p:nvPr/>
        </p:nvSpPr>
        <p:spPr>
          <a:xfrm>
            <a:off x="6233465" y="1938528"/>
            <a:ext cx="5409590" cy="1600200"/>
          </a:xfrm>
          <a:prstGeom prst="roundRect">
            <a:avLst>
              <a:gd name="adj" fmla="val 16000"/>
            </a:avLst>
          </a:prstGeom>
          <a:solidFill>
            <a:srgbClr val="0C1670"/>
          </a:solidFill>
          <a:ln w="12700">
            <a:solidFill>
              <a:srgbClr val="0C1670"/>
            </a:solidFill>
            <a:prstDash val="solid"/>
          </a:ln>
        </p:spPr>
      </p:sp>
      <p:sp>
        <p:nvSpPr>
          <p:cNvPr id="10" name="Text 8"/>
          <p:cNvSpPr txBox="1"/>
          <p:nvPr/>
        </p:nvSpPr>
        <p:spPr>
          <a:xfrm>
            <a:off x="6507785" y="2048256"/>
            <a:ext cx="1051560" cy="777240"/>
          </a:xfrm>
          <a:prstGeom prst="rect">
            <a:avLst/>
          </a:prstGeom>
          <a:noFill/>
          <a:ln/>
        </p:spPr>
        <p:txBody>
          <a:bodyPr wrap="square" lIns="0" tIns="0" rIns="0" bIns="0" rtlCol="0" anchor="ctr"/>
          <a:lstStyle/>
          <a:p>
            <a:pPr indent="0" marL="0">
              <a:buNone/>
            </a:pPr>
            <a:r>
              <a:rPr lang="en-US" sz="4000" b="1" dirty="0">
                <a:solidFill>
                  <a:srgbClr val="FFD0F5"/>
                </a:solidFill>
                <a:latin typeface="Arial" pitchFamily="34" charset="0"/>
                <a:ea typeface="Arial" pitchFamily="34" charset="-122"/>
                <a:cs typeface="Arial" pitchFamily="34" charset="-120"/>
              </a:rPr>
              <a:t>02</a:t>
            </a:r>
            <a:endParaRPr lang="en-US" sz="4000" dirty="0"/>
          </a:p>
        </p:txBody>
      </p:sp>
      <p:sp>
        <p:nvSpPr>
          <p:cNvPr id="11" name="Text 9"/>
          <p:cNvSpPr txBox="1"/>
          <p:nvPr/>
        </p:nvSpPr>
        <p:spPr>
          <a:xfrm>
            <a:off x="7605065" y="2048256"/>
            <a:ext cx="3855110" cy="777240"/>
          </a:xfrm>
          <a:prstGeom prst="rect">
            <a:avLst/>
          </a:prstGeom>
          <a:noFill/>
          <a:ln/>
        </p:spPr>
        <p:txBody>
          <a:bodyPr wrap="square" lIns="0" tIns="0" rIns="0" bIns="0" rtlCol="0" anchor="ctr"/>
          <a:lstStyle/>
          <a:p>
            <a:pPr indent="0" marL="0">
              <a:buNone/>
            </a:pPr>
            <a:r>
              <a:rPr lang="en-US" sz="2400" b="1" dirty="0">
                <a:solidFill>
                  <a:srgbClr val="FFD0F5"/>
                </a:solidFill>
                <a:latin typeface="Arial" pitchFamily="34" charset="0"/>
                <a:ea typeface="Arial" pitchFamily="34" charset="-122"/>
                <a:cs typeface="Arial" pitchFamily="34" charset="-120"/>
              </a:rPr>
              <a:t>NOTIFICAÇÃO COMPULSÓRIA</a:t>
            </a:r>
            <a:endParaRPr lang="en-US" sz="2400" dirty="0"/>
          </a:p>
        </p:txBody>
      </p:sp>
      <p:sp>
        <p:nvSpPr>
          <p:cNvPr id="12" name="Text 10"/>
          <p:cNvSpPr txBox="1"/>
          <p:nvPr/>
        </p:nvSpPr>
        <p:spPr>
          <a:xfrm>
            <a:off x="6507785" y="2926080"/>
            <a:ext cx="4998110" cy="45720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SINAN em 24 h e Conselho Tutelar</a:t>
            </a:r>
            <a:endParaRPr lang="en-US" sz="2400" dirty="0"/>
          </a:p>
        </p:txBody>
      </p:sp>
      <p:sp>
        <p:nvSpPr>
          <p:cNvPr id="13" name="Shape 11"/>
          <p:cNvSpPr/>
          <p:nvPr/>
        </p:nvSpPr>
        <p:spPr>
          <a:xfrm>
            <a:off x="548640" y="3675888"/>
            <a:ext cx="5409590" cy="1600200"/>
          </a:xfrm>
          <a:prstGeom prst="roundRect">
            <a:avLst>
              <a:gd name="adj" fmla="val 16000"/>
            </a:avLst>
          </a:prstGeom>
          <a:solidFill>
            <a:srgbClr val="0C1670"/>
          </a:solidFill>
          <a:ln w="12700">
            <a:solidFill>
              <a:srgbClr val="0C1670"/>
            </a:solidFill>
            <a:prstDash val="solid"/>
          </a:ln>
        </p:spPr>
      </p:sp>
      <p:sp>
        <p:nvSpPr>
          <p:cNvPr id="14" name="Text 12"/>
          <p:cNvSpPr txBox="1"/>
          <p:nvPr/>
        </p:nvSpPr>
        <p:spPr>
          <a:xfrm>
            <a:off x="822960" y="3785616"/>
            <a:ext cx="1051560" cy="777240"/>
          </a:xfrm>
          <a:prstGeom prst="rect">
            <a:avLst/>
          </a:prstGeom>
          <a:noFill/>
          <a:ln/>
        </p:spPr>
        <p:txBody>
          <a:bodyPr wrap="square" lIns="0" tIns="0" rIns="0" bIns="0" rtlCol="0" anchor="ctr"/>
          <a:lstStyle/>
          <a:p>
            <a:pPr indent="0" marL="0">
              <a:buNone/>
            </a:pPr>
            <a:r>
              <a:rPr lang="en-US" sz="4000" b="1" dirty="0">
                <a:solidFill>
                  <a:srgbClr val="FFD0F5"/>
                </a:solidFill>
                <a:latin typeface="Arial" pitchFamily="34" charset="0"/>
                <a:ea typeface="Arial" pitchFamily="34" charset="-122"/>
                <a:cs typeface="Arial" pitchFamily="34" charset="-120"/>
              </a:rPr>
              <a:t>03</a:t>
            </a:r>
            <a:endParaRPr lang="en-US" sz="4000" dirty="0"/>
          </a:p>
        </p:txBody>
      </p:sp>
      <p:sp>
        <p:nvSpPr>
          <p:cNvPr id="15" name="Text 13"/>
          <p:cNvSpPr txBox="1"/>
          <p:nvPr/>
        </p:nvSpPr>
        <p:spPr>
          <a:xfrm>
            <a:off x="1920240" y="3785616"/>
            <a:ext cx="3855110" cy="777240"/>
          </a:xfrm>
          <a:prstGeom prst="rect">
            <a:avLst/>
          </a:prstGeom>
          <a:noFill/>
          <a:ln/>
        </p:spPr>
        <p:txBody>
          <a:bodyPr wrap="square" lIns="0" tIns="0" rIns="0" bIns="0" rtlCol="0" anchor="ctr"/>
          <a:lstStyle/>
          <a:p>
            <a:pPr indent="0" marL="0">
              <a:buNone/>
            </a:pPr>
            <a:r>
              <a:rPr lang="en-US" sz="2400" b="1" dirty="0">
                <a:solidFill>
                  <a:srgbClr val="FFD0F5"/>
                </a:solidFill>
                <a:latin typeface="Arial" pitchFamily="34" charset="0"/>
                <a:ea typeface="Arial" pitchFamily="34" charset="-122"/>
                <a:cs typeface="Arial" pitchFamily="34" charset="-120"/>
              </a:rPr>
              <a:t>ACOLHIMENTO SEM JULGAMENTO</a:t>
            </a:r>
            <a:endParaRPr lang="en-US" sz="2400" dirty="0"/>
          </a:p>
        </p:txBody>
      </p:sp>
      <p:sp>
        <p:nvSpPr>
          <p:cNvPr id="16" name="Text 14"/>
          <p:cNvSpPr txBox="1"/>
          <p:nvPr/>
        </p:nvSpPr>
        <p:spPr>
          <a:xfrm>
            <a:off x="822960" y="4663440"/>
            <a:ext cx="4998110" cy="45720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Escuta privativa e qualificada</a:t>
            </a:r>
            <a:endParaRPr lang="en-US" sz="2400" dirty="0"/>
          </a:p>
        </p:txBody>
      </p:sp>
      <p:sp>
        <p:nvSpPr>
          <p:cNvPr id="17" name="Shape 15"/>
          <p:cNvSpPr/>
          <p:nvPr/>
        </p:nvSpPr>
        <p:spPr>
          <a:xfrm>
            <a:off x="6233465" y="3675888"/>
            <a:ext cx="5409590" cy="1600200"/>
          </a:xfrm>
          <a:prstGeom prst="roundRect">
            <a:avLst>
              <a:gd name="adj" fmla="val 16000"/>
            </a:avLst>
          </a:prstGeom>
          <a:solidFill>
            <a:srgbClr val="0C1670"/>
          </a:solidFill>
          <a:ln w="12700">
            <a:solidFill>
              <a:srgbClr val="0C1670"/>
            </a:solidFill>
            <a:prstDash val="solid"/>
          </a:ln>
        </p:spPr>
      </p:sp>
      <p:sp>
        <p:nvSpPr>
          <p:cNvPr id="18" name="Text 16"/>
          <p:cNvSpPr txBox="1"/>
          <p:nvPr/>
        </p:nvSpPr>
        <p:spPr>
          <a:xfrm>
            <a:off x="6507785" y="3785616"/>
            <a:ext cx="1051560" cy="777240"/>
          </a:xfrm>
          <a:prstGeom prst="rect">
            <a:avLst/>
          </a:prstGeom>
          <a:noFill/>
          <a:ln/>
        </p:spPr>
        <p:txBody>
          <a:bodyPr wrap="square" lIns="0" tIns="0" rIns="0" bIns="0" rtlCol="0" anchor="ctr"/>
          <a:lstStyle/>
          <a:p>
            <a:pPr indent="0" marL="0">
              <a:buNone/>
            </a:pPr>
            <a:r>
              <a:rPr lang="en-US" sz="4000" b="1" dirty="0">
                <a:solidFill>
                  <a:srgbClr val="FFD0F5"/>
                </a:solidFill>
                <a:latin typeface="Arial" pitchFamily="34" charset="0"/>
                <a:ea typeface="Arial" pitchFamily="34" charset="-122"/>
                <a:cs typeface="Arial" pitchFamily="34" charset="-120"/>
              </a:rPr>
              <a:t>04</a:t>
            </a:r>
            <a:endParaRPr lang="en-US" sz="4000" dirty="0"/>
          </a:p>
        </p:txBody>
      </p:sp>
      <p:sp>
        <p:nvSpPr>
          <p:cNvPr id="19" name="Text 17"/>
          <p:cNvSpPr txBox="1"/>
          <p:nvPr/>
        </p:nvSpPr>
        <p:spPr>
          <a:xfrm>
            <a:off x="7605065" y="3785616"/>
            <a:ext cx="3855110" cy="777240"/>
          </a:xfrm>
          <a:prstGeom prst="rect">
            <a:avLst/>
          </a:prstGeom>
          <a:noFill/>
          <a:ln/>
        </p:spPr>
        <p:txBody>
          <a:bodyPr wrap="square" lIns="0" tIns="0" rIns="0" bIns="0" rtlCol="0" anchor="ctr"/>
          <a:lstStyle/>
          <a:p>
            <a:pPr indent="0" marL="0">
              <a:buNone/>
            </a:pPr>
            <a:r>
              <a:rPr lang="en-US" sz="2400" b="1" dirty="0">
                <a:solidFill>
                  <a:srgbClr val="FFD0F5"/>
                </a:solidFill>
                <a:latin typeface="Arial" pitchFamily="34" charset="0"/>
                <a:ea typeface="Arial" pitchFamily="34" charset="-122"/>
                <a:cs typeface="Arial" pitchFamily="34" charset="-120"/>
              </a:rPr>
              <a:t>INTEGRAÇÃO MULTIDISCIPLINAR</a:t>
            </a:r>
            <a:endParaRPr lang="en-US" sz="2400" dirty="0"/>
          </a:p>
        </p:txBody>
      </p:sp>
      <p:sp>
        <p:nvSpPr>
          <p:cNvPr id="20" name="Text 18"/>
          <p:cNvSpPr txBox="1"/>
          <p:nvPr/>
        </p:nvSpPr>
        <p:spPr>
          <a:xfrm>
            <a:off x="6507785" y="4663440"/>
            <a:ext cx="4998110" cy="45720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Da emergência ao seguimento</a:t>
            </a:r>
            <a:endParaRPr lang="en-US" sz="2400" dirty="0"/>
          </a:p>
        </p:txBody>
      </p:sp>
      <p:sp>
        <p:nvSpPr>
          <p:cNvPr id="21" name="Text 19"/>
          <p:cNvSpPr txBox="1"/>
          <p:nvPr/>
        </p:nvSpPr>
        <p:spPr>
          <a:xfrm>
            <a:off x="548640" y="5468112"/>
            <a:ext cx="11091672" cy="329184"/>
          </a:xfrm>
          <a:prstGeom prst="rect">
            <a:avLst/>
          </a:prstGeom>
          <a:noFill/>
          <a:ln/>
        </p:spPr>
        <p:txBody>
          <a:bodyPr wrap="square" lIns="0" tIns="0" rIns="0" bIns="0" rtlCol="0" anchor="b"/>
          <a:lstStyle/>
          <a:p>
            <a:pPr indent="0" marL="0">
              <a:buNone/>
            </a:pPr>
            <a:r>
              <a:rPr lang="en-US" sz="1100" i="1" dirty="0">
                <a:solidFill>
                  <a:srgbClr val="0C1670"/>
                </a:solidFill>
                <a:latin typeface="Arial" pitchFamily="34" charset="0"/>
                <a:ea typeface="Arial" pitchFamily="34" charset="-122"/>
                <a:cs typeface="Arial" pitchFamily="34" charset="-120"/>
              </a:rPr>
              <a:t>Fontes: Código Penal, art. 217-A; Portaria de Consolidação GM/MS nº 4/2017 (Lista Nacional de Notificação Compulsória); ECA, art. 13.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assets/conamed_logo.png">    </p:cNvPr>
          <p:cNvPicPr>
            <a:picLocks noChangeAspect="1"/>
          </p:cNvPicPr>
          <p:nvPr/>
        </p:nvPicPr>
        <p:blipFill>
          <a:blip r:embed="rId1"/>
          <a:stretch>
            <a:fillRect/>
          </a:stretch>
        </p:blipFill>
        <p:spPr>
          <a:xfrm>
            <a:off x="4303016" y="1170432"/>
            <a:ext cx="3585664" cy="2549503"/>
          </a:xfrm>
          <a:prstGeom prst="rect">
            <a:avLst/>
          </a:prstGeom>
        </p:spPr>
      </p:pic>
      <p:sp>
        <p:nvSpPr>
          <p:cNvPr id="3" name="Text 0"/>
          <p:cNvSpPr txBox="1"/>
          <p:nvPr/>
        </p:nvSpPr>
        <p:spPr>
          <a:xfrm>
            <a:off x="1554480" y="4133088"/>
            <a:ext cx="9418320" cy="640080"/>
          </a:xfrm>
          <a:prstGeom prst="rect">
            <a:avLst/>
          </a:prstGeom>
          <a:noFill/>
          <a:ln/>
        </p:spPr>
        <p:txBody>
          <a:bodyPr wrap="square" lIns="0" tIns="0" rIns="0" bIns="0" rtlCol="0" anchor="ctr"/>
          <a:lstStyle/>
          <a:p>
            <a:pPr indent="0" marL="0">
              <a:buNone/>
            </a:pPr>
            <a:r>
              <a:rPr lang="en-US" sz="4000" b="1" dirty="0">
                <a:solidFill>
                  <a:srgbClr val="0C1670"/>
                </a:solidFill>
                <a:latin typeface="Arial" pitchFamily="34" charset="0"/>
                <a:ea typeface="Arial" pitchFamily="34" charset="-122"/>
                <a:cs typeface="Arial" pitchFamily="34" charset="-120"/>
              </a:rPr>
              <a:t>NOME: SAM FARIA</a:t>
            </a:r>
            <a:endParaRPr lang="en-US" sz="4000" dirty="0"/>
          </a:p>
        </p:txBody>
      </p:sp>
      <p:sp>
        <p:nvSpPr>
          <p:cNvPr id="4" name="Text 1"/>
          <p:cNvSpPr txBox="1"/>
          <p:nvPr/>
        </p:nvSpPr>
        <p:spPr>
          <a:xfrm>
            <a:off x="1554480" y="4754880"/>
            <a:ext cx="9418320" cy="640080"/>
          </a:xfrm>
          <a:prstGeom prst="rect">
            <a:avLst/>
          </a:prstGeom>
          <a:noFill/>
          <a:ln/>
        </p:spPr>
        <p:txBody>
          <a:bodyPr wrap="square" lIns="0" tIns="0" rIns="0" bIns="0" rtlCol="0" anchor="ctr"/>
          <a:lstStyle/>
          <a:p>
            <a:pPr indent="0" marL="0">
              <a:buNone/>
            </a:pPr>
            <a:r>
              <a:rPr lang="en-US" sz="4000" b="1" dirty="0">
                <a:solidFill>
                  <a:srgbClr val="0C1670"/>
                </a:solidFill>
                <a:latin typeface="Arial" pitchFamily="34" charset="0"/>
                <a:ea typeface="Arial" pitchFamily="34" charset="-122"/>
                <a:cs typeface="Arial" pitchFamily="34" charset="-120"/>
              </a:rPr>
              <a:t>CONTATO: samlfariia@gmail.com</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0" y="-502920"/>
            <a:ext cx="12191695" cy="384048"/>
          </a:xfrm>
          <a:prstGeom prst="rect">
            <a:avLst/>
          </a:prstGeom>
          <a:noFill/>
          <a:ln/>
        </p:spPr>
        <p:txBody>
          <a:bodyPr wrap="square" lIns="0" tIns="0" rIns="0" bIns="0" rtlCol="0" anchor="t"/>
          <a:lstStyle/>
          <a:p>
            <a:pPr indent="0" marL="0">
              <a:buNone/>
            </a:pPr>
            <a:r>
              <a:rPr lang="en-US" sz="1600" b="1" dirty="0">
                <a:solidFill>
                  <a:srgbClr val="555555"/>
                </a:solidFill>
                <a:latin typeface="Arial" pitchFamily="34" charset="0"/>
                <a:ea typeface="Arial" pitchFamily="34" charset="-122"/>
                <a:cs typeface="Arial" pitchFamily="34" charset="-120"/>
              </a:rPr>
              <a:t>APOIO · fora da contagem dos 10 slides — apague se o congresso limitar o total, ou deixe oculto para a arguição</a:t>
            </a:r>
            <a:endParaRPr lang="en-US" sz="1600" dirty="0"/>
          </a:p>
        </p:txBody>
      </p:sp>
      <p:sp>
        <p:nvSpPr>
          <p:cNvPr id="3" name="Text 1"/>
          <p:cNvSpPr txBox="1"/>
          <p:nvPr/>
        </p:nvSpPr>
        <p:spPr>
          <a:xfrm>
            <a:off x="548640" y="246888"/>
            <a:ext cx="8869680" cy="292608"/>
          </a:xfrm>
          <a:prstGeom prst="rect">
            <a:avLst/>
          </a:prstGeom>
          <a:noFill/>
          <a:ln/>
        </p:spPr>
        <p:txBody>
          <a:bodyPr wrap="square" lIns="0" tIns="0" rIns="0" bIns="0" rtlCol="0" anchor="t"/>
          <a:lstStyle/>
          <a:p>
            <a:pPr indent="0" marL="0">
              <a:buNone/>
            </a:pPr>
            <a:r>
              <a:rPr lang="en-US" sz="1400" b="1" spc="300" kern="0" dirty="0">
                <a:solidFill>
                  <a:srgbClr val="0C1670"/>
                </a:solidFill>
                <a:latin typeface="Arial" pitchFamily="34" charset="0"/>
                <a:ea typeface="Arial" pitchFamily="34" charset="-122"/>
                <a:cs typeface="Arial" pitchFamily="34" charset="-120"/>
              </a:rPr>
              <a:t>APOIO PARA A ARGUIÇÃO</a:t>
            </a:r>
            <a:endParaRPr lang="en-US" sz="1400" dirty="0"/>
          </a:p>
        </p:txBody>
      </p:sp>
      <p:sp>
        <p:nvSpPr>
          <p:cNvPr id="4" name="Text 2"/>
          <p:cNvSpPr/>
          <p:nvPr>
            <p:ph idx="104" type="title" hasCustomPrompt="1"/>
          </p:nvPr>
        </p:nvSpPr>
        <p:spPr>
          <a:xfrm>
            <a:off x="548640" y="548640"/>
            <a:ext cx="8915400" cy="950976"/>
          </a:xfrm>
          <a:prstGeom prst="rect">
            <a:avLst/>
          </a:prstGeom>
          <a:noFill/>
          <a:ln/>
        </p:spPr>
        <p:txBody>
          <a:bodyPr wrap="square" lIns="0" tIns="0" rIns="0" bIns="0" rtlCol="0" anchor="ctr"/>
          <a:lstStyle/>
          <a:p>
            <a:pPr algn="l" indent="0" marL="0">
              <a:buNone/>
            </a:pPr>
            <a:r>
              <a:rPr lang="en-US" sz="3200" b="1" dirty="0">
                <a:solidFill>
                  <a:srgbClr val="0C1670"/>
                </a:solidFill>
                <a:latin typeface="Arial" pitchFamily="34" charset="0"/>
                <a:ea typeface="Arial" pitchFamily="34" charset="-122"/>
                <a:cs typeface="Arial" pitchFamily="34" charset="-120"/>
              </a:rPr>
              <a:t>Referências</a:t>
            </a:r>
            <a:endParaRPr lang="en-US" sz="3200" dirty="0"/>
          </a:p>
        </p:txBody>
      </p:sp>
      <p:sp>
        <p:nvSpPr>
          <p:cNvPr id="5" name="Text 3"/>
          <p:cNvSpPr txBox="1"/>
          <p:nvPr/>
        </p:nvSpPr>
        <p:spPr>
          <a:xfrm>
            <a:off x="548640" y="1938528"/>
            <a:ext cx="11094415" cy="3749040"/>
          </a:xfrm>
          <a:prstGeom prst="rect">
            <a:avLst/>
          </a:prstGeom>
          <a:noFill/>
          <a:ln/>
        </p:spPr>
        <p:txBody>
          <a:bodyPr wrap="square" lIns="0" tIns="0" rIns="0" bIns="0" rtlCol="0" anchor="t"/>
          <a:lstStyle/>
          <a:p>
            <a:pPr indent="0" marL="0">
              <a:spcAft>
                <a:spcPts val="500"/>
              </a:spcAft>
              <a:buNone/>
            </a:pPr>
            <a:r>
              <a:rPr lang="en-US" sz="1400" dirty="0">
                <a:solidFill>
                  <a:srgbClr val="0C1670"/>
                </a:solidFill>
                <a:latin typeface="Arial" pitchFamily="34" charset="0"/>
                <a:ea typeface="Arial" pitchFamily="34" charset="-122"/>
                <a:cs typeface="Arial" pitchFamily="34" charset="-120"/>
              </a:rPr>
              <a:t>1. BRASIL. Decreto-Lei nº 2.848, de 7 de dezembro de 1940. Código Penal: arts. 128, II, e 217-A.</a:t>
            </a:r>
            <a:endParaRPr lang="en-US" sz="1400" dirty="0"/>
          </a:p>
          <a:p>
            <a:pPr indent="0" marL="0">
              <a:spcAft>
                <a:spcPts val="500"/>
              </a:spcAft>
              <a:buNone/>
            </a:pPr>
            <a:r>
              <a:rPr lang="en-US" sz="1400" dirty="0">
                <a:solidFill>
                  <a:srgbClr val="0C1670"/>
                </a:solidFill>
                <a:latin typeface="Arial" pitchFamily="34" charset="0"/>
                <a:ea typeface="Arial" pitchFamily="34" charset="-122"/>
                <a:cs typeface="Arial" pitchFamily="34" charset="-120"/>
              </a:rPr>
              <a:t>2. BRASIL. Lei nº 8.072, de 25 de julho de 1990. Crimes hediondos.</a:t>
            </a:r>
            <a:endParaRPr lang="en-US" sz="1400" dirty="0"/>
          </a:p>
          <a:p>
            <a:pPr indent="0" marL="0">
              <a:spcAft>
                <a:spcPts val="500"/>
              </a:spcAft>
              <a:buNone/>
            </a:pPr>
            <a:r>
              <a:rPr lang="en-US" sz="1400" dirty="0">
                <a:solidFill>
                  <a:srgbClr val="0C1670"/>
                </a:solidFill>
                <a:latin typeface="Arial" pitchFamily="34" charset="0"/>
                <a:ea typeface="Arial" pitchFamily="34" charset="-122"/>
                <a:cs typeface="Arial" pitchFamily="34" charset="-120"/>
              </a:rPr>
              <a:t>3. BRASIL. Lei nº 8.069, de 13 de julho de 1990. Estatuto da Criança e do Adolescente: art. 13.</a:t>
            </a:r>
            <a:endParaRPr lang="en-US" sz="1400" dirty="0"/>
          </a:p>
          <a:p>
            <a:pPr indent="0" marL="0">
              <a:spcAft>
                <a:spcPts val="500"/>
              </a:spcAft>
              <a:buNone/>
            </a:pPr>
            <a:r>
              <a:rPr lang="en-US" sz="1400" dirty="0">
                <a:solidFill>
                  <a:srgbClr val="0C1670"/>
                </a:solidFill>
                <a:latin typeface="Arial" pitchFamily="34" charset="0"/>
                <a:ea typeface="Arial" pitchFamily="34" charset="-122"/>
                <a:cs typeface="Arial" pitchFamily="34" charset="-120"/>
              </a:rPr>
              <a:t>4. BRASIL. Lei nº 9.970, de 17 de maio de 2000. Dia Nacional de Combate ao Abuso e à Exploração Sexual de Crianças e Adolescentes.</a:t>
            </a:r>
            <a:endParaRPr lang="en-US" sz="1400" dirty="0"/>
          </a:p>
          <a:p>
            <a:pPr indent="0" marL="0">
              <a:spcAft>
                <a:spcPts val="500"/>
              </a:spcAft>
              <a:buNone/>
            </a:pPr>
            <a:r>
              <a:rPr lang="en-US" sz="1400" dirty="0">
                <a:solidFill>
                  <a:srgbClr val="0C1670"/>
                </a:solidFill>
                <a:latin typeface="Arial" pitchFamily="34" charset="0"/>
                <a:ea typeface="Arial" pitchFamily="34" charset="-122"/>
                <a:cs typeface="Arial" pitchFamily="34" charset="-120"/>
              </a:rPr>
              <a:t>5. BRASIL. Lei nº 12.845, de 1º de agosto de 2013. Atendimento obrigatório e integral de pessoas em situação de violência sexual.</a:t>
            </a:r>
            <a:endParaRPr lang="en-US" sz="1400" dirty="0"/>
          </a:p>
          <a:p>
            <a:pPr indent="0" marL="0">
              <a:spcAft>
                <a:spcPts val="500"/>
              </a:spcAft>
              <a:buNone/>
            </a:pPr>
            <a:r>
              <a:rPr lang="en-US" sz="1400" dirty="0">
                <a:solidFill>
                  <a:srgbClr val="0C1670"/>
                </a:solidFill>
                <a:latin typeface="Arial" pitchFamily="34" charset="0"/>
                <a:ea typeface="Arial" pitchFamily="34" charset="-122"/>
                <a:cs typeface="Arial" pitchFamily="34" charset="-120"/>
              </a:rPr>
              <a:t>6. BRASIL. Ministério da Saúde. Portaria de Consolidação GM/MS nº 4, de 28 de setembro de 2017, Anexo V: Lista Nacional de Notificação Compulsória.</a:t>
            </a:r>
            <a:endParaRPr lang="en-US" sz="1400" dirty="0"/>
          </a:p>
          <a:p>
            <a:pPr indent="0" marL="0">
              <a:spcAft>
                <a:spcPts val="500"/>
              </a:spcAft>
              <a:buNone/>
            </a:pPr>
            <a:r>
              <a:rPr lang="en-US" sz="1400" dirty="0">
                <a:solidFill>
                  <a:srgbClr val="0C1670"/>
                </a:solidFill>
                <a:latin typeface="Arial" pitchFamily="34" charset="0"/>
                <a:ea typeface="Arial" pitchFamily="34" charset="-122"/>
                <a:cs typeface="Arial" pitchFamily="34" charset="-120"/>
              </a:rPr>
              <a:t>7. BRASIL. Ministério da Saúde. Protocolo Clínico e Diretrizes Terapêuticas para Profilaxia Pós-Exposição (PEP) de Risco à Infecção pelo HIV, IST e Hepatites Virais.</a:t>
            </a:r>
            <a:endParaRPr lang="en-US" sz="1400" dirty="0"/>
          </a:p>
          <a:p>
            <a:pPr indent="0" marL="0">
              <a:spcAft>
                <a:spcPts val="500"/>
              </a:spcAft>
              <a:buNone/>
            </a:pPr>
            <a:r>
              <a:rPr lang="en-US" sz="1400" dirty="0">
                <a:solidFill>
                  <a:srgbClr val="0C1670"/>
                </a:solidFill>
                <a:latin typeface="Arial" pitchFamily="34" charset="0"/>
                <a:ea typeface="Arial" pitchFamily="34" charset="-122"/>
                <a:cs typeface="Arial" pitchFamily="34" charset="-120"/>
              </a:rPr>
              <a:t>8. BRASIL. Ministério da Saúde. Painel de Monitoramento de Nascidos Vivos (SINASC): Espírito Santo, 2024.</a:t>
            </a:r>
            <a:endParaRPr lang="en-US" sz="1400" dirty="0"/>
          </a:p>
          <a:p>
            <a:pPr indent="0" marL="0">
              <a:spcAft>
                <a:spcPts val="500"/>
              </a:spcAft>
              <a:buNone/>
            </a:pPr>
            <a:r>
              <a:rPr lang="en-US" sz="1400" dirty="0">
                <a:solidFill>
                  <a:srgbClr val="0C1670"/>
                </a:solidFill>
                <a:latin typeface="Arial" pitchFamily="34" charset="0"/>
                <a:ea typeface="Arial" pitchFamily="34" charset="-122"/>
                <a:cs typeface="Arial" pitchFamily="34" charset="-120"/>
              </a:rPr>
              <a:t>9. SÉCULO DIÁRIO. No Espírito Santo, 689 crianças deram à luz entre 2022 e 2025. Vitória, 8 nov. 2025 (levantamento NPLA).</a:t>
            </a:r>
            <a:endParaRPr lang="en-US" sz="1400" dirty="0"/>
          </a:p>
          <a:p>
            <a:pPr indent="0" marL="0">
              <a:spcAft>
                <a:spcPts val="500"/>
              </a:spcAft>
              <a:buNone/>
            </a:pPr>
            <a:r>
              <a:rPr lang="en-US" sz="1400" dirty="0">
                <a:solidFill>
                  <a:srgbClr val="0C1670"/>
                </a:solidFill>
                <a:latin typeface="Arial" pitchFamily="34" charset="0"/>
                <a:ea typeface="Arial" pitchFamily="34" charset="-122"/>
                <a:cs typeface="Arial" pitchFamily="34" charset="-120"/>
              </a:rPr>
              <a:t>10. ESPÍRITO SANTO. Secretaria de Estado da Saúde. Papel do SUS no enfrentamento à violência sexual contra crianças e adolescentes (caso Araceli, 18 de maio).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Violência Sexual Crônica na Infância: Repercussões Obstétricas e Sociais</dc:title>
  <dc:subject>PptxGenJS Presentation</dc:subject>
  <dc:creator>Autores do relato de caso</dc:creator>
  <cp:lastModifiedBy>Autores do relato de caso</cp:lastModifiedBy>
  <cp:revision>1</cp:revision>
  <dcterms:created xsi:type="dcterms:W3CDTF">2026-09-21T18:18:19Z</dcterms:created>
  <dcterms:modified xsi:type="dcterms:W3CDTF">2026-09-21T18:18:19Z</dcterms:modified>
</cp:coreProperties>
</file>