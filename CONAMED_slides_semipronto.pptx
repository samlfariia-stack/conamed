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61" r:id="rId5"/>
    <p:sldId id="264" r:id="rId6"/>
    <p:sldId id="266" r:id="rId7"/>
    <p:sldId id="267" r:id="rId8"/>
    <p:sldId id="270" r:id="rId9"/>
    <p:sldId id="272" r:id="rId10"/>
    <p:sldId id="274" r:id="rId11"/>
    <p:sldId id="27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 1 · Capa" id="{AB8C885B-053C-D2A6-964E-D1FB328C055E}">
          <p14:sldIdLst>
            <p14:sldId id="256"/>
          </p14:sldIdLst>
        </p14:section>
        <p14:section name="Slide 2 · Anamnese — escolha A ou B" id="{BBE20A09-2483-CF56-560E-CAC745577A6B}">
          <p14:sldIdLst>
            <p14:sldId id="257"/>
          </p14:sldIdLst>
        </p14:section>
        <p14:section name="Slide 3 · Exame físico e eclâmpsia — escolha A ou B" id="{3CCDBAE3-763E-3367-6A67-92459E791BD6}">
          <p14:sldIdLst>
            <p14:sldId id="260"/>
          </p14:sldIdLst>
        </p14:section>
        <p14:section name="Slide 4 · Exames — escolha A ou B" id="{4E39B46E-BA3A-9A48-0D25-89895E344EAD}">
          <p14:sldIdLst>
            <p14:sldId id="261"/>
          </p14:sldIdLst>
        </p14:section>
        <p14:section name="Slide 5 · Conduta cirúrgica — escolha A ou B" id="{7F153311-F27C-362F-46F2-A1856E65F548}">
          <p14:sldIdLst>
            <p14:sldId id="264"/>
          </p14:sldIdLst>
        </p14:section>
        <p14:section name="Slide 6 · Discussão — escolha A ou B" id="{3D405B14-9552-27E8-D8FD-ED67092F4452}">
          <p14:sldIdLst>
            <p14:sldId id="266"/>
          </p14:sldIdLst>
        </p14:section>
        <p14:section name="Slide 7 · Profilaxias — escolha A ou B" id="{A78BC67F-CB98-B852-E93A-9BB77F7D7A9F}">
          <p14:sldIdLst>
            <p14:sldId id="267"/>
          </p14:sldIdLst>
        </p14:section>
        <p14:section name="Slide 8 · Marco legal — escolha A ou B" id="{045812E0-5727-DDC2-8507-3DBE42EAC890}">
          <p14:sldIdLst>
            <p14:sldId id="270"/>
          </p14:sldIdLst>
        </p14:section>
        <p14:section name="Slide 9 · Conclusão — escolha A ou B" id="{0A50CBE0-AD55-D86E-C302-46004D8D3679}">
          <p14:sldIdLst>
            <p14:sldId id="272"/>
            <p14:sldId id="274"/>
          </p14:sldIdLst>
        </p14:section>
        <p14:section name="Slide 10 · Encerramento" id="{81C2B309-ED0B-E2B0-ADB0-C7E2C2272DC3}">
          <p14:sldIdLst>
            <p14:sldId id="273"/>
          </p14:sldIdLst>
        </p14:section>
        <p14:section name="Apoio · Referências (fora da contagem dos 10)" id="{A3F81FE1-4E64-2250-3967-2C6104FCFC7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97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· 0:00–0:08 (≈8 s)
FALA:
Boa tarde a todos. Apresentamos o relato de caso 'Violência sexual crônica na infância: repercussões obstétricas e sociais'. [avança para o slide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· 0:08–0:56 (≈48 s)
OPÇÃO A (mais fiel ao modelo) · mantenha uma opção por slide e apague a outra.
FALA:
L.M.S., doze anos, deu entrada na maternidade de referência acompanhada pela mãe, com dor abdominal intensa, cefaleia holocraniana, escotomas cintilantes e edema importante de face e membros inferiores. Estava sonolenta, com fácies de dor e um torpor emocional que chamou a atenção da equipe. A mãe negava doença prévia e negava pré-natal: achava que a filha tinha 'engordado' com a puberdade. A triagem revelou uma gestação avançada. E foi apenas em atendimento privativo com a psicologia que a menina contou o que ninguém havia perguntado: dez meses de violência sexual continuada pelo companheiro da mãe, sob ameaças de morte. Esse silêncio tem consequências clínicas, e é isso que o exame físico vai mostrar. [avança para o slide 3]
NÚMEROS NA TELA: 12 anos · 10 meses (todos ditos na fala)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· 1:00–2:00 (≈60 s)
OPÇÃO B (recurso visual diferente) · mantenha uma opção por slide e apague a outra.
FALA:
Ao exame: pressão arterial de 175 por 115, frequência cardíaca de 118, saturação de 96%. Altura uterina de 31 centímetros, batimentos fetais de 162, sem dinâmica uterina e colo fechado. Reflexos vivos com clônus esgotável de tornozelo e edema de três cruzes. Ou seja: hipertensão grave e sinais de iminência de eclâmpsia em uma gestante que ninguém sabia que estava grávida. Ainda no box de emergência, ela apresentou crise convulsiva tônico-clônica generalizada de cerca de noventa segundos, o que fechou o diagnóstico de eclâmpsia. A conduta foi imediata: sulfato de magnésio, 4 gramas venosos mais 10 gramas intramusculares, seguidos de manutenção, o esquema de Pritchard; hidralazina venosa para a crise hipertensiva; proteção de vias aéreas, oxigênio, sonda vesical de demora e monitorização contínua. Estabilizada a mãe, faltava medir a extensão do dano sistêmico. É o que os exames mostram. [avança para o slide 4]
NÚMEROS NA TELA: PA 175/115 · FC 118 · SpO2 96% · AU 31 cm · BCF 162 · edema 3+/4+ · ~90 s · MgSO4 4 g IV + 10 g IM (todos ditos na fala)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· 2:04–3:03 (≈59 s)
OPÇÃO A (mais fiel ao modelo) · mantenha uma opção por slide e apague a outra.
FALA:
Os exames confirmaram o acometimento multissistêmico. Hemoglobina de 9,8 e plaquetas de 110 mil; creatinina de 1,3 e ureia de 48, indicando lesão renal; transaminases elevadas, TGO 78 e TGP 82; ácido úrico de 7,9; e proteinúria maciça, três cruzes na fita. Um destaque: as plaquetas acima de 100 mil e a ausência de dosagem de DHL não permitem fechar síndrome HELLP completa, mas o padrão já configura pré-eclâmpsia com sinais de gravidade e disfunção de órgãos-alvo. A ultrassonografia de urgência mostrou gestação única, pélvica, de 33 semanas e 4 dias, com batimentos presentes e oligoidrâmnio, ILA de 4,2 centímetros, abaixo do ponto de corte de 5, sugerindo insuficiência placentária crônica. Tínhamos, então, uma mãe de doze anos com eclâmpsia e um feto prematuro em sofrimento crônico. A pergunta seguinte era inevitável: quando e como interromper essa gestação? [avança para o slide 5]
NÚMEROS NA TELA: Hb 9,8 · plaquetas 110 mil · creatinina 1,3 · ureia 48 · TGO 78 · TGP 82 · ác. úrico 7,9 · proteinúria 3+ · 33 s 4 d · ILA 4,2 cm · plaquetas &gt; 100 mil (todos ditos na fala)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· 3:07–4:10 (≈63 s)
OPÇÃO B (recurso visual diferente) · mantenha uma opção por slide e apague a outra.
FALA:
O tratamento definitivo da eclâmpsia é o parto, e a via foi definida pelas condições obstétricas: pressão refratária à hidralazina, instabilidade do binômio, apresentação pélvica, colo fechado e prematuridade. Indicou-se cesariana de urgência, sob anestesia geral. Nasceu um menino vivo, de 1.820 gramas, Apgar 4 e 7, encaminhado à UTI neonatal. Mas o pior ainda viria. Após a dequitação, o útero não contraiu: atonia refratária à massagem bimanual e aos uterotônicos sequenciais, ocitocina, ergometrina e misoprostol. A paciente evoluiu para choque hemorrágico grave, com pressão de 60 por 30 e frequência de 145, um índice de choque acima de 2. Diante do risco iminente de morte, a equipe realizou histerectomia subtotal de salvamento, com transfusão de quatro concentrados de hemácias e dois plasmas frescos. Ela saiu viva para a UTI. Mas saiu sem o útero, aos doze anos. O que isso significa é o que discutimos agora. [avança para o slide 6]
NÚMEROS NA TELA: 1.820 g · Apgar 4/7 · PA 60/30 · FC 145 · índice de choque &gt; 2 · 4 CH + 2 PFC · 12 anos (todos ditos na fala)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· 4:14–5:16 (≈62 s)
OPÇÃO B (recurso visual diferente) · mantenha uma opção por slide e apague a outra.
FALA:
O Brasil inteiro marca o 18 de maio como o dia de combate ao abuso sexual infantil. [pausa] Essa data nasceu aqui, no Espírito Santo: Vitória, 1973, caso Araceli, uma menina de oito anos. Mais de cinquenta anos depois, este mesmo estado ainda registra uma menina-mãe a cada dois dias: 188 nascidos vivos de mães de até 14 anos em 2024. [pausa] L.M.S. poderia ser qualquer uma delas, e o desfecho dela não é acaso; é biologia somada a abandono. A imaturidade vascular e uterina eleva o risco de eclâmpsia, e, sem pré-natal, ninguém aferiu essa pressão antes da convulsão. [pausa] O preço foi a histerectomia aos doze anos, perda definitiva da fertilidade, e a ferida que o exame não mostra: medo, quebra de confiança e alto risco de estresse pós-traumático, com seguimento psicológico e psiquiátrico prolongado. E a pergunta que fica é: isso era inevitável? [avança para o slide 7]
NÚMEROS NA TELA: 18 de maio · 1973 · 8 anos · 188 · 2024 · a cada 2 dias · 14 anos · 12 anos (todos ditos na fala)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· 5:20–5:35 (≈15 s; ≈27 s com a inserção opcional)
OPÇÃO A (mais fiel ao modelo) · mantenha uma opção por slide e apague a outra.
FALA:
A resposta é não. [pausa] A lei já protegia L.M.S.: a Lei do Minuto Seguinte garantia atendimento imediato e profilaxias em qualquer hospital do SUS, sem boletim de ocorrência;
[INSERÇÃO OPCIONAL, ≈12 s, cabe na folga de 38 s e faz a fala citar os prazos que estão na tela] Nas primeiras 72 horas: profilaxia do HIV, por 28 dias, hepatite B e antibióticos para as ISTs. Em até cinco dias: contracepção de emergência.
[avança para o slide 8]
NÚMEROS NA TELA: 72 horas · 28 dias · 5 dias: só são ditos se você usar a inserção opcional · 10 meses (dito no slide 2 e no 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· 5:35–5:45 (≈10 s)
OPÇÃO B (recurso visual diferente) · mantenha uma opção por slide e apague a outra.
FALA:
o artigo 128 autorizava interromper essa gestação, sem ordem judicial. O direito existia. Faltou quem a enxergasse. [pausa] [avança para o slide 9]
NÚMEROS NA TELA: art. 128 (dito aqui) · 1940 (não é dito na fala escolhida) · art. 217-A e 14 anos (ditos no slide 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· 5:45–7:15 (≈90 s; é o slide mais longo da apresentação)
OPÇÃO B (recurso visual diferente) · mantenha uma opção por slide e apague a outra.
FALA:
Por isso a primeira mensagem é suspeição clínica. Gravidez em menor de 14 anos é, pelo artigo 217-A, estupro de vulnerável; o consentimento é juridicamente irrelevante. Ausência de pré-natal, isolamento e mudança de comportamento, em qualquer consulta, obrigam a perguntar. [pausa] A segunda é notificação compulsória. Suspeitou, notificou: SINAN em até 24 horas e comunicação ao Conselho Tutelar. Não é preciso ter certeza; basta a suspeita. É dever, não escolha. [pausa] Mas notificar não basta. Falta saber ouvir.
A terceira mensagem é acolhimento sem julgamento. L.M.S. passou dez meses em silêncio e só falou quando alguém ofereceu o que ela nunca teve: um espaço privativo, seguro, e uma pergunta feita sem pressa. Escuta qualificada não é gentileza; é conduta médica, e evita a revitimização. [pausa] A quarta é integração multidisciplinar desde a emergência: medicina, enfermagem, psicologia e serviço social, porque a eclâmpsia nós tratamos em horas; o trauma, em anos. [pausa] Esta menina sobreviveu. Mas sobreviveu sem o útero, sem a infância e sem ter sido vista por ninguém até convulsionar. [pausa] Este caso não é sobre uma tragédia obstétrica; é sobre um sistema que chegou tarde. A próxima L.M.S. já existe, e vai passar por um consultório. Que seja o nosso. E que, desta vez, alguém pergunte. [pausa] [avança para o slide 10]
NÚMEROS NA TELA: 14 anos · art. 217-A · 24 horas · 10 meses (todos ditos na fala)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APOIO · não faz parte dos 10 slides nem do tempo de fala. Serve para a arguição ("qual a fonte desse dado?"). Corpo em 14 pt de propósito: não é projetado durante a fala.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· 7:15–7:22 (≈7 s) · fala total 7:22 de 8:00 (folga de 38 s)
FALA:
Obrigado. Estamos à disposição da banca.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AMED_CAPA">
    <p:bg>
      <p:bgPr>
        <a:solidFill>
          <a:srgbClr val="FFD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assets/foot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021" y="5801868"/>
            <a:ext cx="6828739" cy="1056132"/>
          </a:xfrm>
          <a:prstGeom prst="rect">
            <a:avLst/>
          </a:prstGeom>
        </p:spPr>
      </p:pic>
      <p:pic>
        <p:nvPicPr>
          <p:cNvPr id="4" name="Image 1" descr="assets/conam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9994" y="101498"/>
            <a:ext cx="2404872" cy="17099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AMED_CONTEUDO">
    <p:bg>
      <p:bgPr>
        <a:solidFill>
          <a:srgbClr val="FFD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</p:sp>
      <p:pic>
        <p:nvPicPr>
          <p:cNvPr id="3" name="Image 0" descr="assets/foot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021" y="5801868"/>
            <a:ext cx="6828739" cy="1056132"/>
          </a:xfrm>
          <a:prstGeom prst="rect">
            <a:avLst/>
          </a:prstGeom>
        </p:spPr>
      </p:pic>
      <p:pic>
        <p:nvPicPr>
          <p:cNvPr id="4" name="Image 1" descr="assets/conam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9994" y="101498"/>
            <a:ext cx="2404872" cy="170992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1554480"/>
            <a:ext cx="9509760" cy="0"/>
          </a:xfrm>
          <a:prstGeom prst="line">
            <a:avLst/>
          </a:prstGeom>
          <a:noFill/>
          <a:ln w="12700">
            <a:solidFill>
              <a:srgbClr val="928C91"/>
            </a:solidFill>
            <a:prstDash val="solid"/>
          </a:ln>
        </p:spPr>
      </p:sp>
      <p:sp>
        <p:nvSpPr>
          <p:cNvPr id="6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48640"/>
            <a:ext cx="8915400" cy="95097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AMED_FINAL">
    <p:bg>
      <p:bgPr>
        <a:solidFill>
          <a:srgbClr val="0C1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" y="1005840"/>
            <a:ext cx="10198303" cy="4846320"/>
          </a:xfrm>
          <a:prstGeom prst="rect">
            <a:avLst/>
          </a:prstGeom>
          <a:solidFill>
            <a:srgbClr val="FFD0F5"/>
          </a:solidFill>
          <a:ln w="12700">
            <a:solidFill>
              <a:srgbClr val="FFD0F5"/>
            </a:solidFill>
            <a:prstDash val="solid"/>
          </a:ln>
        </p:spPr>
      </p:sp>
      <p:pic>
        <p:nvPicPr>
          <p:cNvPr id="3" name="Image 0" descr="assets/footer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021" y="5801868"/>
            <a:ext cx="6828739" cy="10561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Violência Sexual Crônica na Infância:</a:t>
            </a:r>
            <a:endParaRPr lang="en-US" sz="4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Repercussões Obstétricas e Sociais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06424" y="3648456"/>
            <a:ext cx="9976104" cy="0"/>
          </a:xfrm>
          <a:prstGeom prst="line">
            <a:avLst/>
          </a:prstGeom>
          <a:noFill/>
          <a:ln w="12700">
            <a:solidFill>
              <a:srgbClr val="928C9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1929384" y="3794760"/>
            <a:ext cx="9966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AUTORES: </a:t>
            </a: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Heitor C. Silva, Júlia C. de Andrade, Mariana de M. T. B. da Rocha, Pedro H. de S. Oliveira, Pietra M. Ribeiro, Rafael de P. Carvalho, Sam L. de Faria.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ORIENTADORA: </a:t>
            </a: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Dr. Sérgio Emilio Rua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502920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· OPÇÃO A (mais fiel ao modelo) — três cartões, como no modelo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RELATO DE CASO · ANAMNESE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48640"/>
            <a:ext cx="8915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anos, gestação oculta e dez meses de silêncio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3514039" cy="3520440"/>
          </a:xfrm>
          <a:prstGeom prst="roundRect">
            <a:avLst>
              <a:gd name="adj" fmla="val 7806"/>
            </a:avLst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2304288"/>
            <a:ext cx="29653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Queixa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90088"/>
            <a:ext cx="305683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 abdominal</a:t>
            </a:r>
            <a:endParaRPr lang="en-US" sz="24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Cefaleia e escotomas</a:t>
            </a:r>
            <a:endParaRPr lang="en-US" sz="24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Edema: face e MMII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338828" y="1984248"/>
            <a:ext cx="3514039" cy="3520440"/>
          </a:xfrm>
          <a:prstGeom prst="roundRect">
            <a:avLst>
              <a:gd name="adj" fmla="val 7806"/>
            </a:avLst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4613148" y="2304288"/>
            <a:ext cx="29653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613148" y="2990088"/>
            <a:ext cx="305683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pré-natal</a:t>
            </a:r>
            <a:endParaRPr lang="en-US" sz="24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Gestação ignorada</a:t>
            </a:r>
            <a:endParaRPr lang="en-US" sz="24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Torpor emocional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129016" y="1984248"/>
            <a:ext cx="3514039" cy="3520440"/>
          </a:xfrm>
          <a:prstGeom prst="roundRect">
            <a:avLst>
              <a:gd name="adj" fmla="val 7806"/>
            </a:avLst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8403336" y="2304288"/>
            <a:ext cx="29653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Revelação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8403336" y="2990088"/>
            <a:ext cx="305683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Escuta privativa</a:t>
            </a:r>
            <a:endParaRPr lang="en-US" sz="24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meses de violência</a:t>
            </a:r>
            <a:endParaRPr lang="en-US" sz="24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Ameaças de morte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502920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· OPÇÃO B (recurso visual diferente) — fluxo em três etapas: admissão → evento → conduta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EXAME FÍSICO E EVENTO CRÍTICO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48640"/>
            <a:ext cx="8915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Hipertensão grave e convulsão: o diagnóstico é eclâmpsia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3931920" cy="3566160"/>
          </a:xfrm>
          <a:prstGeom prst="roundRect">
            <a:avLst>
              <a:gd name="adj" fmla="val 7692"/>
            </a:avLst>
          </a:prstGeom>
          <a:solidFill>
            <a:srgbClr val="FFE9FA"/>
          </a:solidFill>
          <a:ln w="12700">
            <a:solidFill>
              <a:srgbClr val="FFE9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213969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ADMISSÃO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7860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175/115</a:t>
            </a:r>
            <a:r>
              <a:rPr lang="en-US" sz="24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mmHg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21608"/>
            <a:ext cx="3520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118 · SpO</a:t>
            </a:r>
            <a:r>
              <a:rPr lang="en-US" sz="2400" baseline="-400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96%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31 cm · BCF 162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Clônus · edema 3+/4+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0" y="3493008"/>
            <a:ext cx="384048" cy="457200"/>
          </a:xfrm>
          <a:prstGeom prst="rightArrow">
            <a:avLst/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047488" y="1938528"/>
            <a:ext cx="2743200" cy="3566160"/>
          </a:xfrm>
          <a:prstGeom prst="roundRect">
            <a:avLst>
              <a:gd name="adj" fmla="val 10000"/>
            </a:avLst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5303520" y="21396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898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Convulsão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344728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 s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44988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eclâmpsia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882128" y="3493008"/>
            <a:ext cx="384048" cy="457200"/>
          </a:xfrm>
          <a:prstGeom prst="rightArrow">
            <a:avLst/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357616" y="1938528"/>
            <a:ext cx="3282696" cy="3566160"/>
          </a:xfrm>
          <a:prstGeom prst="roundRect">
            <a:avLst>
              <a:gd name="adj" fmla="val 8357"/>
            </a:avLst>
          </a:prstGeom>
          <a:solidFill>
            <a:srgbClr val="FFE9FA"/>
          </a:solidFill>
          <a:ln w="12700">
            <a:solidFill>
              <a:srgbClr val="FFE9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8613648" y="213969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CONDUTA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613648" y="2715768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MgSO</a:t>
            </a:r>
            <a:r>
              <a:rPr lang="en-US" sz="2400" b="1" baseline="-400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24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Pritchard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 IV + 10 g IM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Hidralazina IV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aérea, O</a:t>
            </a:r>
            <a:r>
              <a:rPr lang="en-US" sz="2400" baseline="-400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SVD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502920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· OPÇÃO A (mais fiel ao modelo) — três colunas do modelo em tabela enxuta, alterados críticos em destaque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EXAMES COMPLEMENTARES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48640"/>
            <a:ext cx="8915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Disfunção de órgãos-alvo e insuficiência placentária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938528"/>
            <a:ext cx="566928" cy="566928"/>
          </a:xfrm>
          <a:prstGeom prst="ellipse">
            <a:avLst/>
          </a:prstGeom>
          <a:solidFill>
            <a:srgbClr val="0C1670"/>
          </a:solidFill>
          <a:ln>
            <a:solidFill>
              <a:srgbClr val="0C167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993392"/>
            <a:ext cx="27825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24328"/>
          <a:ext cx="3514039" cy="175564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C16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Hb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C16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9,8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C16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Plaquetas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 mil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C16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Proteinúria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3+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C16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Ác. úrico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C16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7,9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338828" y="1938528"/>
            <a:ext cx="566928" cy="566928"/>
          </a:xfrm>
          <a:prstGeom prst="ellipse">
            <a:avLst/>
          </a:prstGeom>
          <a:solidFill>
            <a:srgbClr val="0C1670"/>
          </a:solidFill>
          <a:ln>
            <a:solidFill>
              <a:srgbClr val="0C167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052060" y="1993392"/>
            <a:ext cx="27825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Rim e fígado</a:t>
            </a:r>
            <a:endParaRPr lang="en-US" sz="2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38828" y="2624328"/>
          <a:ext cx="3514039" cy="175564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C16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Creatinina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C16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Ureia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C16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C16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TGO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C16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TGP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8129016" y="1938528"/>
            <a:ext cx="566928" cy="566928"/>
          </a:xfrm>
          <a:prstGeom prst="ellipse">
            <a:avLst/>
          </a:prstGeom>
          <a:solidFill>
            <a:srgbClr val="0C1670"/>
          </a:solidFill>
          <a:ln>
            <a:solidFill>
              <a:srgbClr val="0C167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8842248" y="1993392"/>
            <a:ext cx="27825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Ultrassom</a:t>
            </a:r>
            <a:endParaRPr lang="en-US" sz="24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16" y="2624328"/>
          <a:ext cx="3514039" cy="175564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C16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C16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 s 4 d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C16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Feto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C16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pélvico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C16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BCF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C16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presente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C16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ILA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 cm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28C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548640" y="4572000"/>
            <a:ext cx="11094415" cy="859536"/>
          </a:xfrm>
          <a:prstGeom prst="roundRect">
            <a:avLst>
              <a:gd name="adj" fmla="val 21277"/>
            </a:avLst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0"/>
          <p:cNvSpPr txBox="1"/>
          <p:nvPr/>
        </p:nvSpPr>
        <p:spPr>
          <a:xfrm>
            <a:off x="822960" y="4572000"/>
            <a:ext cx="105457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Pré-eclâmpsia com sinais de gravidade.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HELLP completa não fechada: plaquetas &gt; 100 mil, sem DHL.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546811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i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destaque: achados-chave do raciocínio diagnóstico. Unidades: Hb g/dL · plaquetas /mm³ · creatinina, ureia e ácido úrico mg/dL · TGO e TGP U/L.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502920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· OPÇÃO B (recurso visual diferente) — linha do tempo em quatro marcos + desfecho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CONDUTA E EVOLUÇÃO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48640"/>
            <a:ext cx="8915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Cesariana, atonia refratária e histerectomia de salvamento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935442" y="2350008"/>
            <a:ext cx="8320811" cy="0"/>
          </a:xfrm>
          <a:prstGeom prst="line">
            <a:avLst/>
          </a:prstGeom>
          <a:noFill/>
          <a:ln w="381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523962" y="1938528"/>
            <a:ext cx="822960" cy="822960"/>
          </a:xfrm>
          <a:prstGeom prst="ellipse">
            <a:avLst/>
          </a:prstGeom>
          <a:solidFill>
            <a:srgbClr val="0C1670"/>
          </a:solidFill>
          <a:ln>
            <a:solidFill>
              <a:srgbClr val="0C167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898648"/>
            <a:ext cx="2627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Cesariana de urgência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694176"/>
            <a:ext cx="2627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pélvico, PA refratária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297566" y="1938528"/>
            <a:ext cx="822960" cy="822960"/>
          </a:xfrm>
          <a:prstGeom prst="ellipse">
            <a:avLst/>
          </a:prstGeom>
          <a:solidFill>
            <a:srgbClr val="0C1670"/>
          </a:solidFill>
          <a:ln>
            <a:solidFill>
              <a:srgbClr val="0C167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395396" y="2898648"/>
            <a:ext cx="2627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 vivo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395396" y="3694176"/>
            <a:ext cx="2627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1.820 g · Apgar 4/7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071169" y="1938528"/>
            <a:ext cx="822960" cy="822960"/>
          </a:xfrm>
          <a:prstGeom prst="ellipse">
            <a:avLst/>
          </a:prstGeom>
          <a:solidFill>
            <a:srgbClr val="0C1670"/>
          </a:solidFill>
          <a:ln>
            <a:solidFill>
              <a:srgbClr val="0C167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169000" y="2898648"/>
            <a:ext cx="2627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Atonia e choque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169000" y="3694176"/>
            <a:ext cx="2627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 60/30 · FC 145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844773" y="1938528"/>
            <a:ext cx="822960" cy="822960"/>
          </a:xfrm>
          <a:prstGeom prst="ellipse">
            <a:avLst/>
          </a:prstGeom>
          <a:solidFill>
            <a:srgbClr val="0C1670"/>
          </a:solidFill>
          <a:ln>
            <a:solidFill>
              <a:srgbClr val="0C167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942603" y="2898648"/>
            <a:ext cx="2627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Histerectomia subtotal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942603" y="3694176"/>
            <a:ext cx="2627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CH + 2 PFC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48640" y="4626864"/>
            <a:ext cx="11094415" cy="868680"/>
          </a:xfrm>
          <a:prstGeom prst="roundRect">
            <a:avLst>
              <a:gd name="adj" fmla="val 21053"/>
            </a:avLst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822960" y="4626864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Saiu viva para a UTI. </a:t>
            </a:r>
            <a:r>
              <a:rPr lang="en-US" sz="26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o útero, aos 12 anos.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502920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· OPÇÃO B (recurso visual diferente) — 1973 → 2024 (acompanha a abertura da fala) + cadeia de consequências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DISCUSSÃO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48640"/>
            <a:ext cx="8915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Biologia somada a abandono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4526280" cy="2194560"/>
          </a:xfrm>
          <a:prstGeom prst="roundRect">
            <a:avLst>
              <a:gd name="adj" fmla="val 12500"/>
            </a:avLst>
          </a:prstGeom>
          <a:solidFill>
            <a:srgbClr val="FFE9FA"/>
          </a:solidFill>
          <a:ln w="12700">
            <a:solidFill>
              <a:srgbClr val="FFE9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2048256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1973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9008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Vitória, caso Araceli, 8 anos: a origem do 18 de maio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58968" y="2990088"/>
            <a:ext cx="1280160" cy="548640"/>
          </a:xfrm>
          <a:prstGeom prst="rightArrow">
            <a:avLst/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230368" y="24871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+ 50 anos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114032" y="1938528"/>
            <a:ext cx="4526280" cy="2194560"/>
          </a:xfrm>
          <a:prstGeom prst="roundRect">
            <a:avLst>
              <a:gd name="adj" fmla="val 12500"/>
            </a:avLst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7388352" y="204825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7388352" y="299008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 meninas-mães no ES: </a:t>
            </a:r>
            <a:r>
              <a:rPr lang="en-US" sz="24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 cada 2 dias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4361688"/>
            <a:ext cx="2468880" cy="1005840"/>
          </a:xfrm>
          <a:prstGeom prst="roundRect">
            <a:avLst>
              <a:gd name="adj" fmla="val 18182"/>
            </a:avLst>
          </a:prstGeom>
          <a:solidFill>
            <a:srgbClr val="FFE9FA"/>
          </a:solidFill>
          <a:ln w="12700">
            <a:solidFill>
              <a:srgbClr val="FFE9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40080" y="436168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 imaturo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072384" y="4700016"/>
            <a:ext cx="296570" cy="329184"/>
          </a:xfrm>
          <a:prstGeom prst="rightArrow">
            <a:avLst/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423818" y="4361688"/>
            <a:ext cx="2468880" cy="1005840"/>
          </a:xfrm>
          <a:prstGeom prst="roundRect">
            <a:avLst>
              <a:gd name="adj" fmla="val 18182"/>
            </a:avLst>
          </a:prstGeom>
          <a:solidFill>
            <a:srgbClr val="FFE9FA"/>
          </a:solidFill>
          <a:ln w="12700">
            <a:solidFill>
              <a:srgbClr val="FFE9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3515258" y="436168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pré-natal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947562" y="4700016"/>
            <a:ext cx="296570" cy="329184"/>
          </a:xfrm>
          <a:prstGeom prst="rightArrow">
            <a:avLst/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298997" y="4361688"/>
            <a:ext cx="2468880" cy="1005840"/>
          </a:xfrm>
          <a:prstGeom prst="roundRect">
            <a:avLst>
              <a:gd name="adj" fmla="val 18182"/>
            </a:avLst>
          </a:prstGeom>
          <a:solidFill>
            <a:srgbClr val="FFE9FA"/>
          </a:solidFill>
          <a:ln w="12700">
            <a:solidFill>
              <a:srgbClr val="FFE9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6390437" y="436168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Histerectomia aos 12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822741" y="4700016"/>
            <a:ext cx="296570" cy="329184"/>
          </a:xfrm>
          <a:prstGeom prst="rightArrow">
            <a:avLst/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174175" y="4361688"/>
            <a:ext cx="2468880" cy="1005840"/>
          </a:xfrm>
          <a:prstGeom prst="roundRect">
            <a:avLst>
              <a:gd name="adj" fmla="val 18182"/>
            </a:avLst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9265615" y="436168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Trauma prolongado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6811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i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Lei nº 9.970/2000; Painel de Monitoramento de Nascidos Vivos (SINASC/MS), ES, 2024, em levantamento da NPLA (2025). Razão 188 ÷ 366: cálculo dos autores.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502920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· OPÇÃO A (mais fiel ao modelo) — linha do tempo dos prazos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PROFILAXIAS E ISTs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48640"/>
            <a:ext cx="8915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Lei do Minuto Seguinte já garantia as profilaxias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97280" y="2304288"/>
            <a:ext cx="9966960" cy="0"/>
          </a:xfrm>
          <a:prstGeom prst="line">
            <a:avLst/>
          </a:prstGeom>
          <a:noFill/>
          <a:ln w="381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24128" y="1938528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0C1670"/>
          </a:solidFill>
          <a:ln>
            <a:solidFill>
              <a:srgbClr val="0C167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Imediato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852928"/>
            <a:ext cx="329458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Qualquer hospital do SUS, sem BO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814316" y="1938528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0C1670"/>
          </a:solidFill>
          <a:ln>
            <a:solidFill>
              <a:srgbClr val="0C167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72 h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448556" y="2852928"/>
            <a:ext cx="329458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 HIV por 28 dias, hepatite B e ISTs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04504" y="1938528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0C1670"/>
          </a:solidFill>
          <a:ln>
            <a:solidFill>
              <a:srgbClr val="0C167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5 dias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238744" y="2852928"/>
            <a:ext cx="329458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Contracepção de emergência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11094415" cy="1005840"/>
          </a:xfrm>
          <a:prstGeom prst="roundRect">
            <a:avLst>
              <a:gd name="adj" fmla="val 18182"/>
            </a:avLst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822960" y="4224528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L.M.S.: dez meses sem acesso. </a:t>
            </a: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Restou o rastreio tardio.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6811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i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Lei nº 12.845/2013 (Lei do Minuto Seguinte); PCDT de Profilaxia Pós-Exposição (PEP), Ministério da Saúde.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502920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· OPÇÃO B (recurso visual diferente) — frase-síntese em destaque + dois artigos com ícone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LEGAL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48640"/>
            <a:ext cx="8915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lei já protegia L.M.S.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4937760" cy="3383280"/>
          </a:xfrm>
          <a:prstGeom prst="roundRect">
            <a:avLst>
              <a:gd name="adj" fmla="val 8108"/>
            </a:avLst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68680" y="2121408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36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direito existia.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Faltou quem a enxergasse.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852160" y="2075688"/>
            <a:ext cx="868680" cy="868680"/>
          </a:xfrm>
          <a:prstGeom prst="ellipse">
            <a:avLst/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330" y="2292858"/>
            <a:ext cx="434340" cy="4343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949440" y="2029968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217-A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2560320"/>
            <a:ext cx="4690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de 14 anos: estupro de vulnerável, crime hediondo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852160" y="3767328"/>
            <a:ext cx="868680" cy="868680"/>
          </a:xfrm>
          <a:prstGeom prst="ellipse">
            <a:avLst/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330" y="3984498"/>
            <a:ext cx="434340" cy="4343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49440" y="3721608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128, II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6949440" y="4251960"/>
            <a:ext cx="4690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Aborto legal desde 1940, sem ordem judicial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46811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i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Código Penal (Decreto-Lei nº 2.848/1940), arts. 217-A e 128, II; Lei nº 8.072/1990 (crimes hediondos).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502920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· OPÇÃO B (recurso visual diferente) — grade 2×2, quatro blocos de mesmo peso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48640"/>
            <a:ext cx="8915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mensagens para a prática médica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5409590" cy="1600200"/>
          </a:xfrm>
          <a:prstGeom prst="roundRect">
            <a:avLst>
              <a:gd name="adj" fmla="val 16000"/>
            </a:avLst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2048256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048256"/>
            <a:ext cx="38551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SUSPEIÇÃO CLÍNICA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4998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Gravidez &lt; 14 anos é violência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233465" y="1938528"/>
            <a:ext cx="5409590" cy="1600200"/>
          </a:xfrm>
          <a:prstGeom prst="roundRect">
            <a:avLst>
              <a:gd name="adj" fmla="val 16000"/>
            </a:avLst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6507785" y="2048256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605065" y="2048256"/>
            <a:ext cx="38551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NOTIFICAÇÃO COMPULSÓRIA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507785" y="2926080"/>
            <a:ext cx="4998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SINAN em 24 h e Conselho Tutelar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3675888"/>
            <a:ext cx="5409590" cy="1600200"/>
          </a:xfrm>
          <a:prstGeom prst="roundRect">
            <a:avLst>
              <a:gd name="adj" fmla="val 16000"/>
            </a:avLst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822960" y="3785616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785616"/>
            <a:ext cx="38551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ACOLHIMENTO SEM JULGAMENTO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63440"/>
            <a:ext cx="4998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Escuta privativa e qualificada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233465" y="3675888"/>
            <a:ext cx="5409590" cy="1600200"/>
          </a:xfrm>
          <a:prstGeom prst="roundRect">
            <a:avLst>
              <a:gd name="adj" fmla="val 16000"/>
            </a:avLst>
          </a:prstGeom>
          <a:solidFill>
            <a:srgbClr val="0C1670"/>
          </a:solidFill>
          <a:ln w="12700">
            <a:solidFill>
              <a:srgbClr val="0C1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6507785" y="3785616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7605065" y="3785616"/>
            <a:ext cx="38551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MULTIDISCIPLINAR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507785" y="4663440"/>
            <a:ext cx="4998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emergência ao seguimento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46811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i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Código Penal, art. 217-A; Portaria de Consolidação GM/MS nº 4/2017 (Lista Nacional de Notificação Compulsória); ECA, art. 13.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502920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· fora da contagem dos 10 slides — apague se o congresso limitar o total, ou deixe oculto para a arguição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PARA A ARGUIÇÃO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48640"/>
            <a:ext cx="8915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38528"/>
            <a:ext cx="1109441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BRASIL. Decreto-Lei nº 2.848, de 7 de dezembro de 1940. Código Penal: arts. 128, II, e 217-A.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BRASIL. Lei nº 8.072, de 25 de julho de 1990. Crimes hediondos.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BRASIL. Lei nº 8.069, de 13 de julho de 1990. Estatuto da Criança e do Adolescente: art. 13.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BRASIL. Lei nº 9.970, de 17 de maio de 2000. Dia Nacional de Combate ao Abuso e à Exploração Sexual de Crianças e Adolescentes.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BRASIL. Lei nº 12.845, de 1º de agosto de 2013. Atendimento obrigatório e integral de pessoas em situação de violência sexual.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BRASIL. Ministério da Saúde. Portaria de Consolidação GM/MS nº 4, de 28 de setembro de 2017, Anexo V: Lista Nacional de Notificação Compulsória.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BRASIL. Ministério da Saúde. Protocolo Clínico e Diretrizes Terapêuticas para Profilaxia Pós-Exposição (PEP) de Risco à Infecção pelo HIV, IST e Hepatites Virais.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BRASIL. Ministério da Saúde. Painel de Monitoramento de Nascidos Vivos (SINASC): Espírito Santo, 2024.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SÉCULO DIÁRIO. No Espírito Santo, 689 crianças deram à luz entre 2022 e 2025. Vitória, 8 nov. 2025 (levantamento NPLA).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ESPÍRITO SANTO. Secretaria de Estado da Saúde. Papel do SUS no enfrentamento à violência sexual contra crianças e adolescentes (caso Araceli, 18 de maio).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nam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016" y="1170432"/>
            <a:ext cx="3585664" cy="25495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54480" y="413308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NOME: SAM FARIA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1554480" y="47548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C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CONTATO: samlfariia@gmail.com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3080</Words>
  <Application>Microsoft Office PowerPoint</Application>
  <PresentationFormat>Widescreen</PresentationFormat>
  <Paragraphs>174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Apresentação do PowerPoint</vt:lpstr>
      <vt:lpstr>12 anos, gestação oculta e dez meses de silêncio</vt:lpstr>
      <vt:lpstr>Hipertensão grave e convulsão: o diagnóstico é eclâmpsia</vt:lpstr>
      <vt:lpstr>Disfunção de órgãos-alvo e insuficiência placentária</vt:lpstr>
      <vt:lpstr>Cesariana, atonia refratária e histerectomia de salvamento</vt:lpstr>
      <vt:lpstr>Biologia somada a abandono</vt:lpstr>
      <vt:lpstr>A Lei do Minuto Seguinte já garantia as profilaxias</vt:lpstr>
      <vt:lpstr>A lei já protegia L.M.S.</vt:lpstr>
      <vt:lpstr>Quatro mensagens para a prática médica</vt:lpstr>
      <vt:lpstr>Referências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Violência Sexual Crônica na Infância: Repercussões Obstétricas e Sociais</dc:title>
  <dc:subject>PptxGenJS Presentation</dc:subject>
  <dc:creator>Autores do relato de caso</dc:creator>
  <cp:lastModifiedBy>𝒾𝓈𝓅𝒶𝓌𝓏𝓈 </cp:lastModifiedBy>
  <cp:revision>2</cp:revision>
  <dcterms:created xsi:type="dcterms:W3CDTF">2026-09-21T18:18:19Z</dcterms:created>
  <dcterms:modified xsi:type="dcterms:W3CDTF">2026-09-21T21:24:17Z</dcterms:modified>
</cp:coreProperties>
</file>